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60" r:id="rId5"/>
    <p:sldId id="259" r:id="rId6"/>
    <p:sldId id="261" r:id="rId7"/>
    <p:sldId id="262" r:id="rId8"/>
    <p:sldId id="263" r:id="rId9"/>
    <p:sldId id="264" r:id="rId10"/>
    <p:sldId id="265" r:id="rId11"/>
    <p:sldId id="268"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46538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症例登録業務が止まっている状況を、9月半ばの本稼働までにどう立て直すかというご提案です。まず業務の中身からご説明します。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登録制度そのものをご存じない方に向けて、まず業務の中身をご説明します。1症例あたり約50項目、書類は3〜5ページ。これを手作業で行っています。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課題は3つ。情報不足、並び順の不一致、術式の選択。いずれも前ページの作業のどこで起きているかを添えています。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課題を裏返すと、業務はこの3つの姿になっていればよい、という整理です。この時点ではまだ製品の話はしていません。</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前提は3つ。理事長より9月半ば本稼働のご意向、AI-OCRは未決定、業務は停止中。ここから逆算すると8月中に手段を決める必要があります。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市販製品で実現する場合の検討です。導入期間は決裁を含んだ期間で見ています。Bは評価版があるので先行検証が可能、Cは期間的に間に合いません。</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市販製品では期限に間に合わないため、当面の手段として院内ツールで代用するという提案です。市販製品を入れないという話ではありません。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手術伝票プラス：電子カルテ端末から出力した手術一覧CSVを読み込み、登録に必要な情報を含んだ手術記録用紙を自動生成します。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PDFセパレーター：複合機でまとめてスキャンした1つのPDFを、患者ごとのファイルに自動で分割します。ファイル名には術式も付与されます。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オペコピ：分割されたPDFを読み取り、JOANR登録フォームと同じ順番に情報を並べて表示します。術式は登録可能な候補から提示されます。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オペコピのデータの流れとセキュリティの説明用。接続元は院内の固定グローバルIPに限定。ログインは利用者ごと、管理画面は別パスワード。氏名は保存せず患者IDは加工IDで保存。ただし読み取りのため画像はOpenAIへ送信されるため、閉域で完結する仕組みではない点は正確に説明すること。</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効果と、正直な弱点です。属人性とサポートがないことが最大の弱点で、だからこそ市販製品が入ったら役割を終える整理にしています。</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決裁のお願いは3点です。9月半ばの本稼働から逆算すると、8月中にご判断いただく必要があります。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6"/>
        </a:solidFill>
        <a:effectLst/>
      </p:bgPr>
    </p:bg>
    <p:spTree>
      <p:nvGrpSpPr>
        <p:cNvPr id="1" name=""/>
        <p:cNvGrpSpPr/>
        <p:nvPr/>
      </p:nvGrpSpPr>
      <p:grpSpPr>
        <a:xfrm>
          <a:off x="0" y="0"/>
          <a:ext cx="0" cy="0"/>
          <a:chOff x="0" y="0"/>
          <a:chExt cx="0" cy="0"/>
        </a:xfrm>
      </p:grpSpPr>
      <p:sp>
        <p:nvSpPr>
          <p:cNvPr id="2" name="Shape 0"/>
          <p:cNvSpPr/>
          <p:nvPr/>
        </p:nvSpPr>
        <p:spPr>
          <a:xfrm>
            <a:off x="822960" y="1234440"/>
            <a:ext cx="2880360" cy="384048"/>
          </a:xfrm>
          <a:prstGeom prst="roundRect">
            <a:avLst>
              <a:gd name="adj" fmla="val 23810"/>
            </a:avLst>
          </a:prstGeom>
          <a:solidFill>
            <a:srgbClr val="02C39A"/>
          </a:solidFill>
          <a:ln/>
        </p:spPr>
      </p:sp>
      <p:sp>
        <p:nvSpPr>
          <p:cNvPr id="3" name="Text 1"/>
          <p:cNvSpPr/>
          <p:nvPr/>
        </p:nvSpPr>
        <p:spPr>
          <a:xfrm>
            <a:off x="822960" y="1234440"/>
            <a:ext cx="2880360" cy="384048"/>
          </a:xfrm>
          <a:prstGeom prst="rect">
            <a:avLst/>
          </a:prstGeom>
          <a:noFill/>
          <a:ln/>
        </p:spPr>
        <p:txBody>
          <a:bodyPr wrap="square" lIns="0" tIns="0" rIns="0" bIns="0" rtlCol="0" anchor="ctr"/>
          <a:lstStyle/>
          <a:p>
            <a:pPr marL="0" indent="0" algn="ctr">
              <a:buNone/>
            </a:pPr>
            <a:r>
              <a:rPr lang="en-US" sz="1300" b="1" dirty="0">
                <a:solidFill>
                  <a:srgbClr val="0B3C46"/>
                </a:solidFill>
                <a:latin typeface="Meiryo" pitchFamily="34" charset="0"/>
                <a:ea typeface="Meiryo" pitchFamily="34" charset="-122"/>
                <a:cs typeface="Meiryo" pitchFamily="34" charset="-120"/>
              </a:rPr>
              <a:t>ご提案 ／ 決裁のお願い</a:t>
            </a:r>
            <a:endParaRPr lang="en-US" sz="1300" dirty="0"/>
          </a:p>
        </p:txBody>
      </p:sp>
      <p:sp>
        <p:nvSpPr>
          <p:cNvPr id="4" name="Text 2"/>
          <p:cNvSpPr/>
          <p:nvPr/>
        </p:nvSpPr>
        <p:spPr>
          <a:xfrm>
            <a:off x="822960" y="1874520"/>
            <a:ext cx="10332720" cy="1737360"/>
          </a:xfrm>
          <a:prstGeom prst="rect">
            <a:avLst/>
          </a:prstGeom>
          <a:noFill/>
          <a:ln/>
        </p:spPr>
        <p:txBody>
          <a:bodyPr wrap="square" lIns="0" tIns="0" rIns="0" bIns="0" rtlCol="0" anchor="ctr"/>
          <a:lstStyle/>
          <a:p>
            <a:pPr marL="0" indent="0">
              <a:lnSpc>
                <a:spcPts val="5400"/>
              </a:lnSpc>
              <a:buNone/>
            </a:pPr>
            <a:r>
              <a:rPr lang="en-US" sz="4000" b="1" dirty="0">
                <a:solidFill>
                  <a:srgbClr val="FFFFFF"/>
                </a:solidFill>
                <a:latin typeface="Meiryo" pitchFamily="34" charset="0"/>
                <a:ea typeface="Meiryo" pitchFamily="34" charset="-122"/>
                <a:cs typeface="Meiryo" pitchFamily="34" charset="-120"/>
              </a:rPr>
              <a:t>症例登録（レジストリ）業務の</a:t>
            </a:r>
            <a:endParaRPr lang="en-US" sz="4000" dirty="0"/>
          </a:p>
          <a:p>
            <a:pPr marL="0" indent="0">
              <a:lnSpc>
                <a:spcPts val="5400"/>
              </a:lnSpc>
              <a:buNone/>
            </a:pPr>
            <a:r>
              <a:rPr lang="ja-JP" altLang="en-US" sz="4000" b="1" dirty="0">
                <a:solidFill>
                  <a:srgbClr val="FFFFFF"/>
                </a:solidFill>
                <a:latin typeface="Meiryo" pitchFamily="34" charset="0"/>
                <a:ea typeface="Meiryo" pitchFamily="34" charset="-122"/>
                <a:cs typeface="Meiryo" pitchFamily="34" charset="-120"/>
              </a:rPr>
              <a:t>効率化</a:t>
            </a:r>
            <a:r>
              <a:rPr lang="en-US" sz="4000" b="1" dirty="0" err="1">
                <a:solidFill>
                  <a:srgbClr val="FFFFFF"/>
                </a:solidFill>
                <a:latin typeface="Meiryo" pitchFamily="34" charset="0"/>
                <a:ea typeface="Meiryo" pitchFamily="34" charset="-122"/>
                <a:cs typeface="Meiryo" pitchFamily="34" charset="-120"/>
              </a:rPr>
              <a:t>に向けたご提案</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92608"/>
            <a:ext cx="11064240" cy="475488"/>
          </a:xfrm>
          <a:prstGeom prst="rect">
            <a:avLst/>
          </a:prstGeom>
          <a:noFill/>
          <a:ln/>
        </p:spPr>
        <p:txBody>
          <a:bodyPr wrap="square" lIns="0" tIns="0" rIns="0" bIns="0" rtlCol="0" anchor="ctr"/>
          <a:lstStyle/>
          <a:p>
            <a:pPr marL="0" indent="0">
              <a:buNone/>
            </a:pPr>
            <a:r>
              <a:rPr lang="en-US" sz="2500" b="1" dirty="0">
                <a:solidFill>
                  <a:srgbClr val="0B3C46"/>
                </a:solidFill>
                <a:latin typeface="Meiryo" pitchFamily="34" charset="0"/>
                <a:ea typeface="Meiryo" pitchFamily="34" charset="-122"/>
                <a:cs typeface="Meiryo" pitchFamily="34" charset="-120"/>
              </a:rPr>
              <a:t>そもそも「症例登録（レジストリ）業務」とは</a:t>
            </a:r>
            <a:endParaRPr lang="en-US" sz="2500" dirty="0"/>
          </a:p>
        </p:txBody>
      </p:sp>
      <p:sp>
        <p:nvSpPr>
          <p:cNvPr id="3" name="Text 1"/>
          <p:cNvSpPr/>
          <p:nvPr/>
        </p:nvSpPr>
        <p:spPr>
          <a:xfrm>
            <a:off x="548640" y="822960"/>
            <a:ext cx="11064240" cy="310896"/>
          </a:xfrm>
          <a:prstGeom prst="rect">
            <a:avLst/>
          </a:prstGeom>
          <a:noFill/>
          <a:ln/>
        </p:spPr>
        <p:txBody>
          <a:bodyPr wrap="square" lIns="0" tIns="0" rIns="0" bIns="0" rtlCol="0" anchor="ctr"/>
          <a:lstStyle/>
          <a:p>
            <a:pPr marL="0" indent="0">
              <a:buNone/>
            </a:pPr>
            <a:r>
              <a:rPr lang="en-US" sz="1300" dirty="0">
                <a:solidFill>
                  <a:srgbClr val="6C8286"/>
                </a:solidFill>
                <a:latin typeface="Meiryo" pitchFamily="34" charset="0"/>
                <a:ea typeface="Meiryo" pitchFamily="34" charset="-122"/>
                <a:cs typeface="Meiryo" pitchFamily="34" charset="-120"/>
              </a:rPr>
              <a:t>本提案の前提として、まず業務の中身をご説明します</a:t>
            </a:r>
            <a:endParaRPr lang="en-US" sz="1300" dirty="0"/>
          </a:p>
        </p:txBody>
      </p:sp>
      <p:sp>
        <p:nvSpPr>
          <p:cNvPr id="4" name="Shape 2"/>
          <p:cNvSpPr/>
          <p:nvPr/>
        </p:nvSpPr>
        <p:spPr>
          <a:xfrm>
            <a:off x="548640" y="1234440"/>
            <a:ext cx="5029200" cy="2148840"/>
          </a:xfrm>
          <a:prstGeom prst="roundRect">
            <a:avLst>
              <a:gd name="adj" fmla="val 3404"/>
            </a:avLst>
          </a:prstGeom>
          <a:solidFill>
            <a:srgbClr val="F4F8F9"/>
          </a:solidFill>
          <a:ln/>
        </p:spPr>
      </p:sp>
      <p:sp>
        <p:nvSpPr>
          <p:cNvPr id="5" name="Text 3"/>
          <p:cNvSpPr/>
          <p:nvPr/>
        </p:nvSpPr>
        <p:spPr>
          <a:xfrm>
            <a:off x="868680" y="1444752"/>
            <a:ext cx="4389120" cy="292608"/>
          </a:xfrm>
          <a:prstGeom prst="rect">
            <a:avLst/>
          </a:prstGeom>
          <a:noFill/>
          <a:ln/>
        </p:spPr>
        <p:txBody>
          <a:bodyPr wrap="square" lIns="0" tIns="0" rIns="0" bIns="0" rtlCol="0" anchor="ctr"/>
          <a:lstStyle/>
          <a:p>
            <a:pPr marL="0" indent="0">
              <a:buNone/>
            </a:pPr>
            <a:r>
              <a:rPr lang="en-US" sz="1400" b="1" dirty="0">
                <a:solidFill>
                  <a:srgbClr val="028090"/>
                </a:solidFill>
                <a:latin typeface="Meiryo" pitchFamily="34" charset="0"/>
                <a:ea typeface="Meiryo" pitchFamily="34" charset="-122"/>
                <a:cs typeface="Meiryo" pitchFamily="34" charset="-120"/>
              </a:rPr>
              <a:t>何をする業務か</a:t>
            </a:r>
            <a:endParaRPr lang="en-US" sz="1400" dirty="0"/>
          </a:p>
        </p:txBody>
      </p:sp>
      <p:sp>
        <p:nvSpPr>
          <p:cNvPr id="6" name="Text 4"/>
          <p:cNvSpPr/>
          <p:nvPr/>
        </p:nvSpPr>
        <p:spPr>
          <a:xfrm>
            <a:off x="868680" y="1810512"/>
            <a:ext cx="4389120" cy="1463040"/>
          </a:xfrm>
          <a:prstGeom prst="rect">
            <a:avLst/>
          </a:prstGeom>
          <a:noFill/>
          <a:ln/>
        </p:spPr>
        <p:txBody>
          <a:bodyPr wrap="square" lIns="0" tIns="0" rIns="0" bIns="0" rtlCol="0" anchor="ctr"/>
          <a:lstStyle/>
          <a:p>
            <a:pPr marL="0" indent="0">
              <a:lnSpc>
                <a:spcPts val="1800"/>
              </a:lnSpc>
              <a:spcAft>
                <a:spcPts val="600"/>
              </a:spcAft>
              <a:buNone/>
            </a:pPr>
            <a:r>
              <a:rPr lang="en-US" sz="1200" dirty="0">
                <a:solidFill>
                  <a:srgbClr val="23373C"/>
                </a:solidFill>
                <a:latin typeface="Meiryo" pitchFamily="34" charset="0"/>
                <a:ea typeface="Meiryo" pitchFamily="34" charset="-122"/>
                <a:cs typeface="Meiryo" pitchFamily="34" charset="-120"/>
              </a:rPr>
              <a:t>人工関節手術を行った全症例を、日本整形外科学会の登録制度（JOANR）へ登録する業務。</a:t>
            </a:r>
            <a:endParaRPr lang="en-US" sz="1200" dirty="0"/>
          </a:p>
          <a:p>
            <a:pPr marL="0" indent="0">
              <a:lnSpc>
                <a:spcPts val="1800"/>
              </a:lnSpc>
              <a:spcAft>
                <a:spcPts val="600"/>
              </a:spcAft>
              <a:buNone/>
            </a:pPr>
            <a:r>
              <a:rPr lang="en-US" sz="1200" dirty="0">
                <a:solidFill>
                  <a:srgbClr val="23373C"/>
                </a:solidFill>
                <a:latin typeface="Meiryo" pitchFamily="34" charset="0"/>
                <a:ea typeface="Meiryo" pitchFamily="34" charset="-122"/>
                <a:cs typeface="Meiryo" pitchFamily="34" charset="-120"/>
              </a:rPr>
              <a:t>患者情報・術式・使用したインプラント（メーカー／</a:t>
            </a:r>
            <a:r>
              <a:rPr lang="en-US" sz="1200" dirty="0" err="1">
                <a:solidFill>
                  <a:srgbClr val="23373C"/>
                </a:solidFill>
                <a:latin typeface="Meiryo" pitchFamily="34" charset="0"/>
                <a:ea typeface="Meiryo" pitchFamily="34" charset="-122"/>
                <a:cs typeface="Meiryo" pitchFamily="34" charset="-120"/>
              </a:rPr>
              <a:t>商品名／カタログNo／ロットNo）などを、Webの登録フォームに入力する</a:t>
            </a:r>
            <a:r>
              <a:rPr lang="en-US" sz="1200" dirty="0">
                <a:solidFill>
                  <a:srgbClr val="23373C"/>
                </a:solidFill>
                <a:latin typeface="Meiryo" pitchFamily="34" charset="0"/>
                <a:ea typeface="Meiryo" pitchFamily="34" charset="-122"/>
                <a:cs typeface="Meiryo" pitchFamily="34" charset="-120"/>
              </a:rPr>
              <a:t>。</a:t>
            </a:r>
            <a:endParaRPr lang="en-US" sz="1200" dirty="0"/>
          </a:p>
        </p:txBody>
      </p:sp>
      <p:sp>
        <p:nvSpPr>
          <p:cNvPr id="7" name="Shape 5"/>
          <p:cNvSpPr/>
          <p:nvPr/>
        </p:nvSpPr>
        <p:spPr>
          <a:xfrm>
            <a:off x="5852160" y="1234440"/>
            <a:ext cx="5760720" cy="2148840"/>
          </a:xfrm>
          <a:prstGeom prst="roundRect">
            <a:avLst>
              <a:gd name="adj" fmla="val 3404"/>
            </a:avLst>
          </a:prstGeom>
          <a:solidFill>
            <a:srgbClr val="F4F8F9"/>
          </a:solidFill>
          <a:ln/>
        </p:spPr>
      </p:sp>
      <p:sp>
        <p:nvSpPr>
          <p:cNvPr id="8" name="Text 6"/>
          <p:cNvSpPr/>
          <p:nvPr/>
        </p:nvSpPr>
        <p:spPr>
          <a:xfrm>
            <a:off x="6172200" y="1444752"/>
            <a:ext cx="5120640" cy="292608"/>
          </a:xfrm>
          <a:prstGeom prst="rect">
            <a:avLst/>
          </a:prstGeom>
          <a:noFill/>
          <a:ln/>
        </p:spPr>
        <p:txBody>
          <a:bodyPr wrap="square" lIns="0" tIns="0" rIns="0" bIns="0" rtlCol="0" anchor="ctr"/>
          <a:lstStyle/>
          <a:p>
            <a:pPr marL="0" indent="0">
              <a:buNone/>
            </a:pPr>
            <a:r>
              <a:rPr lang="en-US" sz="1400" b="1" dirty="0">
                <a:solidFill>
                  <a:srgbClr val="028090"/>
                </a:solidFill>
                <a:latin typeface="Meiryo" pitchFamily="34" charset="0"/>
                <a:ea typeface="Meiryo" pitchFamily="34" charset="-122"/>
                <a:cs typeface="Meiryo" pitchFamily="34" charset="-120"/>
              </a:rPr>
              <a:t>1症例あたりの</a:t>
            </a:r>
            <a:r>
              <a:rPr lang="ja-JP" altLang="en-US" sz="1400" b="1" dirty="0">
                <a:solidFill>
                  <a:srgbClr val="028090"/>
                </a:solidFill>
                <a:latin typeface="Meiryo" pitchFamily="34" charset="0"/>
                <a:ea typeface="Meiryo" pitchFamily="34" charset="-122"/>
                <a:cs typeface="Meiryo" pitchFamily="34" charset="-120"/>
              </a:rPr>
              <a:t>入力時間 　　</a:t>
            </a:r>
            <a:r>
              <a:rPr lang="en-US" altLang="ja-JP" b="1" dirty="0">
                <a:solidFill>
                  <a:srgbClr val="FF0000"/>
                </a:solidFill>
                <a:latin typeface="Meiryo" pitchFamily="34" charset="0"/>
                <a:ea typeface="Meiryo" pitchFamily="34" charset="-122"/>
                <a:cs typeface="Meiryo" pitchFamily="34" charset="-120"/>
              </a:rPr>
              <a:t>10</a:t>
            </a:r>
            <a:r>
              <a:rPr lang="ja-JP" altLang="en-US" b="1" dirty="0">
                <a:solidFill>
                  <a:srgbClr val="FF0000"/>
                </a:solidFill>
                <a:latin typeface="Meiryo" pitchFamily="34" charset="0"/>
                <a:ea typeface="Meiryo" pitchFamily="34" charset="-122"/>
                <a:cs typeface="Meiryo" pitchFamily="34" charset="-120"/>
              </a:rPr>
              <a:t>～</a:t>
            </a:r>
            <a:r>
              <a:rPr lang="en-US" altLang="ja-JP" b="1" dirty="0">
                <a:solidFill>
                  <a:srgbClr val="FF0000"/>
                </a:solidFill>
                <a:latin typeface="Meiryo" pitchFamily="34" charset="0"/>
                <a:ea typeface="Meiryo" pitchFamily="34" charset="-122"/>
                <a:cs typeface="Meiryo" pitchFamily="34" charset="-120"/>
              </a:rPr>
              <a:t>20</a:t>
            </a:r>
            <a:r>
              <a:rPr lang="ja-JP" altLang="en-US" b="1" dirty="0">
                <a:solidFill>
                  <a:srgbClr val="FF0000"/>
                </a:solidFill>
                <a:latin typeface="Meiryo" pitchFamily="34" charset="0"/>
                <a:ea typeface="Meiryo" pitchFamily="34" charset="-122"/>
                <a:cs typeface="Meiryo" pitchFamily="34" charset="-120"/>
              </a:rPr>
              <a:t>分</a:t>
            </a:r>
            <a:endParaRPr lang="en-US" sz="1400" dirty="0">
              <a:solidFill>
                <a:srgbClr val="FF0000"/>
              </a:solidFill>
            </a:endParaRPr>
          </a:p>
        </p:txBody>
      </p:sp>
      <p:sp>
        <p:nvSpPr>
          <p:cNvPr id="9" name="Text 7"/>
          <p:cNvSpPr/>
          <p:nvPr/>
        </p:nvSpPr>
        <p:spPr>
          <a:xfrm>
            <a:off x="6172200" y="1828800"/>
            <a:ext cx="1691640" cy="640080"/>
          </a:xfrm>
          <a:prstGeom prst="rect">
            <a:avLst/>
          </a:prstGeom>
          <a:noFill/>
          <a:ln/>
        </p:spPr>
        <p:txBody>
          <a:bodyPr wrap="square" lIns="0" tIns="0" rIns="0" bIns="0" rtlCol="0" anchor="ctr"/>
          <a:lstStyle/>
          <a:p>
            <a:pPr marL="0" indent="0" algn="ctr">
              <a:buNone/>
            </a:pPr>
            <a:r>
              <a:rPr lang="en-US" sz="3000" b="1" dirty="0">
                <a:solidFill>
                  <a:srgbClr val="C77700"/>
                </a:solidFill>
                <a:latin typeface="Meiryo" pitchFamily="34" charset="0"/>
                <a:ea typeface="Meiryo" pitchFamily="34" charset="-122"/>
                <a:cs typeface="Meiryo" pitchFamily="34" charset="-120"/>
              </a:rPr>
              <a:t>約50</a:t>
            </a:r>
            <a:endParaRPr lang="en-US" sz="3000" dirty="0"/>
          </a:p>
        </p:txBody>
      </p:sp>
      <p:sp>
        <p:nvSpPr>
          <p:cNvPr id="10" name="Text 8"/>
          <p:cNvSpPr/>
          <p:nvPr/>
        </p:nvSpPr>
        <p:spPr>
          <a:xfrm>
            <a:off x="6172200" y="2487168"/>
            <a:ext cx="1691640" cy="640080"/>
          </a:xfrm>
          <a:prstGeom prst="rect">
            <a:avLst/>
          </a:prstGeom>
          <a:noFill/>
          <a:ln/>
        </p:spPr>
        <p:txBody>
          <a:bodyPr wrap="square" lIns="0" tIns="0" rIns="0" bIns="0" rtlCol="0" anchor="ctr"/>
          <a:lstStyle/>
          <a:p>
            <a:pPr marL="0" indent="0" algn="ctr">
              <a:lnSpc>
                <a:spcPts val="1500"/>
              </a:lnSpc>
              <a:buNone/>
            </a:pPr>
            <a:r>
              <a:rPr lang="en-US" sz="1100" dirty="0">
                <a:solidFill>
                  <a:srgbClr val="6C8286"/>
                </a:solidFill>
                <a:latin typeface="Meiryo" pitchFamily="34" charset="0"/>
                <a:ea typeface="Meiryo" pitchFamily="34" charset="-122"/>
                <a:cs typeface="Meiryo" pitchFamily="34" charset="-120"/>
              </a:rPr>
              <a:t>入力項目数</a:t>
            </a:r>
            <a:endParaRPr lang="en-US" sz="1100" dirty="0"/>
          </a:p>
        </p:txBody>
      </p:sp>
      <p:sp>
        <p:nvSpPr>
          <p:cNvPr id="11" name="Text 9"/>
          <p:cNvSpPr/>
          <p:nvPr/>
        </p:nvSpPr>
        <p:spPr>
          <a:xfrm>
            <a:off x="7982712" y="1828800"/>
            <a:ext cx="1691640" cy="640080"/>
          </a:xfrm>
          <a:prstGeom prst="rect">
            <a:avLst/>
          </a:prstGeom>
          <a:noFill/>
          <a:ln/>
        </p:spPr>
        <p:txBody>
          <a:bodyPr wrap="square" lIns="0" tIns="0" rIns="0" bIns="0" rtlCol="0" anchor="ctr"/>
          <a:lstStyle/>
          <a:p>
            <a:pPr marL="0" indent="0" algn="ctr">
              <a:buNone/>
            </a:pPr>
            <a:r>
              <a:rPr lang="en-US" sz="3000" b="1" dirty="0">
                <a:solidFill>
                  <a:srgbClr val="C77700"/>
                </a:solidFill>
                <a:latin typeface="Meiryo" pitchFamily="34" charset="0"/>
                <a:ea typeface="Meiryo" pitchFamily="34" charset="-122"/>
                <a:cs typeface="Meiryo" pitchFamily="34" charset="-120"/>
              </a:rPr>
              <a:t>3〜5</a:t>
            </a:r>
            <a:endParaRPr lang="en-US" sz="3000" dirty="0"/>
          </a:p>
        </p:txBody>
      </p:sp>
      <p:sp>
        <p:nvSpPr>
          <p:cNvPr id="12" name="Text 10"/>
          <p:cNvSpPr/>
          <p:nvPr/>
        </p:nvSpPr>
        <p:spPr>
          <a:xfrm>
            <a:off x="7982712" y="2487168"/>
            <a:ext cx="1691640" cy="640080"/>
          </a:xfrm>
          <a:prstGeom prst="rect">
            <a:avLst/>
          </a:prstGeom>
          <a:noFill/>
          <a:ln/>
        </p:spPr>
        <p:txBody>
          <a:bodyPr wrap="square" lIns="0" tIns="0" rIns="0" bIns="0" rtlCol="0" anchor="ctr"/>
          <a:lstStyle/>
          <a:p>
            <a:pPr marL="0" indent="0" algn="ctr">
              <a:lnSpc>
                <a:spcPts val="1500"/>
              </a:lnSpc>
              <a:buNone/>
            </a:pPr>
            <a:r>
              <a:rPr lang="en-US" sz="1100" dirty="0">
                <a:solidFill>
                  <a:srgbClr val="6C8286"/>
                </a:solidFill>
                <a:latin typeface="Meiryo" pitchFamily="34" charset="0"/>
                <a:ea typeface="Meiryo" pitchFamily="34" charset="-122"/>
                <a:cs typeface="Meiryo" pitchFamily="34" charset="-120"/>
              </a:rPr>
              <a:t>参照する書類のページ数</a:t>
            </a:r>
            <a:endParaRPr lang="en-US" sz="1100" dirty="0"/>
          </a:p>
        </p:txBody>
      </p:sp>
      <p:sp>
        <p:nvSpPr>
          <p:cNvPr id="13" name="Text 11"/>
          <p:cNvSpPr/>
          <p:nvPr/>
        </p:nvSpPr>
        <p:spPr>
          <a:xfrm>
            <a:off x="9747504" y="1819656"/>
            <a:ext cx="1691640" cy="640080"/>
          </a:xfrm>
          <a:prstGeom prst="rect">
            <a:avLst/>
          </a:prstGeom>
          <a:noFill/>
          <a:ln/>
        </p:spPr>
        <p:txBody>
          <a:bodyPr wrap="square" lIns="0" tIns="0" rIns="0" bIns="0" rtlCol="0" anchor="ctr"/>
          <a:lstStyle/>
          <a:p>
            <a:pPr marL="0" indent="0" algn="ctr">
              <a:buNone/>
            </a:pPr>
            <a:r>
              <a:rPr lang="en-US" altLang="ja-JP" sz="3000" b="1" dirty="0">
                <a:solidFill>
                  <a:srgbClr val="FF0000"/>
                </a:solidFill>
                <a:latin typeface="Meiryo" pitchFamily="34" charset="0"/>
                <a:ea typeface="Meiryo" pitchFamily="34" charset="-122"/>
              </a:rPr>
              <a:t>500</a:t>
            </a:r>
            <a:r>
              <a:rPr lang="ja-JP" altLang="en-US" sz="3000" b="1" dirty="0">
                <a:solidFill>
                  <a:srgbClr val="FF0000"/>
                </a:solidFill>
                <a:latin typeface="Meiryo" pitchFamily="34" charset="0"/>
                <a:ea typeface="Meiryo" pitchFamily="34" charset="-122"/>
              </a:rPr>
              <a:t>件</a:t>
            </a:r>
            <a:endParaRPr lang="en-US" sz="3000" dirty="0">
              <a:solidFill>
                <a:srgbClr val="FF0000"/>
              </a:solidFill>
            </a:endParaRPr>
          </a:p>
        </p:txBody>
      </p:sp>
      <p:sp>
        <p:nvSpPr>
          <p:cNvPr id="14" name="Text 12"/>
          <p:cNvSpPr/>
          <p:nvPr/>
        </p:nvSpPr>
        <p:spPr>
          <a:xfrm>
            <a:off x="9793224" y="2487168"/>
            <a:ext cx="1691640" cy="640080"/>
          </a:xfrm>
          <a:prstGeom prst="rect">
            <a:avLst/>
          </a:prstGeom>
          <a:noFill/>
          <a:ln/>
        </p:spPr>
        <p:txBody>
          <a:bodyPr wrap="square" lIns="0" tIns="0" rIns="0" bIns="0" rtlCol="0" anchor="ctr"/>
          <a:lstStyle/>
          <a:p>
            <a:pPr marL="0" indent="0" algn="ctr">
              <a:lnSpc>
                <a:spcPts val="1500"/>
              </a:lnSpc>
              <a:buNone/>
            </a:pPr>
            <a:r>
              <a:rPr lang="en-US" sz="1100" dirty="0">
                <a:solidFill>
                  <a:srgbClr val="6C8286"/>
                </a:solidFill>
                <a:latin typeface="Meiryo" pitchFamily="34" charset="0"/>
                <a:ea typeface="Meiryo" pitchFamily="34" charset="-122"/>
                <a:cs typeface="Meiryo" pitchFamily="34" charset="-120"/>
              </a:rPr>
              <a:t>月あたりの症例数（記入）</a:t>
            </a:r>
            <a:endParaRPr lang="en-US" sz="1100" dirty="0"/>
          </a:p>
        </p:txBody>
      </p:sp>
      <p:sp>
        <p:nvSpPr>
          <p:cNvPr id="15" name="Text 13"/>
          <p:cNvSpPr/>
          <p:nvPr/>
        </p:nvSpPr>
        <p:spPr>
          <a:xfrm>
            <a:off x="548640" y="3611880"/>
            <a:ext cx="11064240" cy="310896"/>
          </a:xfrm>
          <a:prstGeom prst="rect">
            <a:avLst/>
          </a:prstGeom>
          <a:noFill/>
          <a:ln/>
        </p:spPr>
        <p:txBody>
          <a:bodyPr wrap="square" lIns="0" tIns="0" rIns="0" bIns="0" rtlCol="0" anchor="ctr"/>
          <a:lstStyle/>
          <a:p>
            <a:pPr marL="0" indent="0">
              <a:buNone/>
            </a:pPr>
            <a:r>
              <a:rPr lang="en-US" sz="1400" b="1" dirty="0">
                <a:solidFill>
                  <a:srgbClr val="0B3C46"/>
                </a:solidFill>
                <a:latin typeface="Meiryo" pitchFamily="34" charset="0"/>
                <a:ea typeface="Meiryo" pitchFamily="34" charset="-122"/>
                <a:cs typeface="Meiryo" pitchFamily="34" charset="-120"/>
              </a:rPr>
              <a:t>1症例の登録に必要な作業</a:t>
            </a:r>
            <a:endParaRPr lang="en-US" sz="1400" dirty="0"/>
          </a:p>
        </p:txBody>
      </p:sp>
      <p:sp>
        <p:nvSpPr>
          <p:cNvPr id="16" name="Shape 14"/>
          <p:cNvSpPr/>
          <p:nvPr/>
        </p:nvSpPr>
        <p:spPr>
          <a:xfrm>
            <a:off x="548640" y="4023360"/>
            <a:ext cx="2057400" cy="1508760"/>
          </a:xfrm>
          <a:prstGeom prst="roundRect">
            <a:avLst>
              <a:gd name="adj" fmla="val 4848"/>
            </a:avLst>
          </a:prstGeom>
          <a:solidFill>
            <a:srgbClr val="FFFFFF"/>
          </a:solidFill>
          <a:ln w="12700">
            <a:solidFill>
              <a:srgbClr val="D8E1E3"/>
            </a:solidFill>
            <a:prstDash val="solid"/>
          </a:ln>
        </p:spPr>
      </p:sp>
      <p:sp>
        <p:nvSpPr>
          <p:cNvPr id="17" name="Shape 15"/>
          <p:cNvSpPr/>
          <p:nvPr/>
        </p:nvSpPr>
        <p:spPr>
          <a:xfrm>
            <a:off x="713232" y="4187952"/>
            <a:ext cx="384048" cy="384048"/>
          </a:xfrm>
          <a:prstGeom prst="ellipse">
            <a:avLst/>
          </a:prstGeom>
          <a:solidFill>
            <a:srgbClr val="028090"/>
          </a:solidFill>
          <a:ln/>
        </p:spPr>
      </p:sp>
      <p:sp>
        <p:nvSpPr>
          <p:cNvPr id="18" name="Text 16"/>
          <p:cNvSpPr/>
          <p:nvPr/>
        </p:nvSpPr>
        <p:spPr>
          <a:xfrm>
            <a:off x="713232" y="418795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19" name="Text 17"/>
          <p:cNvSpPr/>
          <p:nvPr/>
        </p:nvSpPr>
        <p:spPr>
          <a:xfrm>
            <a:off x="1170432" y="4187952"/>
            <a:ext cx="1325880" cy="384048"/>
          </a:xfrm>
          <a:prstGeom prst="rect">
            <a:avLst/>
          </a:prstGeom>
          <a:noFill/>
          <a:ln/>
        </p:spPr>
        <p:txBody>
          <a:bodyPr wrap="square" lIns="0" tIns="0" rIns="0" bIns="0" rtlCol="0" anchor="ctr"/>
          <a:lstStyle/>
          <a:p>
            <a:pPr marL="0" indent="0">
              <a:buNone/>
            </a:pPr>
            <a:r>
              <a:rPr lang="en-US" sz="1250" b="1" dirty="0">
                <a:solidFill>
                  <a:srgbClr val="23373C"/>
                </a:solidFill>
                <a:latin typeface="Meiryo" pitchFamily="34" charset="0"/>
                <a:ea typeface="Meiryo" pitchFamily="34" charset="-122"/>
                <a:cs typeface="Meiryo" pitchFamily="34" charset="-120"/>
              </a:rPr>
              <a:t>書類を集める</a:t>
            </a:r>
            <a:endParaRPr lang="en-US" sz="1250" dirty="0"/>
          </a:p>
        </p:txBody>
      </p:sp>
      <p:sp>
        <p:nvSpPr>
          <p:cNvPr id="20" name="Text 18"/>
          <p:cNvSpPr/>
          <p:nvPr/>
        </p:nvSpPr>
        <p:spPr>
          <a:xfrm>
            <a:off x="713232" y="4645152"/>
            <a:ext cx="1783080" cy="777240"/>
          </a:xfrm>
          <a:prstGeom prst="rect">
            <a:avLst/>
          </a:prstGeom>
          <a:noFill/>
          <a:ln/>
        </p:spPr>
        <p:txBody>
          <a:bodyPr wrap="square" lIns="0" tIns="0" rIns="0" bIns="0" rtlCol="0" anchor="ctr"/>
          <a:lstStyle/>
          <a:p>
            <a:pPr marL="0" indent="0">
              <a:lnSpc>
                <a:spcPts val="1500"/>
              </a:lnSpc>
              <a:buNone/>
            </a:pPr>
            <a:r>
              <a:rPr lang="en-US" sz="1050" dirty="0">
                <a:solidFill>
                  <a:srgbClr val="6C8286"/>
                </a:solidFill>
                <a:latin typeface="Meiryo" pitchFamily="34" charset="0"/>
                <a:ea typeface="Meiryo" pitchFamily="34" charset="-122"/>
                <a:cs typeface="Meiryo" pitchFamily="34" charset="-120"/>
              </a:rPr>
              <a:t>手術伝票・登録用紙・</a:t>
            </a:r>
            <a:endParaRPr lang="en-US" sz="1050" dirty="0"/>
          </a:p>
          <a:p>
            <a:pPr marL="0" indent="0">
              <a:lnSpc>
                <a:spcPts val="1500"/>
              </a:lnSpc>
              <a:buNone/>
            </a:pPr>
            <a:r>
              <a:rPr lang="en-US" sz="1050" dirty="0">
                <a:solidFill>
                  <a:srgbClr val="6C8286"/>
                </a:solidFill>
                <a:latin typeface="Meiryo" pitchFamily="34" charset="0"/>
                <a:ea typeface="Meiryo" pitchFamily="34" charset="-122"/>
                <a:cs typeface="Meiryo" pitchFamily="34" charset="-120"/>
              </a:rPr>
              <a:t>材料シールの貼付面</a:t>
            </a:r>
            <a:endParaRPr lang="en-US" sz="1050" dirty="0"/>
          </a:p>
        </p:txBody>
      </p:sp>
      <p:sp>
        <p:nvSpPr>
          <p:cNvPr id="21" name="Shape 19"/>
          <p:cNvSpPr/>
          <p:nvPr/>
        </p:nvSpPr>
        <p:spPr>
          <a:xfrm>
            <a:off x="2642616" y="4617720"/>
            <a:ext cx="128016" cy="292608"/>
          </a:xfrm>
          <a:prstGeom prst="rightArrow">
            <a:avLst/>
          </a:prstGeom>
          <a:solidFill>
            <a:srgbClr val="02C39A"/>
          </a:solidFill>
          <a:ln/>
        </p:spPr>
      </p:sp>
      <p:sp>
        <p:nvSpPr>
          <p:cNvPr id="22" name="Shape 20"/>
          <p:cNvSpPr/>
          <p:nvPr/>
        </p:nvSpPr>
        <p:spPr>
          <a:xfrm>
            <a:off x="2807208" y="4023360"/>
            <a:ext cx="2057400" cy="1508760"/>
          </a:xfrm>
          <a:prstGeom prst="roundRect">
            <a:avLst>
              <a:gd name="adj" fmla="val 4848"/>
            </a:avLst>
          </a:prstGeom>
          <a:solidFill>
            <a:srgbClr val="FFFFFF"/>
          </a:solidFill>
          <a:ln w="12700">
            <a:solidFill>
              <a:srgbClr val="D8E1E3"/>
            </a:solidFill>
            <a:prstDash val="solid"/>
          </a:ln>
        </p:spPr>
      </p:sp>
      <p:sp>
        <p:nvSpPr>
          <p:cNvPr id="23" name="Shape 21"/>
          <p:cNvSpPr/>
          <p:nvPr/>
        </p:nvSpPr>
        <p:spPr>
          <a:xfrm>
            <a:off x="2971800" y="4187952"/>
            <a:ext cx="384048" cy="384048"/>
          </a:xfrm>
          <a:prstGeom prst="ellipse">
            <a:avLst/>
          </a:prstGeom>
          <a:solidFill>
            <a:srgbClr val="028090"/>
          </a:solidFill>
          <a:ln/>
        </p:spPr>
      </p:sp>
      <p:sp>
        <p:nvSpPr>
          <p:cNvPr id="24" name="Text 22"/>
          <p:cNvSpPr/>
          <p:nvPr/>
        </p:nvSpPr>
        <p:spPr>
          <a:xfrm>
            <a:off x="2971800" y="418795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25" name="Text 23"/>
          <p:cNvSpPr/>
          <p:nvPr/>
        </p:nvSpPr>
        <p:spPr>
          <a:xfrm>
            <a:off x="3429000" y="4187952"/>
            <a:ext cx="1325880" cy="384048"/>
          </a:xfrm>
          <a:prstGeom prst="rect">
            <a:avLst/>
          </a:prstGeom>
          <a:noFill/>
          <a:ln/>
        </p:spPr>
        <p:txBody>
          <a:bodyPr wrap="square" lIns="0" tIns="0" rIns="0" bIns="0" rtlCol="0" anchor="ctr"/>
          <a:lstStyle/>
          <a:p>
            <a:pPr marL="0" indent="0">
              <a:buNone/>
            </a:pPr>
            <a:r>
              <a:rPr lang="en-US" sz="1250" b="1" dirty="0">
                <a:solidFill>
                  <a:srgbClr val="23373C"/>
                </a:solidFill>
                <a:latin typeface="Meiryo" pitchFamily="34" charset="0"/>
                <a:ea typeface="Meiryo" pitchFamily="34" charset="-122"/>
                <a:cs typeface="Meiryo" pitchFamily="34" charset="-120"/>
              </a:rPr>
              <a:t>不足情報を調べる</a:t>
            </a:r>
            <a:endParaRPr lang="en-US" sz="1250" dirty="0"/>
          </a:p>
        </p:txBody>
      </p:sp>
      <p:sp>
        <p:nvSpPr>
          <p:cNvPr id="26" name="Text 24"/>
          <p:cNvSpPr/>
          <p:nvPr/>
        </p:nvSpPr>
        <p:spPr>
          <a:xfrm>
            <a:off x="2971800" y="4645152"/>
            <a:ext cx="1783080" cy="777240"/>
          </a:xfrm>
          <a:prstGeom prst="rect">
            <a:avLst/>
          </a:prstGeom>
          <a:noFill/>
          <a:ln/>
        </p:spPr>
        <p:txBody>
          <a:bodyPr wrap="square" lIns="0" tIns="0" rIns="0" bIns="0" rtlCol="0" anchor="ctr"/>
          <a:lstStyle/>
          <a:p>
            <a:pPr marL="0" indent="0">
              <a:lnSpc>
                <a:spcPts val="1500"/>
              </a:lnSpc>
              <a:buNone/>
            </a:pPr>
            <a:r>
              <a:rPr lang="en-US" sz="1050" dirty="0">
                <a:solidFill>
                  <a:srgbClr val="6C8286"/>
                </a:solidFill>
                <a:latin typeface="Meiryo" pitchFamily="34" charset="0"/>
                <a:ea typeface="Meiryo" pitchFamily="34" charset="-122"/>
                <a:cs typeface="Meiryo" pitchFamily="34" charset="-120"/>
              </a:rPr>
              <a:t>性別・身長・体重などを</a:t>
            </a:r>
            <a:endParaRPr lang="en-US" sz="1050" dirty="0"/>
          </a:p>
          <a:p>
            <a:pPr marL="0" indent="0">
              <a:lnSpc>
                <a:spcPts val="1500"/>
              </a:lnSpc>
              <a:buNone/>
            </a:pPr>
            <a:r>
              <a:rPr lang="en-US" sz="1050" dirty="0">
                <a:solidFill>
                  <a:srgbClr val="6C8286"/>
                </a:solidFill>
                <a:latin typeface="Meiryo" pitchFamily="34" charset="0"/>
                <a:ea typeface="Meiryo" pitchFamily="34" charset="-122"/>
                <a:cs typeface="Meiryo" pitchFamily="34" charset="-120"/>
              </a:rPr>
              <a:t>電子カルテで確認</a:t>
            </a:r>
            <a:endParaRPr lang="en-US" sz="1050" dirty="0"/>
          </a:p>
        </p:txBody>
      </p:sp>
      <p:sp>
        <p:nvSpPr>
          <p:cNvPr id="27" name="Shape 25"/>
          <p:cNvSpPr/>
          <p:nvPr/>
        </p:nvSpPr>
        <p:spPr>
          <a:xfrm>
            <a:off x="4901184" y="4617720"/>
            <a:ext cx="128016" cy="292608"/>
          </a:xfrm>
          <a:prstGeom prst="rightArrow">
            <a:avLst/>
          </a:prstGeom>
          <a:solidFill>
            <a:srgbClr val="02C39A"/>
          </a:solidFill>
          <a:ln/>
        </p:spPr>
      </p:sp>
      <p:sp>
        <p:nvSpPr>
          <p:cNvPr id="28" name="Shape 26"/>
          <p:cNvSpPr/>
          <p:nvPr/>
        </p:nvSpPr>
        <p:spPr>
          <a:xfrm>
            <a:off x="5065776" y="4023360"/>
            <a:ext cx="2057400" cy="1508760"/>
          </a:xfrm>
          <a:prstGeom prst="roundRect">
            <a:avLst>
              <a:gd name="adj" fmla="val 4848"/>
            </a:avLst>
          </a:prstGeom>
          <a:solidFill>
            <a:srgbClr val="FFFFFF"/>
          </a:solidFill>
          <a:ln w="12700">
            <a:solidFill>
              <a:srgbClr val="D8E1E3"/>
            </a:solidFill>
            <a:prstDash val="solid"/>
          </a:ln>
        </p:spPr>
      </p:sp>
      <p:sp>
        <p:nvSpPr>
          <p:cNvPr id="29" name="Shape 27"/>
          <p:cNvSpPr/>
          <p:nvPr/>
        </p:nvSpPr>
        <p:spPr>
          <a:xfrm>
            <a:off x="5230368" y="4187952"/>
            <a:ext cx="384048" cy="384048"/>
          </a:xfrm>
          <a:prstGeom prst="ellipse">
            <a:avLst/>
          </a:prstGeom>
          <a:solidFill>
            <a:srgbClr val="028090"/>
          </a:solidFill>
          <a:ln/>
        </p:spPr>
      </p:sp>
      <p:sp>
        <p:nvSpPr>
          <p:cNvPr id="30" name="Text 28"/>
          <p:cNvSpPr/>
          <p:nvPr/>
        </p:nvSpPr>
        <p:spPr>
          <a:xfrm>
            <a:off x="5230368" y="418795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31" name="Text 29"/>
          <p:cNvSpPr/>
          <p:nvPr/>
        </p:nvSpPr>
        <p:spPr>
          <a:xfrm>
            <a:off x="5687568" y="4187952"/>
            <a:ext cx="1325880" cy="384048"/>
          </a:xfrm>
          <a:prstGeom prst="rect">
            <a:avLst/>
          </a:prstGeom>
          <a:noFill/>
          <a:ln/>
        </p:spPr>
        <p:txBody>
          <a:bodyPr wrap="square" lIns="0" tIns="0" rIns="0" bIns="0" rtlCol="0" anchor="ctr"/>
          <a:lstStyle/>
          <a:p>
            <a:pPr marL="0" indent="0">
              <a:buNone/>
            </a:pPr>
            <a:r>
              <a:rPr lang="en-US" sz="1250" b="1" dirty="0">
                <a:solidFill>
                  <a:srgbClr val="23373C"/>
                </a:solidFill>
                <a:latin typeface="Meiryo" pitchFamily="34" charset="0"/>
                <a:ea typeface="Meiryo" pitchFamily="34" charset="-122"/>
                <a:cs typeface="Meiryo" pitchFamily="34" charset="-120"/>
              </a:rPr>
              <a:t>術式を決める</a:t>
            </a:r>
            <a:endParaRPr lang="en-US" sz="1250" dirty="0"/>
          </a:p>
        </p:txBody>
      </p:sp>
      <p:sp>
        <p:nvSpPr>
          <p:cNvPr id="32" name="Text 30"/>
          <p:cNvSpPr/>
          <p:nvPr/>
        </p:nvSpPr>
        <p:spPr>
          <a:xfrm>
            <a:off x="5230368" y="4645152"/>
            <a:ext cx="1783080" cy="777240"/>
          </a:xfrm>
          <a:prstGeom prst="rect">
            <a:avLst/>
          </a:prstGeom>
          <a:noFill/>
          <a:ln/>
        </p:spPr>
        <p:txBody>
          <a:bodyPr wrap="square" lIns="0" tIns="0" rIns="0" bIns="0" rtlCol="0" anchor="ctr"/>
          <a:lstStyle/>
          <a:p>
            <a:pPr marL="0" indent="0">
              <a:lnSpc>
                <a:spcPts val="1500"/>
              </a:lnSpc>
              <a:buNone/>
            </a:pPr>
            <a:r>
              <a:rPr lang="en-US" sz="1050" dirty="0">
                <a:solidFill>
                  <a:srgbClr val="6C8286"/>
                </a:solidFill>
                <a:latin typeface="Meiryo" pitchFamily="34" charset="0"/>
                <a:ea typeface="Meiryo" pitchFamily="34" charset="-122"/>
                <a:cs typeface="Meiryo" pitchFamily="34" charset="-120"/>
              </a:rPr>
              <a:t>JOANRの分類から</a:t>
            </a:r>
            <a:endParaRPr lang="en-US" sz="1050" dirty="0"/>
          </a:p>
          <a:p>
            <a:pPr marL="0" indent="0">
              <a:lnSpc>
                <a:spcPts val="1500"/>
              </a:lnSpc>
              <a:buNone/>
            </a:pPr>
            <a:r>
              <a:rPr lang="en-US" sz="1050" dirty="0">
                <a:solidFill>
                  <a:srgbClr val="6C8286"/>
                </a:solidFill>
                <a:latin typeface="Meiryo" pitchFamily="34" charset="0"/>
                <a:ea typeface="Meiryo" pitchFamily="34" charset="-122"/>
                <a:cs typeface="Meiryo" pitchFamily="34" charset="-120"/>
              </a:rPr>
              <a:t>近い術式を探して選ぶ</a:t>
            </a:r>
            <a:endParaRPr lang="en-US" sz="1050" dirty="0"/>
          </a:p>
        </p:txBody>
      </p:sp>
      <p:sp>
        <p:nvSpPr>
          <p:cNvPr id="33" name="Shape 31"/>
          <p:cNvSpPr/>
          <p:nvPr/>
        </p:nvSpPr>
        <p:spPr>
          <a:xfrm>
            <a:off x="7159752" y="4617720"/>
            <a:ext cx="128016" cy="292608"/>
          </a:xfrm>
          <a:prstGeom prst="rightArrow">
            <a:avLst/>
          </a:prstGeom>
          <a:solidFill>
            <a:srgbClr val="02C39A"/>
          </a:solidFill>
          <a:ln/>
        </p:spPr>
      </p:sp>
      <p:sp>
        <p:nvSpPr>
          <p:cNvPr id="34" name="Shape 32"/>
          <p:cNvSpPr/>
          <p:nvPr/>
        </p:nvSpPr>
        <p:spPr>
          <a:xfrm>
            <a:off x="7324344" y="4023360"/>
            <a:ext cx="2057400" cy="1508760"/>
          </a:xfrm>
          <a:prstGeom prst="roundRect">
            <a:avLst>
              <a:gd name="adj" fmla="val 4848"/>
            </a:avLst>
          </a:prstGeom>
          <a:solidFill>
            <a:srgbClr val="FFFFFF"/>
          </a:solidFill>
          <a:ln w="12700">
            <a:solidFill>
              <a:srgbClr val="D8E1E3"/>
            </a:solidFill>
            <a:prstDash val="solid"/>
          </a:ln>
        </p:spPr>
      </p:sp>
      <p:sp>
        <p:nvSpPr>
          <p:cNvPr id="35" name="Shape 33"/>
          <p:cNvSpPr/>
          <p:nvPr/>
        </p:nvSpPr>
        <p:spPr>
          <a:xfrm>
            <a:off x="7488936" y="4187952"/>
            <a:ext cx="384048" cy="384048"/>
          </a:xfrm>
          <a:prstGeom prst="ellipse">
            <a:avLst/>
          </a:prstGeom>
          <a:solidFill>
            <a:srgbClr val="028090"/>
          </a:solidFill>
          <a:ln/>
        </p:spPr>
      </p:sp>
      <p:sp>
        <p:nvSpPr>
          <p:cNvPr id="36" name="Text 34"/>
          <p:cNvSpPr/>
          <p:nvPr/>
        </p:nvSpPr>
        <p:spPr>
          <a:xfrm>
            <a:off x="7488936" y="418795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4</a:t>
            </a:r>
            <a:endParaRPr lang="en-US" sz="1200" dirty="0"/>
          </a:p>
        </p:txBody>
      </p:sp>
      <p:sp>
        <p:nvSpPr>
          <p:cNvPr id="37" name="Text 35"/>
          <p:cNvSpPr/>
          <p:nvPr/>
        </p:nvSpPr>
        <p:spPr>
          <a:xfrm>
            <a:off x="7946136" y="4187952"/>
            <a:ext cx="1325880" cy="384048"/>
          </a:xfrm>
          <a:prstGeom prst="rect">
            <a:avLst/>
          </a:prstGeom>
          <a:noFill/>
          <a:ln/>
        </p:spPr>
        <p:txBody>
          <a:bodyPr wrap="square" lIns="0" tIns="0" rIns="0" bIns="0" rtlCol="0" anchor="ctr"/>
          <a:lstStyle/>
          <a:p>
            <a:pPr marL="0" indent="0">
              <a:buNone/>
            </a:pPr>
            <a:r>
              <a:rPr lang="en-US" sz="1250" b="1" dirty="0">
                <a:solidFill>
                  <a:srgbClr val="23373C"/>
                </a:solidFill>
                <a:latin typeface="Meiryo" pitchFamily="34" charset="0"/>
                <a:ea typeface="Meiryo" pitchFamily="34" charset="-122"/>
                <a:cs typeface="Meiryo" pitchFamily="34" charset="-120"/>
              </a:rPr>
              <a:t>フォームへ転記</a:t>
            </a:r>
            <a:endParaRPr lang="en-US" sz="1250" dirty="0"/>
          </a:p>
        </p:txBody>
      </p:sp>
      <p:sp>
        <p:nvSpPr>
          <p:cNvPr id="38" name="Text 36"/>
          <p:cNvSpPr/>
          <p:nvPr/>
        </p:nvSpPr>
        <p:spPr>
          <a:xfrm>
            <a:off x="7488936" y="4645152"/>
            <a:ext cx="1783080" cy="777240"/>
          </a:xfrm>
          <a:prstGeom prst="rect">
            <a:avLst/>
          </a:prstGeom>
          <a:noFill/>
          <a:ln/>
        </p:spPr>
        <p:txBody>
          <a:bodyPr wrap="square" lIns="0" tIns="0" rIns="0" bIns="0" rtlCol="0" anchor="ctr"/>
          <a:lstStyle/>
          <a:p>
            <a:pPr marL="0" indent="0">
              <a:lnSpc>
                <a:spcPts val="1500"/>
              </a:lnSpc>
              <a:buNone/>
            </a:pPr>
            <a:r>
              <a:rPr lang="en-US" sz="1050" dirty="0">
                <a:solidFill>
                  <a:srgbClr val="6C8286"/>
                </a:solidFill>
                <a:latin typeface="Meiryo" pitchFamily="34" charset="0"/>
                <a:ea typeface="Meiryo" pitchFamily="34" charset="-122"/>
                <a:cs typeface="Meiryo" pitchFamily="34" charset="-120"/>
              </a:rPr>
              <a:t>書類とフォームを</a:t>
            </a:r>
            <a:endParaRPr lang="en-US" sz="1050" dirty="0"/>
          </a:p>
          <a:p>
            <a:pPr marL="0" indent="0">
              <a:lnSpc>
                <a:spcPts val="1500"/>
              </a:lnSpc>
              <a:buNone/>
            </a:pPr>
            <a:r>
              <a:rPr lang="en-US" sz="1050" dirty="0">
                <a:solidFill>
                  <a:srgbClr val="6C8286"/>
                </a:solidFill>
                <a:latin typeface="Meiryo" pitchFamily="34" charset="0"/>
                <a:ea typeface="Meiryo" pitchFamily="34" charset="-122"/>
                <a:cs typeface="Meiryo" pitchFamily="34" charset="-120"/>
              </a:rPr>
              <a:t>往復しながら入力</a:t>
            </a:r>
            <a:endParaRPr lang="en-US" sz="1050" dirty="0"/>
          </a:p>
        </p:txBody>
      </p:sp>
      <p:sp>
        <p:nvSpPr>
          <p:cNvPr id="39" name="Shape 37"/>
          <p:cNvSpPr/>
          <p:nvPr/>
        </p:nvSpPr>
        <p:spPr>
          <a:xfrm>
            <a:off x="9418320" y="4617720"/>
            <a:ext cx="128016" cy="292608"/>
          </a:xfrm>
          <a:prstGeom prst="rightArrow">
            <a:avLst/>
          </a:prstGeom>
          <a:solidFill>
            <a:srgbClr val="02C39A"/>
          </a:solidFill>
          <a:ln/>
        </p:spPr>
      </p:sp>
      <p:sp>
        <p:nvSpPr>
          <p:cNvPr id="40" name="Shape 38"/>
          <p:cNvSpPr/>
          <p:nvPr/>
        </p:nvSpPr>
        <p:spPr>
          <a:xfrm>
            <a:off x="9582912" y="4023360"/>
            <a:ext cx="2057400" cy="1508760"/>
          </a:xfrm>
          <a:prstGeom prst="roundRect">
            <a:avLst>
              <a:gd name="adj" fmla="val 4848"/>
            </a:avLst>
          </a:prstGeom>
          <a:solidFill>
            <a:srgbClr val="FFFFFF"/>
          </a:solidFill>
          <a:ln w="12700">
            <a:solidFill>
              <a:srgbClr val="D8E1E3"/>
            </a:solidFill>
            <a:prstDash val="solid"/>
          </a:ln>
        </p:spPr>
      </p:sp>
      <p:sp>
        <p:nvSpPr>
          <p:cNvPr id="41" name="Shape 39"/>
          <p:cNvSpPr/>
          <p:nvPr/>
        </p:nvSpPr>
        <p:spPr>
          <a:xfrm>
            <a:off x="9747504" y="4187952"/>
            <a:ext cx="384048" cy="384048"/>
          </a:xfrm>
          <a:prstGeom prst="ellipse">
            <a:avLst/>
          </a:prstGeom>
          <a:solidFill>
            <a:srgbClr val="028090"/>
          </a:solidFill>
          <a:ln/>
        </p:spPr>
      </p:sp>
      <p:sp>
        <p:nvSpPr>
          <p:cNvPr id="42" name="Text 40"/>
          <p:cNvSpPr/>
          <p:nvPr/>
        </p:nvSpPr>
        <p:spPr>
          <a:xfrm>
            <a:off x="9747504" y="418795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5</a:t>
            </a:r>
            <a:endParaRPr lang="en-US" sz="1200" dirty="0"/>
          </a:p>
        </p:txBody>
      </p:sp>
      <p:sp>
        <p:nvSpPr>
          <p:cNvPr id="43" name="Text 41"/>
          <p:cNvSpPr/>
          <p:nvPr/>
        </p:nvSpPr>
        <p:spPr>
          <a:xfrm>
            <a:off x="10204704" y="4187952"/>
            <a:ext cx="1325880" cy="384048"/>
          </a:xfrm>
          <a:prstGeom prst="rect">
            <a:avLst/>
          </a:prstGeom>
          <a:noFill/>
          <a:ln/>
        </p:spPr>
        <p:txBody>
          <a:bodyPr wrap="square" lIns="0" tIns="0" rIns="0" bIns="0" rtlCol="0" anchor="ctr"/>
          <a:lstStyle/>
          <a:p>
            <a:pPr marL="0" indent="0">
              <a:buNone/>
            </a:pPr>
            <a:r>
              <a:rPr lang="en-US" sz="1250" b="1" dirty="0">
                <a:solidFill>
                  <a:srgbClr val="23373C"/>
                </a:solidFill>
                <a:latin typeface="Meiryo" pitchFamily="34" charset="0"/>
                <a:ea typeface="Meiryo" pitchFamily="34" charset="-122"/>
                <a:cs typeface="Meiryo" pitchFamily="34" charset="-120"/>
              </a:rPr>
              <a:t>材料情報を入力</a:t>
            </a:r>
            <a:endParaRPr lang="en-US" sz="1250" dirty="0"/>
          </a:p>
        </p:txBody>
      </p:sp>
      <p:sp>
        <p:nvSpPr>
          <p:cNvPr id="44" name="Text 42"/>
          <p:cNvSpPr/>
          <p:nvPr/>
        </p:nvSpPr>
        <p:spPr>
          <a:xfrm>
            <a:off x="9747504" y="4645152"/>
            <a:ext cx="1783080" cy="777240"/>
          </a:xfrm>
          <a:prstGeom prst="rect">
            <a:avLst/>
          </a:prstGeom>
          <a:noFill/>
          <a:ln/>
        </p:spPr>
        <p:txBody>
          <a:bodyPr wrap="square" lIns="0" tIns="0" rIns="0" bIns="0" rtlCol="0" anchor="ctr"/>
          <a:lstStyle/>
          <a:p>
            <a:pPr marL="0" indent="0">
              <a:lnSpc>
                <a:spcPts val="1500"/>
              </a:lnSpc>
              <a:buNone/>
            </a:pPr>
            <a:r>
              <a:rPr lang="en-US" sz="1050" dirty="0">
                <a:solidFill>
                  <a:srgbClr val="6C8286"/>
                </a:solidFill>
                <a:latin typeface="Meiryo" pitchFamily="34" charset="0"/>
                <a:ea typeface="Meiryo" pitchFamily="34" charset="-122"/>
                <a:cs typeface="Meiryo" pitchFamily="34" charset="-120"/>
              </a:rPr>
              <a:t>シールを見ながら</a:t>
            </a:r>
            <a:endParaRPr lang="en-US" sz="1050" dirty="0"/>
          </a:p>
          <a:p>
            <a:pPr marL="0" indent="0">
              <a:lnSpc>
                <a:spcPts val="1500"/>
              </a:lnSpc>
              <a:buNone/>
            </a:pPr>
            <a:r>
              <a:rPr lang="en-US" sz="1050" dirty="0">
                <a:solidFill>
                  <a:srgbClr val="6C8286"/>
                </a:solidFill>
                <a:latin typeface="Meiryo" pitchFamily="34" charset="0"/>
                <a:ea typeface="Meiryo" pitchFamily="34" charset="-122"/>
                <a:cs typeface="Meiryo" pitchFamily="34" charset="-120"/>
              </a:rPr>
              <a:t>部品ごとに4項目ずつ</a:t>
            </a:r>
            <a:endParaRPr lang="en-US" sz="1050" dirty="0"/>
          </a:p>
        </p:txBody>
      </p:sp>
      <p:sp>
        <p:nvSpPr>
          <p:cNvPr id="45" name="Shape 43"/>
          <p:cNvSpPr/>
          <p:nvPr/>
        </p:nvSpPr>
        <p:spPr>
          <a:xfrm>
            <a:off x="548640" y="5715000"/>
            <a:ext cx="11064240" cy="603504"/>
          </a:xfrm>
          <a:prstGeom prst="roundRect">
            <a:avLst>
              <a:gd name="adj" fmla="val 12121"/>
            </a:avLst>
          </a:prstGeom>
          <a:solidFill>
            <a:srgbClr val="0B3C46"/>
          </a:solidFill>
          <a:ln/>
        </p:spPr>
      </p:sp>
      <p:sp>
        <p:nvSpPr>
          <p:cNvPr id="46" name="Text 44"/>
          <p:cNvSpPr/>
          <p:nvPr/>
        </p:nvSpPr>
        <p:spPr>
          <a:xfrm>
            <a:off x="868680" y="5715000"/>
            <a:ext cx="10424160" cy="603504"/>
          </a:xfrm>
          <a:prstGeom prst="rect">
            <a:avLst/>
          </a:prstGeom>
          <a:noFill/>
          <a:ln/>
        </p:spPr>
        <p:txBody>
          <a:bodyPr wrap="square" lIns="0" tIns="0" rIns="0" bIns="0" rtlCol="0" anchor="ctr"/>
          <a:lstStyle/>
          <a:p>
            <a:pPr marL="0" indent="0">
              <a:buNone/>
            </a:pPr>
            <a:r>
              <a:rPr lang="en-US" sz="1400" b="1" dirty="0">
                <a:solidFill>
                  <a:srgbClr val="FFFFFF"/>
                </a:solidFill>
                <a:latin typeface="Meiryo" pitchFamily="34" charset="0"/>
                <a:ea typeface="Meiryo" pitchFamily="34" charset="-122"/>
                <a:cs typeface="Meiryo" pitchFamily="34" charset="-120"/>
              </a:rPr>
              <a:t>この作業を1症例ずつ、手作業で行っています。</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92608"/>
            <a:ext cx="11064240" cy="475488"/>
          </a:xfrm>
          <a:prstGeom prst="rect">
            <a:avLst/>
          </a:prstGeom>
          <a:noFill/>
          <a:ln/>
        </p:spPr>
        <p:txBody>
          <a:bodyPr wrap="square" lIns="0" tIns="0" rIns="0" bIns="0" rtlCol="0" anchor="ctr"/>
          <a:lstStyle/>
          <a:p>
            <a:pPr marL="0" indent="0">
              <a:buNone/>
            </a:pPr>
            <a:r>
              <a:rPr lang="en-US" sz="2500" b="1" dirty="0">
                <a:solidFill>
                  <a:srgbClr val="0B3C46"/>
                </a:solidFill>
                <a:latin typeface="Meiryo" pitchFamily="34" charset="0"/>
                <a:ea typeface="Meiryo" pitchFamily="34" charset="-122"/>
                <a:cs typeface="Meiryo" pitchFamily="34" charset="-120"/>
              </a:rPr>
              <a:t>現在の課題</a:t>
            </a:r>
            <a:endParaRPr lang="en-US" sz="2500" dirty="0"/>
          </a:p>
        </p:txBody>
      </p:sp>
      <p:sp>
        <p:nvSpPr>
          <p:cNvPr id="3" name="Text 1"/>
          <p:cNvSpPr/>
          <p:nvPr/>
        </p:nvSpPr>
        <p:spPr>
          <a:xfrm>
            <a:off x="548640" y="822960"/>
            <a:ext cx="11064240" cy="310896"/>
          </a:xfrm>
          <a:prstGeom prst="rect">
            <a:avLst/>
          </a:prstGeom>
          <a:noFill/>
          <a:ln/>
        </p:spPr>
        <p:txBody>
          <a:bodyPr wrap="square" lIns="0" tIns="0" rIns="0" bIns="0" rtlCol="0" anchor="ctr"/>
          <a:lstStyle/>
          <a:p>
            <a:pPr marL="0" indent="0">
              <a:buNone/>
            </a:pPr>
            <a:r>
              <a:rPr lang="en-US" sz="1300" dirty="0">
                <a:solidFill>
                  <a:srgbClr val="6C8286"/>
                </a:solidFill>
                <a:latin typeface="Meiryo" pitchFamily="34" charset="0"/>
                <a:ea typeface="Meiryo" pitchFamily="34" charset="-122"/>
                <a:cs typeface="Meiryo" pitchFamily="34" charset="-120"/>
              </a:rPr>
              <a:t>前ページの作業のうち、特に負担となっている3点です</a:t>
            </a:r>
            <a:endParaRPr lang="en-US" sz="1300" dirty="0"/>
          </a:p>
        </p:txBody>
      </p:sp>
      <p:sp>
        <p:nvSpPr>
          <p:cNvPr id="4" name="Shape 2"/>
          <p:cNvSpPr/>
          <p:nvPr/>
        </p:nvSpPr>
        <p:spPr>
          <a:xfrm>
            <a:off x="548640" y="1234440"/>
            <a:ext cx="11064240" cy="1078992"/>
          </a:xfrm>
          <a:prstGeom prst="roundRect">
            <a:avLst>
              <a:gd name="adj" fmla="val 6780"/>
            </a:avLst>
          </a:prstGeom>
          <a:solidFill>
            <a:srgbClr val="F4F8F9"/>
          </a:solidFill>
          <a:ln/>
        </p:spPr>
      </p:sp>
      <p:sp>
        <p:nvSpPr>
          <p:cNvPr id="5" name="Shape 3"/>
          <p:cNvSpPr/>
          <p:nvPr/>
        </p:nvSpPr>
        <p:spPr>
          <a:xfrm>
            <a:off x="868680" y="1545336"/>
            <a:ext cx="457200" cy="457200"/>
          </a:xfrm>
          <a:prstGeom prst="ellipse">
            <a:avLst/>
          </a:prstGeom>
          <a:solidFill>
            <a:srgbClr val="028090"/>
          </a:solidFill>
          <a:ln/>
        </p:spPr>
      </p:sp>
      <p:sp>
        <p:nvSpPr>
          <p:cNvPr id="6" name="Text 4"/>
          <p:cNvSpPr/>
          <p:nvPr/>
        </p:nvSpPr>
        <p:spPr>
          <a:xfrm>
            <a:off x="868680" y="154533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01</a:t>
            </a:r>
            <a:endParaRPr lang="en-US" sz="1200" dirty="0"/>
          </a:p>
        </p:txBody>
      </p:sp>
      <p:sp>
        <p:nvSpPr>
          <p:cNvPr id="7" name="Text 5"/>
          <p:cNvSpPr/>
          <p:nvPr/>
        </p:nvSpPr>
        <p:spPr>
          <a:xfrm>
            <a:off x="1481328" y="1399032"/>
            <a:ext cx="2834640" cy="329184"/>
          </a:xfrm>
          <a:prstGeom prst="rect">
            <a:avLst/>
          </a:prstGeom>
          <a:noFill/>
          <a:ln/>
        </p:spPr>
        <p:txBody>
          <a:bodyPr wrap="square" lIns="0" tIns="0" rIns="0" bIns="0" rtlCol="0" anchor="ctr"/>
          <a:lstStyle/>
          <a:p>
            <a:pPr marL="0" indent="0">
              <a:buNone/>
            </a:pPr>
            <a:r>
              <a:rPr lang="en-US" sz="1500" b="1" dirty="0">
                <a:solidFill>
                  <a:srgbClr val="23373C"/>
                </a:solidFill>
                <a:latin typeface="Meiryo" pitchFamily="34" charset="0"/>
                <a:ea typeface="Meiryo" pitchFamily="34" charset="-122"/>
                <a:cs typeface="Meiryo" pitchFamily="34" charset="-120"/>
              </a:rPr>
              <a:t>情報が足りない</a:t>
            </a:r>
            <a:endParaRPr lang="en-US" sz="1500" dirty="0"/>
          </a:p>
        </p:txBody>
      </p:sp>
      <p:sp>
        <p:nvSpPr>
          <p:cNvPr id="9" name="Text 7"/>
          <p:cNvSpPr/>
          <p:nvPr/>
        </p:nvSpPr>
        <p:spPr>
          <a:xfrm>
            <a:off x="4480560" y="1417320"/>
            <a:ext cx="6858000" cy="777240"/>
          </a:xfrm>
          <a:prstGeom prst="rect">
            <a:avLst/>
          </a:prstGeom>
          <a:noFill/>
          <a:ln/>
        </p:spPr>
        <p:txBody>
          <a:bodyPr wrap="square" lIns="0" tIns="0" rIns="0" bIns="0" rtlCol="0" anchor="ctr"/>
          <a:lstStyle/>
          <a:p>
            <a:pPr marL="0" indent="0">
              <a:lnSpc>
                <a:spcPts val="1900"/>
              </a:lnSpc>
              <a:buNone/>
            </a:pPr>
            <a:r>
              <a:rPr lang="en-US" sz="1250" dirty="0">
                <a:solidFill>
                  <a:srgbClr val="23373C"/>
                </a:solidFill>
                <a:latin typeface="Meiryo" pitchFamily="34" charset="0"/>
                <a:ea typeface="Meiryo" pitchFamily="34" charset="-122"/>
                <a:cs typeface="Meiryo" pitchFamily="34" charset="-120"/>
              </a:rPr>
              <a:t>手術記録用紙には、登録に必要な性別・身長・体重などが印字されていない。1症例ごとに電子カルテを開いて確認している。</a:t>
            </a:r>
            <a:endParaRPr lang="en-US" sz="1250" dirty="0"/>
          </a:p>
        </p:txBody>
      </p:sp>
      <p:sp>
        <p:nvSpPr>
          <p:cNvPr id="10" name="Shape 8"/>
          <p:cNvSpPr/>
          <p:nvPr/>
        </p:nvSpPr>
        <p:spPr>
          <a:xfrm>
            <a:off x="548640" y="2468880"/>
            <a:ext cx="11064240" cy="1078992"/>
          </a:xfrm>
          <a:prstGeom prst="roundRect">
            <a:avLst>
              <a:gd name="adj" fmla="val 6780"/>
            </a:avLst>
          </a:prstGeom>
          <a:solidFill>
            <a:srgbClr val="F4F8F9"/>
          </a:solidFill>
          <a:ln/>
        </p:spPr>
      </p:sp>
      <p:sp>
        <p:nvSpPr>
          <p:cNvPr id="11" name="Shape 9"/>
          <p:cNvSpPr/>
          <p:nvPr/>
        </p:nvSpPr>
        <p:spPr>
          <a:xfrm>
            <a:off x="868680" y="2779776"/>
            <a:ext cx="457200" cy="457200"/>
          </a:xfrm>
          <a:prstGeom prst="ellipse">
            <a:avLst/>
          </a:prstGeom>
          <a:solidFill>
            <a:srgbClr val="028090"/>
          </a:solidFill>
          <a:ln/>
        </p:spPr>
      </p:sp>
      <p:sp>
        <p:nvSpPr>
          <p:cNvPr id="12" name="Text 10"/>
          <p:cNvSpPr/>
          <p:nvPr/>
        </p:nvSpPr>
        <p:spPr>
          <a:xfrm>
            <a:off x="868680" y="277977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02</a:t>
            </a:r>
            <a:endParaRPr lang="en-US" sz="1200" dirty="0"/>
          </a:p>
        </p:txBody>
      </p:sp>
      <p:sp>
        <p:nvSpPr>
          <p:cNvPr id="13" name="Text 11"/>
          <p:cNvSpPr/>
          <p:nvPr/>
        </p:nvSpPr>
        <p:spPr>
          <a:xfrm>
            <a:off x="1481328" y="2633472"/>
            <a:ext cx="2834640" cy="329184"/>
          </a:xfrm>
          <a:prstGeom prst="rect">
            <a:avLst/>
          </a:prstGeom>
          <a:noFill/>
          <a:ln/>
        </p:spPr>
        <p:txBody>
          <a:bodyPr wrap="square" lIns="0" tIns="0" rIns="0" bIns="0" rtlCol="0" anchor="ctr"/>
          <a:lstStyle/>
          <a:p>
            <a:pPr marL="0" indent="0">
              <a:buNone/>
            </a:pPr>
            <a:r>
              <a:rPr lang="en-US" sz="1500" b="1" dirty="0">
                <a:solidFill>
                  <a:srgbClr val="23373C"/>
                </a:solidFill>
                <a:latin typeface="Meiryo" pitchFamily="34" charset="0"/>
                <a:ea typeface="Meiryo" pitchFamily="34" charset="-122"/>
                <a:cs typeface="Meiryo" pitchFamily="34" charset="-120"/>
              </a:rPr>
              <a:t>並び順が違う</a:t>
            </a:r>
            <a:endParaRPr lang="en-US" sz="1500" dirty="0"/>
          </a:p>
        </p:txBody>
      </p:sp>
      <p:sp>
        <p:nvSpPr>
          <p:cNvPr id="15" name="Text 13"/>
          <p:cNvSpPr/>
          <p:nvPr/>
        </p:nvSpPr>
        <p:spPr>
          <a:xfrm>
            <a:off x="4480560" y="2651760"/>
            <a:ext cx="6858000" cy="777240"/>
          </a:xfrm>
          <a:prstGeom prst="rect">
            <a:avLst/>
          </a:prstGeom>
          <a:noFill/>
          <a:ln/>
        </p:spPr>
        <p:txBody>
          <a:bodyPr wrap="square" lIns="0" tIns="0" rIns="0" bIns="0" rtlCol="0" anchor="ctr"/>
          <a:lstStyle/>
          <a:p>
            <a:pPr marL="0" indent="0">
              <a:lnSpc>
                <a:spcPts val="1900"/>
              </a:lnSpc>
              <a:buNone/>
            </a:pPr>
            <a:r>
              <a:rPr lang="en-US" sz="1250" dirty="0">
                <a:solidFill>
                  <a:srgbClr val="23373C"/>
                </a:solidFill>
                <a:latin typeface="Meiryo" pitchFamily="34" charset="0"/>
                <a:ea typeface="Meiryo" pitchFamily="34" charset="-122"/>
                <a:cs typeface="Meiryo" pitchFamily="34" charset="-120"/>
              </a:rPr>
              <a:t>手元の書類の並び順と、JOANR登録フォームの入力順が一致しない。目線の移動と画面のスクロールが絶えず発生し、入力ミスの原因にもなる。</a:t>
            </a:r>
            <a:endParaRPr lang="en-US" sz="1250" dirty="0"/>
          </a:p>
        </p:txBody>
      </p:sp>
      <p:sp>
        <p:nvSpPr>
          <p:cNvPr id="16" name="Shape 14"/>
          <p:cNvSpPr/>
          <p:nvPr/>
        </p:nvSpPr>
        <p:spPr>
          <a:xfrm>
            <a:off x="548640" y="3703320"/>
            <a:ext cx="11064240" cy="1078992"/>
          </a:xfrm>
          <a:prstGeom prst="roundRect">
            <a:avLst>
              <a:gd name="adj" fmla="val 6780"/>
            </a:avLst>
          </a:prstGeom>
          <a:solidFill>
            <a:srgbClr val="F4F8F9"/>
          </a:solidFill>
          <a:ln/>
        </p:spPr>
      </p:sp>
      <p:sp>
        <p:nvSpPr>
          <p:cNvPr id="17" name="Shape 15"/>
          <p:cNvSpPr/>
          <p:nvPr/>
        </p:nvSpPr>
        <p:spPr>
          <a:xfrm>
            <a:off x="868680" y="4014216"/>
            <a:ext cx="457200" cy="457200"/>
          </a:xfrm>
          <a:prstGeom prst="ellipse">
            <a:avLst/>
          </a:prstGeom>
          <a:solidFill>
            <a:srgbClr val="028090"/>
          </a:solidFill>
          <a:ln/>
        </p:spPr>
      </p:sp>
      <p:sp>
        <p:nvSpPr>
          <p:cNvPr id="18" name="Text 16"/>
          <p:cNvSpPr/>
          <p:nvPr/>
        </p:nvSpPr>
        <p:spPr>
          <a:xfrm>
            <a:off x="868680" y="401421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03</a:t>
            </a:r>
            <a:endParaRPr lang="en-US" sz="1200" dirty="0"/>
          </a:p>
        </p:txBody>
      </p:sp>
      <p:sp>
        <p:nvSpPr>
          <p:cNvPr id="19" name="Text 17"/>
          <p:cNvSpPr/>
          <p:nvPr/>
        </p:nvSpPr>
        <p:spPr>
          <a:xfrm>
            <a:off x="1481328" y="3867912"/>
            <a:ext cx="2834640" cy="329184"/>
          </a:xfrm>
          <a:prstGeom prst="rect">
            <a:avLst/>
          </a:prstGeom>
          <a:noFill/>
          <a:ln/>
        </p:spPr>
        <p:txBody>
          <a:bodyPr wrap="square" lIns="0" tIns="0" rIns="0" bIns="0" rtlCol="0" anchor="ctr"/>
          <a:lstStyle/>
          <a:p>
            <a:pPr marL="0" indent="0">
              <a:buNone/>
            </a:pPr>
            <a:r>
              <a:rPr lang="en-US" sz="1500" b="1" dirty="0">
                <a:solidFill>
                  <a:srgbClr val="23373C"/>
                </a:solidFill>
                <a:latin typeface="Meiryo" pitchFamily="34" charset="0"/>
                <a:ea typeface="Meiryo" pitchFamily="34" charset="-122"/>
                <a:cs typeface="Meiryo" pitchFamily="34" charset="-120"/>
              </a:rPr>
              <a:t>術式をそのまま選べない</a:t>
            </a:r>
            <a:endParaRPr lang="en-US" sz="1500" dirty="0"/>
          </a:p>
        </p:txBody>
      </p:sp>
      <p:sp>
        <p:nvSpPr>
          <p:cNvPr id="21" name="Text 19"/>
          <p:cNvSpPr/>
          <p:nvPr/>
        </p:nvSpPr>
        <p:spPr>
          <a:xfrm>
            <a:off x="4480560" y="3886200"/>
            <a:ext cx="6858000" cy="777240"/>
          </a:xfrm>
          <a:prstGeom prst="rect">
            <a:avLst/>
          </a:prstGeom>
          <a:noFill/>
          <a:ln/>
        </p:spPr>
        <p:txBody>
          <a:bodyPr wrap="square" lIns="0" tIns="0" rIns="0" bIns="0" rtlCol="0" anchor="ctr"/>
          <a:lstStyle/>
          <a:p>
            <a:pPr marL="0" indent="0">
              <a:lnSpc>
                <a:spcPts val="1900"/>
              </a:lnSpc>
              <a:buNone/>
            </a:pPr>
            <a:r>
              <a:rPr lang="en-US" sz="1250" dirty="0">
                <a:solidFill>
                  <a:srgbClr val="23373C"/>
                </a:solidFill>
                <a:latin typeface="Meiryo" pitchFamily="34" charset="0"/>
                <a:ea typeface="Meiryo" pitchFamily="34" charset="-122"/>
                <a:cs typeface="Meiryo" pitchFamily="34" charset="-120"/>
              </a:rPr>
              <a:t>JOANRは集計用に決められた分類の術式しか登録できず、実際の術式に近いものを毎回考えて選ぶ必要がある。</a:t>
            </a:r>
            <a:endParaRPr lang="en-US" sz="1250" dirty="0"/>
          </a:p>
        </p:txBody>
      </p:sp>
      <p:sp>
        <p:nvSpPr>
          <p:cNvPr id="22" name="Shape 20"/>
          <p:cNvSpPr/>
          <p:nvPr/>
        </p:nvSpPr>
        <p:spPr>
          <a:xfrm>
            <a:off x="548640" y="4983480"/>
            <a:ext cx="11064240" cy="914400"/>
          </a:xfrm>
          <a:prstGeom prst="roundRect">
            <a:avLst>
              <a:gd name="adj" fmla="val 8000"/>
            </a:avLst>
          </a:prstGeom>
          <a:solidFill>
            <a:srgbClr val="FFF4E0"/>
          </a:solidFill>
          <a:ln/>
        </p:spPr>
      </p:sp>
      <p:sp>
        <p:nvSpPr>
          <p:cNvPr id="23" name="Text 21"/>
          <p:cNvSpPr/>
          <p:nvPr/>
        </p:nvSpPr>
        <p:spPr>
          <a:xfrm>
            <a:off x="1325880" y="5312664"/>
            <a:ext cx="1097280" cy="274320"/>
          </a:xfrm>
          <a:prstGeom prst="rect">
            <a:avLst/>
          </a:prstGeom>
          <a:noFill/>
          <a:ln/>
        </p:spPr>
        <p:txBody>
          <a:bodyPr wrap="square" lIns="0" tIns="0" rIns="0" bIns="0" rtlCol="0" anchor="ctr"/>
          <a:lstStyle/>
          <a:p>
            <a:pPr marL="0" indent="0">
              <a:buNone/>
            </a:pPr>
            <a:r>
              <a:rPr lang="en-US" sz="1300" b="1" dirty="0">
                <a:solidFill>
                  <a:srgbClr val="C77700"/>
                </a:solidFill>
                <a:latin typeface="Meiryo" pitchFamily="34" charset="0"/>
                <a:ea typeface="Meiryo" pitchFamily="34" charset="-122"/>
                <a:cs typeface="Meiryo" pitchFamily="34" charset="-120"/>
              </a:rPr>
              <a:t>現状</a:t>
            </a:r>
            <a:endParaRPr lang="en-US" sz="1300" dirty="0"/>
          </a:p>
        </p:txBody>
      </p:sp>
      <p:sp>
        <p:nvSpPr>
          <p:cNvPr id="24" name="Text 22"/>
          <p:cNvSpPr/>
          <p:nvPr/>
        </p:nvSpPr>
        <p:spPr>
          <a:xfrm>
            <a:off x="1920240" y="4983480"/>
            <a:ext cx="9418320" cy="914400"/>
          </a:xfrm>
          <a:prstGeom prst="rect">
            <a:avLst/>
          </a:prstGeom>
          <a:noFill/>
          <a:ln/>
        </p:spPr>
        <p:txBody>
          <a:bodyPr wrap="square" lIns="0" tIns="0" rIns="0" bIns="0" rtlCol="0" anchor="ctr"/>
          <a:lstStyle/>
          <a:p>
            <a:pPr marL="0" indent="0">
              <a:buNone/>
            </a:pPr>
            <a:r>
              <a:rPr lang="en-US" sz="1400" b="1" dirty="0">
                <a:solidFill>
                  <a:srgbClr val="23373C"/>
                </a:solidFill>
                <a:latin typeface="Meiryo" pitchFamily="34" charset="0"/>
                <a:ea typeface="Meiryo" pitchFamily="34" charset="-122"/>
                <a:cs typeface="Meiryo" pitchFamily="34" charset="-120"/>
              </a:rPr>
              <a:t>登録業務は現在ストップしています。その間も手術記録用紙は日々積み上がり、現場の焦りも増しています。</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92608"/>
            <a:ext cx="11064240" cy="475488"/>
          </a:xfrm>
          <a:prstGeom prst="rect">
            <a:avLst/>
          </a:prstGeom>
          <a:noFill/>
          <a:ln/>
        </p:spPr>
        <p:txBody>
          <a:bodyPr wrap="square" lIns="0" tIns="0" rIns="0" bIns="0" rtlCol="0" anchor="ctr"/>
          <a:lstStyle/>
          <a:p>
            <a:pPr marL="0" indent="0">
              <a:buNone/>
            </a:pPr>
            <a:r>
              <a:rPr lang="en-US" sz="2500" b="1" dirty="0">
                <a:solidFill>
                  <a:srgbClr val="0B3C46"/>
                </a:solidFill>
                <a:latin typeface="Meiryo" pitchFamily="34" charset="0"/>
                <a:ea typeface="Meiryo" pitchFamily="34" charset="-122"/>
                <a:cs typeface="Meiryo" pitchFamily="34" charset="-120"/>
              </a:rPr>
              <a:t>目指す業務の姿</a:t>
            </a:r>
            <a:endParaRPr lang="en-US" sz="2500" dirty="0"/>
          </a:p>
        </p:txBody>
      </p:sp>
      <p:sp>
        <p:nvSpPr>
          <p:cNvPr id="3" name="Text 1"/>
          <p:cNvSpPr/>
          <p:nvPr/>
        </p:nvSpPr>
        <p:spPr>
          <a:xfrm>
            <a:off x="548640" y="822960"/>
            <a:ext cx="11064240" cy="310896"/>
          </a:xfrm>
          <a:prstGeom prst="rect">
            <a:avLst/>
          </a:prstGeom>
          <a:noFill/>
          <a:ln/>
        </p:spPr>
        <p:txBody>
          <a:bodyPr wrap="square" lIns="0" tIns="0" rIns="0" bIns="0" rtlCol="0" anchor="ctr"/>
          <a:lstStyle/>
          <a:p>
            <a:pPr marL="0" indent="0">
              <a:buNone/>
            </a:pPr>
            <a:r>
              <a:rPr lang="en-US" sz="1300" dirty="0">
                <a:solidFill>
                  <a:srgbClr val="6C8286"/>
                </a:solidFill>
                <a:latin typeface="Meiryo" pitchFamily="34" charset="0"/>
                <a:ea typeface="Meiryo" pitchFamily="34" charset="-122"/>
                <a:cs typeface="Meiryo" pitchFamily="34" charset="-120"/>
              </a:rPr>
              <a:t>課題を解消するために、業務がどうなっていればよいかを整理しました</a:t>
            </a:r>
            <a:endParaRPr lang="en-US" sz="1300" dirty="0"/>
          </a:p>
        </p:txBody>
      </p:sp>
      <p:sp>
        <p:nvSpPr>
          <p:cNvPr id="4" name="Shape 2"/>
          <p:cNvSpPr/>
          <p:nvPr/>
        </p:nvSpPr>
        <p:spPr>
          <a:xfrm>
            <a:off x="548640" y="1280160"/>
            <a:ext cx="3401568" cy="3200400"/>
          </a:xfrm>
          <a:prstGeom prst="roundRect">
            <a:avLst>
              <a:gd name="adj" fmla="val 2857"/>
            </a:avLst>
          </a:prstGeom>
          <a:solidFill>
            <a:srgbClr val="F4F8F9"/>
          </a:solidFill>
          <a:ln/>
        </p:spPr>
      </p:sp>
      <p:sp>
        <p:nvSpPr>
          <p:cNvPr id="5" name="Shape 3"/>
          <p:cNvSpPr/>
          <p:nvPr/>
        </p:nvSpPr>
        <p:spPr>
          <a:xfrm>
            <a:off x="822960" y="1536192"/>
            <a:ext cx="566928" cy="566928"/>
          </a:xfrm>
          <a:prstGeom prst="ellipse">
            <a:avLst/>
          </a:prstGeom>
          <a:solidFill>
            <a:srgbClr val="028090"/>
          </a:solidFill>
          <a:ln/>
        </p:spPr>
      </p:sp>
      <p:sp>
        <p:nvSpPr>
          <p:cNvPr id="6" name="Text 4"/>
          <p:cNvSpPr/>
          <p:nvPr/>
        </p:nvSpPr>
        <p:spPr>
          <a:xfrm>
            <a:off x="822960" y="1536192"/>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Meiryo" pitchFamily="34" charset="0"/>
                <a:ea typeface="Meiryo" pitchFamily="34" charset="-122"/>
                <a:cs typeface="Meiryo" pitchFamily="34" charset="-120"/>
              </a:rPr>
              <a:t>A</a:t>
            </a:r>
            <a:endParaRPr lang="en-US" sz="1700" dirty="0"/>
          </a:p>
        </p:txBody>
      </p:sp>
      <p:sp>
        <p:nvSpPr>
          <p:cNvPr id="7" name="Text 5"/>
          <p:cNvSpPr/>
          <p:nvPr/>
        </p:nvSpPr>
        <p:spPr>
          <a:xfrm>
            <a:off x="822960" y="2240280"/>
            <a:ext cx="2834640" cy="731520"/>
          </a:xfrm>
          <a:prstGeom prst="rect">
            <a:avLst/>
          </a:prstGeom>
          <a:noFill/>
          <a:ln/>
        </p:spPr>
        <p:txBody>
          <a:bodyPr wrap="square" lIns="0" tIns="0" rIns="0" bIns="0" rtlCol="0" anchor="ctr"/>
          <a:lstStyle/>
          <a:p>
            <a:pPr marL="0" indent="0">
              <a:lnSpc>
                <a:spcPts val="2400"/>
              </a:lnSpc>
              <a:buNone/>
            </a:pPr>
            <a:r>
              <a:rPr lang="en-US" sz="1600" b="1" dirty="0">
                <a:solidFill>
                  <a:srgbClr val="23373C"/>
                </a:solidFill>
                <a:latin typeface="Meiryo" pitchFamily="34" charset="0"/>
                <a:ea typeface="Meiryo" pitchFamily="34" charset="-122"/>
                <a:cs typeface="Meiryo" pitchFamily="34" charset="-120"/>
              </a:rPr>
              <a:t>必要な情報が</a:t>
            </a:r>
            <a:endParaRPr lang="en-US" sz="1600" dirty="0"/>
          </a:p>
          <a:p>
            <a:pPr marL="0" indent="0">
              <a:lnSpc>
                <a:spcPts val="2400"/>
              </a:lnSpc>
              <a:buNone/>
            </a:pPr>
            <a:r>
              <a:rPr lang="en-US" sz="1600" b="1" dirty="0">
                <a:solidFill>
                  <a:srgbClr val="23373C"/>
                </a:solidFill>
                <a:latin typeface="Meiryo" pitchFamily="34" charset="0"/>
                <a:ea typeface="Meiryo" pitchFamily="34" charset="-122"/>
                <a:cs typeface="Meiryo" pitchFamily="34" charset="-120"/>
              </a:rPr>
              <a:t>そろった記録用紙</a:t>
            </a:r>
            <a:endParaRPr lang="en-US" sz="1600" dirty="0"/>
          </a:p>
        </p:txBody>
      </p:sp>
      <p:sp>
        <p:nvSpPr>
          <p:cNvPr id="8" name="Text 6"/>
          <p:cNvSpPr/>
          <p:nvPr/>
        </p:nvSpPr>
        <p:spPr>
          <a:xfrm>
            <a:off x="822960" y="3035808"/>
            <a:ext cx="2834640" cy="1280160"/>
          </a:xfrm>
          <a:prstGeom prst="rect">
            <a:avLst/>
          </a:prstGeom>
          <a:noFill/>
          <a:ln/>
        </p:spPr>
        <p:txBody>
          <a:bodyPr wrap="square" lIns="0" tIns="0" rIns="0" bIns="0" rtlCol="0" anchor="ctr"/>
          <a:lstStyle/>
          <a:p>
            <a:pPr marL="0" indent="0">
              <a:lnSpc>
                <a:spcPts val="1700"/>
              </a:lnSpc>
              <a:buNone/>
            </a:pPr>
            <a:r>
              <a:rPr lang="en-US" sz="1150" dirty="0">
                <a:solidFill>
                  <a:srgbClr val="6C8286"/>
                </a:solidFill>
                <a:latin typeface="Meiryo" pitchFamily="34" charset="0"/>
                <a:ea typeface="Meiryo" pitchFamily="34" charset="-122"/>
                <a:cs typeface="Meiryo" pitchFamily="34" charset="-120"/>
              </a:rPr>
              <a:t>手術ごとに、登録に必要な項目が最初から印字された記録用紙が出力される。</a:t>
            </a:r>
            <a:endParaRPr lang="en-US" sz="1150" dirty="0"/>
          </a:p>
          <a:p>
            <a:pPr marL="0" indent="0">
              <a:lnSpc>
                <a:spcPts val="1700"/>
              </a:lnSpc>
              <a:buNone/>
            </a:pPr>
            <a:r>
              <a:rPr lang="en-US" sz="1150" dirty="0">
                <a:solidFill>
                  <a:srgbClr val="6C8286"/>
                </a:solidFill>
                <a:latin typeface="Meiryo" pitchFamily="34" charset="0"/>
                <a:ea typeface="Meiryo" pitchFamily="34" charset="-122"/>
                <a:cs typeface="Meiryo" pitchFamily="34" charset="-120"/>
              </a:rPr>
              <a:t>→ 電子カルテを開き直す必要がなくなる（課題01）</a:t>
            </a:r>
            <a:endParaRPr lang="en-US" sz="1150" dirty="0"/>
          </a:p>
        </p:txBody>
      </p:sp>
      <p:sp>
        <p:nvSpPr>
          <p:cNvPr id="9" name="Shape 7"/>
          <p:cNvSpPr/>
          <p:nvPr/>
        </p:nvSpPr>
        <p:spPr>
          <a:xfrm>
            <a:off x="4370832" y="1280160"/>
            <a:ext cx="3401568" cy="3200400"/>
          </a:xfrm>
          <a:prstGeom prst="roundRect">
            <a:avLst>
              <a:gd name="adj" fmla="val 2857"/>
            </a:avLst>
          </a:prstGeom>
          <a:solidFill>
            <a:srgbClr val="F4F8F9"/>
          </a:solidFill>
          <a:ln/>
        </p:spPr>
      </p:sp>
      <p:sp>
        <p:nvSpPr>
          <p:cNvPr id="10" name="Shape 8"/>
          <p:cNvSpPr/>
          <p:nvPr/>
        </p:nvSpPr>
        <p:spPr>
          <a:xfrm>
            <a:off x="4645152" y="1536192"/>
            <a:ext cx="566928" cy="566928"/>
          </a:xfrm>
          <a:prstGeom prst="ellipse">
            <a:avLst/>
          </a:prstGeom>
          <a:solidFill>
            <a:srgbClr val="028090"/>
          </a:solidFill>
          <a:ln/>
        </p:spPr>
      </p:sp>
      <p:sp>
        <p:nvSpPr>
          <p:cNvPr id="11" name="Text 9"/>
          <p:cNvSpPr/>
          <p:nvPr/>
        </p:nvSpPr>
        <p:spPr>
          <a:xfrm>
            <a:off x="4645152" y="1536192"/>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Meiryo" pitchFamily="34" charset="0"/>
                <a:ea typeface="Meiryo" pitchFamily="34" charset="-122"/>
                <a:cs typeface="Meiryo" pitchFamily="34" charset="-120"/>
              </a:rPr>
              <a:t>B</a:t>
            </a:r>
            <a:endParaRPr lang="en-US" sz="1700" dirty="0"/>
          </a:p>
        </p:txBody>
      </p:sp>
      <p:sp>
        <p:nvSpPr>
          <p:cNvPr id="12" name="Text 10"/>
          <p:cNvSpPr/>
          <p:nvPr/>
        </p:nvSpPr>
        <p:spPr>
          <a:xfrm>
            <a:off x="4645152" y="2240280"/>
            <a:ext cx="2834640" cy="731520"/>
          </a:xfrm>
          <a:prstGeom prst="rect">
            <a:avLst/>
          </a:prstGeom>
          <a:noFill/>
          <a:ln/>
        </p:spPr>
        <p:txBody>
          <a:bodyPr wrap="square" lIns="0" tIns="0" rIns="0" bIns="0" rtlCol="0" anchor="ctr"/>
          <a:lstStyle/>
          <a:p>
            <a:pPr marL="0" indent="0">
              <a:lnSpc>
                <a:spcPts val="2400"/>
              </a:lnSpc>
              <a:buNone/>
            </a:pPr>
            <a:r>
              <a:rPr lang="en-US" sz="1600" b="1" dirty="0">
                <a:solidFill>
                  <a:srgbClr val="23373C"/>
                </a:solidFill>
                <a:latin typeface="Meiryo" pitchFamily="34" charset="0"/>
                <a:ea typeface="Meiryo" pitchFamily="34" charset="-122"/>
                <a:cs typeface="Meiryo" pitchFamily="34" charset="-120"/>
              </a:rPr>
              <a:t>患者ごとに</a:t>
            </a:r>
            <a:endParaRPr lang="en-US" sz="1600" dirty="0"/>
          </a:p>
          <a:p>
            <a:pPr marL="0" indent="0">
              <a:lnSpc>
                <a:spcPts val="2400"/>
              </a:lnSpc>
              <a:buNone/>
            </a:pPr>
            <a:r>
              <a:rPr lang="en-US" sz="1600" b="1" dirty="0">
                <a:solidFill>
                  <a:srgbClr val="23373C"/>
                </a:solidFill>
                <a:latin typeface="Meiryo" pitchFamily="34" charset="0"/>
                <a:ea typeface="Meiryo" pitchFamily="34" charset="-122"/>
                <a:cs typeface="Meiryo" pitchFamily="34" charset="-120"/>
              </a:rPr>
              <a:t>仕分けられた電子データ</a:t>
            </a:r>
            <a:endParaRPr lang="en-US" sz="1600" dirty="0"/>
          </a:p>
        </p:txBody>
      </p:sp>
      <p:sp>
        <p:nvSpPr>
          <p:cNvPr id="13" name="Text 11"/>
          <p:cNvSpPr/>
          <p:nvPr/>
        </p:nvSpPr>
        <p:spPr>
          <a:xfrm>
            <a:off x="4645152" y="3035808"/>
            <a:ext cx="2834640" cy="1280160"/>
          </a:xfrm>
          <a:prstGeom prst="rect">
            <a:avLst/>
          </a:prstGeom>
          <a:noFill/>
          <a:ln/>
        </p:spPr>
        <p:txBody>
          <a:bodyPr wrap="square" lIns="0" tIns="0" rIns="0" bIns="0" rtlCol="0" anchor="ctr"/>
          <a:lstStyle/>
          <a:p>
            <a:pPr marL="0" indent="0">
              <a:lnSpc>
                <a:spcPts val="1700"/>
              </a:lnSpc>
              <a:buNone/>
            </a:pPr>
            <a:r>
              <a:rPr lang="en-US" sz="1150" dirty="0">
                <a:solidFill>
                  <a:srgbClr val="6C8286"/>
                </a:solidFill>
                <a:latin typeface="Meiryo" pitchFamily="34" charset="0"/>
                <a:ea typeface="Meiryo" pitchFamily="34" charset="-122"/>
                <a:cs typeface="Meiryo" pitchFamily="34" charset="-120"/>
              </a:rPr>
              <a:t>記録用紙をまとめてスキャンすると、患者ごとのファイルに自動で分割・保存される。</a:t>
            </a:r>
            <a:endParaRPr lang="en-US" sz="1150" dirty="0"/>
          </a:p>
          <a:p>
            <a:pPr marL="0" indent="0">
              <a:lnSpc>
                <a:spcPts val="1700"/>
              </a:lnSpc>
              <a:buNone/>
            </a:pPr>
            <a:r>
              <a:rPr lang="en-US" sz="1150" dirty="0">
                <a:solidFill>
                  <a:srgbClr val="6C8286"/>
                </a:solidFill>
                <a:latin typeface="Meiryo" pitchFamily="34" charset="0"/>
                <a:ea typeface="Meiryo" pitchFamily="34" charset="-122"/>
                <a:cs typeface="Meiryo" pitchFamily="34" charset="-120"/>
              </a:rPr>
              <a:t>→ 1件ずつスキャンする手間がなくなる</a:t>
            </a:r>
            <a:endParaRPr lang="en-US" sz="1150" dirty="0"/>
          </a:p>
        </p:txBody>
      </p:sp>
      <p:sp>
        <p:nvSpPr>
          <p:cNvPr id="14" name="Shape 12"/>
          <p:cNvSpPr/>
          <p:nvPr/>
        </p:nvSpPr>
        <p:spPr>
          <a:xfrm>
            <a:off x="8193024" y="1280160"/>
            <a:ext cx="3401568" cy="3200400"/>
          </a:xfrm>
          <a:prstGeom prst="roundRect">
            <a:avLst>
              <a:gd name="adj" fmla="val 2857"/>
            </a:avLst>
          </a:prstGeom>
          <a:solidFill>
            <a:srgbClr val="F4F8F9"/>
          </a:solidFill>
          <a:ln/>
        </p:spPr>
      </p:sp>
      <p:sp>
        <p:nvSpPr>
          <p:cNvPr id="15" name="Shape 13"/>
          <p:cNvSpPr/>
          <p:nvPr/>
        </p:nvSpPr>
        <p:spPr>
          <a:xfrm>
            <a:off x="8467344" y="1536192"/>
            <a:ext cx="566928" cy="566928"/>
          </a:xfrm>
          <a:prstGeom prst="ellipse">
            <a:avLst/>
          </a:prstGeom>
          <a:solidFill>
            <a:srgbClr val="028090"/>
          </a:solidFill>
          <a:ln/>
        </p:spPr>
      </p:sp>
      <p:sp>
        <p:nvSpPr>
          <p:cNvPr id="16" name="Text 14"/>
          <p:cNvSpPr/>
          <p:nvPr/>
        </p:nvSpPr>
        <p:spPr>
          <a:xfrm>
            <a:off x="8467344" y="1536192"/>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Meiryo" pitchFamily="34" charset="0"/>
                <a:ea typeface="Meiryo" pitchFamily="34" charset="-122"/>
                <a:cs typeface="Meiryo" pitchFamily="34" charset="-120"/>
              </a:rPr>
              <a:t>C</a:t>
            </a:r>
            <a:endParaRPr lang="en-US" sz="1700" dirty="0"/>
          </a:p>
        </p:txBody>
      </p:sp>
      <p:sp>
        <p:nvSpPr>
          <p:cNvPr id="17" name="Text 15"/>
          <p:cNvSpPr/>
          <p:nvPr/>
        </p:nvSpPr>
        <p:spPr>
          <a:xfrm>
            <a:off x="8467344" y="2240280"/>
            <a:ext cx="2834640" cy="731520"/>
          </a:xfrm>
          <a:prstGeom prst="rect">
            <a:avLst/>
          </a:prstGeom>
          <a:noFill/>
          <a:ln/>
        </p:spPr>
        <p:txBody>
          <a:bodyPr wrap="square" lIns="0" tIns="0" rIns="0" bIns="0" rtlCol="0" anchor="ctr"/>
          <a:lstStyle/>
          <a:p>
            <a:pPr marL="0" indent="0">
              <a:lnSpc>
                <a:spcPts val="2400"/>
              </a:lnSpc>
              <a:buNone/>
            </a:pPr>
            <a:r>
              <a:rPr lang="en-US" sz="1600" b="1" dirty="0">
                <a:solidFill>
                  <a:srgbClr val="23373C"/>
                </a:solidFill>
                <a:latin typeface="Meiryo" pitchFamily="34" charset="0"/>
                <a:ea typeface="Meiryo" pitchFamily="34" charset="-122"/>
                <a:cs typeface="Meiryo" pitchFamily="34" charset="-120"/>
              </a:rPr>
              <a:t>フォームの順に</a:t>
            </a:r>
            <a:endParaRPr lang="en-US" sz="1600" dirty="0"/>
          </a:p>
          <a:p>
            <a:pPr marL="0" indent="0">
              <a:lnSpc>
                <a:spcPts val="2400"/>
              </a:lnSpc>
              <a:buNone/>
            </a:pPr>
            <a:r>
              <a:rPr lang="en-US" sz="1600" b="1" dirty="0">
                <a:solidFill>
                  <a:srgbClr val="23373C"/>
                </a:solidFill>
                <a:latin typeface="Meiryo" pitchFamily="34" charset="0"/>
                <a:ea typeface="Meiryo" pitchFamily="34" charset="-122"/>
                <a:cs typeface="Meiryo" pitchFamily="34" charset="-120"/>
              </a:rPr>
              <a:t>並んだ入力画面</a:t>
            </a:r>
            <a:endParaRPr lang="en-US" sz="1600" dirty="0"/>
          </a:p>
        </p:txBody>
      </p:sp>
      <p:sp>
        <p:nvSpPr>
          <p:cNvPr id="18" name="Text 16"/>
          <p:cNvSpPr/>
          <p:nvPr/>
        </p:nvSpPr>
        <p:spPr>
          <a:xfrm>
            <a:off x="8467344" y="3035808"/>
            <a:ext cx="2834640" cy="1280160"/>
          </a:xfrm>
          <a:prstGeom prst="rect">
            <a:avLst/>
          </a:prstGeom>
          <a:noFill/>
          <a:ln/>
        </p:spPr>
        <p:txBody>
          <a:bodyPr wrap="square" lIns="0" tIns="0" rIns="0" bIns="0" rtlCol="0" anchor="ctr"/>
          <a:lstStyle/>
          <a:p>
            <a:pPr marL="0" indent="0">
              <a:lnSpc>
                <a:spcPts val="1700"/>
              </a:lnSpc>
              <a:buNone/>
            </a:pPr>
            <a:r>
              <a:rPr lang="en-US" sz="1150" dirty="0">
                <a:solidFill>
                  <a:srgbClr val="6C8286"/>
                </a:solidFill>
                <a:latin typeface="Meiryo" pitchFamily="34" charset="0"/>
                <a:ea typeface="Meiryo" pitchFamily="34" charset="-122"/>
                <a:cs typeface="Meiryo" pitchFamily="34" charset="-120"/>
              </a:rPr>
              <a:t>登録フォームと同じ順番で情報が表示され、確認しながら入力できる。術式も候補から選べる。</a:t>
            </a:r>
            <a:endParaRPr lang="en-US" sz="1150" dirty="0"/>
          </a:p>
          <a:p>
            <a:pPr marL="0" indent="0">
              <a:lnSpc>
                <a:spcPts val="1700"/>
              </a:lnSpc>
              <a:buNone/>
            </a:pPr>
            <a:r>
              <a:rPr lang="en-US" sz="1150" dirty="0">
                <a:solidFill>
                  <a:srgbClr val="6C8286"/>
                </a:solidFill>
                <a:latin typeface="Meiryo" pitchFamily="34" charset="0"/>
                <a:ea typeface="Meiryo" pitchFamily="34" charset="-122"/>
                <a:cs typeface="Meiryo" pitchFamily="34" charset="-120"/>
              </a:rPr>
              <a:t>→ 目線の往復と術式探しがなくなる（課題02・03）</a:t>
            </a:r>
            <a:endParaRPr lang="en-US" sz="1150" dirty="0"/>
          </a:p>
        </p:txBody>
      </p:sp>
      <p:sp>
        <p:nvSpPr>
          <p:cNvPr id="19" name="Shape 17"/>
          <p:cNvSpPr/>
          <p:nvPr/>
        </p:nvSpPr>
        <p:spPr>
          <a:xfrm>
            <a:off x="548640" y="4709160"/>
            <a:ext cx="11064240" cy="603504"/>
          </a:xfrm>
          <a:prstGeom prst="roundRect">
            <a:avLst>
              <a:gd name="adj" fmla="val 12121"/>
            </a:avLst>
          </a:prstGeom>
          <a:solidFill>
            <a:srgbClr val="0B3C46"/>
          </a:solidFill>
          <a:ln/>
        </p:spPr>
      </p:sp>
      <p:sp>
        <p:nvSpPr>
          <p:cNvPr id="20" name="Text 18"/>
          <p:cNvSpPr/>
          <p:nvPr/>
        </p:nvSpPr>
        <p:spPr>
          <a:xfrm>
            <a:off x="868680" y="4709160"/>
            <a:ext cx="10424160" cy="603504"/>
          </a:xfrm>
          <a:prstGeom prst="rect">
            <a:avLst/>
          </a:prstGeom>
          <a:noFill/>
          <a:ln/>
        </p:spPr>
        <p:txBody>
          <a:bodyPr wrap="square" lIns="0" tIns="0" rIns="0" bIns="0" rtlCol="0" anchor="ctr"/>
          <a:lstStyle/>
          <a:p>
            <a:pPr marL="0" indent="0">
              <a:buNone/>
            </a:pPr>
            <a:r>
              <a:rPr lang="en-US" sz="1400" b="1" dirty="0">
                <a:solidFill>
                  <a:srgbClr val="FFFFFF"/>
                </a:solidFill>
                <a:latin typeface="Meiryo" pitchFamily="34" charset="0"/>
                <a:ea typeface="Meiryo" pitchFamily="34" charset="-122"/>
                <a:cs typeface="Meiryo" pitchFamily="34" charset="-120"/>
              </a:rPr>
              <a:t>この3つが揃えば登録業務は</a:t>
            </a:r>
            <a:r>
              <a:rPr lang="ja-JP" altLang="en-US" sz="1400" b="1" dirty="0">
                <a:solidFill>
                  <a:srgbClr val="FFFFFF"/>
                </a:solidFill>
                <a:latin typeface="Meiryo" pitchFamily="34" charset="0"/>
                <a:ea typeface="Meiryo" pitchFamily="34" charset="-122"/>
                <a:cs typeface="Meiryo" pitchFamily="34" charset="-120"/>
              </a:rPr>
              <a:t>かなり効率化出来ます</a:t>
            </a:r>
            <a:r>
              <a:rPr lang="en-US" sz="1400" b="1" dirty="0">
                <a:solidFill>
                  <a:srgbClr val="FFFFFF"/>
                </a:solidFill>
                <a:latin typeface="Meiryo" pitchFamily="34" charset="0"/>
                <a:ea typeface="Meiryo" pitchFamily="34" charset="-122"/>
                <a:cs typeface="Meiryo" pitchFamily="34" charset="-120"/>
              </a:rPr>
              <a: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92608"/>
            <a:ext cx="11064240" cy="475488"/>
          </a:xfrm>
          <a:prstGeom prst="rect">
            <a:avLst/>
          </a:prstGeom>
          <a:noFill/>
          <a:ln/>
        </p:spPr>
        <p:txBody>
          <a:bodyPr wrap="square" lIns="0" tIns="0" rIns="0" bIns="0" rtlCol="0" anchor="ctr"/>
          <a:lstStyle/>
          <a:p>
            <a:pPr marL="0" indent="0">
              <a:buNone/>
            </a:pPr>
            <a:r>
              <a:rPr lang="en-US" sz="2500" b="1" dirty="0">
                <a:solidFill>
                  <a:srgbClr val="0B3C46"/>
                </a:solidFill>
                <a:latin typeface="Meiryo" pitchFamily="34" charset="0"/>
                <a:ea typeface="Meiryo" pitchFamily="34" charset="-122"/>
                <a:cs typeface="Meiryo" pitchFamily="34" charset="-120"/>
              </a:rPr>
              <a:t>前提条件</a:t>
            </a:r>
            <a:endParaRPr lang="en-US" sz="2500" dirty="0"/>
          </a:p>
        </p:txBody>
      </p:sp>
      <p:sp>
        <p:nvSpPr>
          <p:cNvPr id="3" name="Text 1"/>
          <p:cNvSpPr/>
          <p:nvPr/>
        </p:nvSpPr>
        <p:spPr>
          <a:xfrm>
            <a:off x="548640" y="822960"/>
            <a:ext cx="11064240" cy="310896"/>
          </a:xfrm>
          <a:prstGeom prst="rect">
            <a:avLst/>
          </a:prstGeom>
          <a:noFill/>
          <a:ln/>
        </p:spPr>
        <p:txBody>
          <a:bodyPr wrap="square" lIns="0" tIns="0" rIns="0" bIns="0" rtlCol="0" anchor="ctr"/>
          <a:lstStyle/>
          <a:p>
            <a:pPr marL="0" indent="0">
              <a:buNone/>
            </a:pPr>
            <a:r>
              <a:rPr lang="en-US" sz="1300" dirty="0">
                <a:solidFill>
                  <a:srgbClr val="6C8286"/>
                </a:solidFill>
                <a:latin typeface="Meiryo" pitchFamily="34" charset="0"/>
                <a:ea typeface="Meiryo" pitchFamily="34" charset="-122"/>
                <a:cs typeface="Meiryo" pitchFamily="34" charset="-120"/>
              </a:rPr>
              <a:t>本提案は、以下の条件のもとで検討したものです</a:t>
            </a:r>
            <a:endParaRPr lang="en-US" sz="1300" dirty="0"/>
          </a:p>
        </p:txBody>
      </p:sp>
      <p:sp>
        <p:nvSpPr>
          <p:cNvPr id="4" name="Shape 2"/>
          <p:cNvSpPr/>
          <p:nvPr/>
        </p:nvSpPr>
        <p:spPr>
          <a:xfrm>
            <a:off x="548640" y="1605534"/>
            <a:ext cx="11064240" cy="996696"/>
          </a:xfrm>
          <a:prstGeom prst="roundRect">
            <a:avLst>
              <a:gd name="adj" fmla="val 8000"/>
            </a:avLst>
          </a:prstGeom>
          <a:solidFill>
            <a:srgbClr val="F4F8F9"/>
          </a:solidFill>
          <a:ln/>
        </p:spPr>
      </p:sp>
      <p:sp>
        <p:nvSpPr>
          <p:cNvPr id="5" name="Text 3"/>
          <p:cNvSpPr/>
          <p:nvPr/>
        </p:nvSpPr>
        <p:spPr>
          <a:xfrm>
            <a:off x="800100" y="1596390"/>
            <a:ext cx="548640" cy="914400"/>
          </a:xfrm>
          <a:prstGeom prst="rect">
            <a:avLst/>
          </a:prstGeom>
          <a:noFill/>
          <a:ln/>
        </p:spPr>
        <p:txBody>
          <a:bodyPr wrap="square" lIns="0" tIns="0" rIns="0" bIns="0" rtlCol="0" anchor="ctr"/>
          <a:lstStyle/>
          <a:p>
            <a:pPr marL="0" indent="0" algn="ctr">
              <a:buNone/>
            </a:pPr>
            <a:r>
              <a:rPr lang="en-US" sz="2000" dirty="0">
                <a:solidFill>
                  <a:srgbClr val="000000"/>
                </a:solidFill>
                <a:latin typeface="Meiryo" pitchFamily="34" charset="0"/>
                <a:ea typeface="Meiryo" pitchFamily="34" charset="-122"/>
                <a:cs typeface="Meiryo" pitchFamily="34" charset="-120"/>
              </a:rPr>
              <a:t>📅</a:t>
            </a:r>
            <a:endParaRPr lang="en-US" sz="2000" dirty="0"/>
          </a:p>
        </p:txBody>
      </p:sp>
      <p:sp>
        <p:nvSpPr>
          <p:cNvPr id="6" name="Text 4"/>
          <p:cNvSpPr/>
          <p:nvPr/>
        </p:nvSpPr>
        <p:spPr>
          <a:xfrm>
            <a:off x="1554480" y="1711452"/>
            <a:ext cx="9784080" cy="329184"/>
          </a:xfrm>
          <a:prstGeom prst="rect">
            <a:avLst/>
          </a:prstGeom>
          <a:noFill/>
          <a:ln/>
        </p:spPr>
        <p:txBody>
          <a:bodyPr wrap="square" lIns="0" tIns="0" rIns="0" bIns="0" rtlCol="0" anchor="ctr"/>
          <a:lstStyle/>
          <a:p>
            <a:pPr marL="0" indent="0">
              <a:buNone/>
            </a:pPr>
            <a:r>
              <a:rPr lang="en-US" b="1" dirty="0">
                <a:solidFill>
                  <a:srgbClr val="23373C"/>
                </a:solidFill>
                <a:latin typeface="Meiryo" pitchFamily="34" charset="0"/>
                <a:ea typeface="Meiryo" pitchFamily="34" charset="-122"/>
                <a:cs typeface="Meiryo" pitchFamily="34" charset="-120"/>
              </a:rPr>
              <a:t>山浦理事長より「9月半ばには本稼働にしたい」とのご意向</a:t>
            </a:r>
            <a:endParaRPr lang="en-US" dirty="0"/>
          </a:p>
        </p:txBody>
      </p:sp>
      <p:sp>
        <p:nvSpPr>
          <p:cNvPr id="7" name="Text 5"/>
          <p:cNvSpPr/>
          <p:nvPr/>
        </p:nvSpPr>
        <p:spPr>
          <a:xfrm>
            <a:off x="1554480" y="2113788"/>
            <a:ext cx="9784080" cy="320040"/>
          </a:xfrm>
          <a:prstGeom prst="rect">
            <a:avLst/>
          </a:prstGeom>
          <a:noFill/>
          <a:ln/>
        </p:spPr>
        <p:txBody>
          <a:bodyPr wrap="square" lIns="0" tIns="0" rIns="0" bIns="0" rtlCol="0" anchor="ctr"/>
          <a:lstStyle/>
          <a:p>
            <a:pPr marL="0" indent="0">
              <a:buNone/>
            </a:pPr>
            <a:r>
              <a:rPr lang="en-US" sz="1200" dirty="0">
                <a:solidFill>
                  <a:srgbClr val="6C8286"/>
                </a:solidFill>
                <a:latin typeface="Meiryo" pitchFamily="34" charset="0"/>
                <a:ea typeface="Meiryo" pitchFamily="34" charset="-122"/>
                <a:cs typeface="Meiryo" pitchFamily="34" charset="-120"/>
              </a:rPr>
              <a:t>この期日から逆算して手段を選ぶ必要があります。</a:t>
            </a:r>
            <a:endParaRPr lang="en-US" sz="1200" dirty="0"/>
          </a:p>
        </p:txBody>
      </p:sp>
      <p:sp>
        <p:nvSpPr>
          <p:cNvPr id="12" name="Shape 10"/>
          <p:cNvSpPr/>
          <p:nvPr/>
        </p:nvSpPr>
        <p:spPr>
          <a:xfrm>
            <a:off x="548640" y="3086100"/>
            <a:ext cx="11064240" cy="1019556"/>
          </a:xfrm>
          <a:prstGeom prst="roundRect">
            <a:avLst>
              <a:gd name="adj" fmla="val 8000"/>
            </a:avLst>
          </a:prstGeom>
          <a:solidFill>
            <a:srgbClr val="F4F8F9"/>
          </a:solidFill>
          <a:ln/>
        </p:spPr>
      </p:sp>
      <p:sp>
        <p:nvSpPr>
          <p:cNvPr id="13" name="Text 11"/>
          <p:cNvSpPr/>
          <p:nvPr/>
        </p:nvSpPr>
        <p:spPr>
          <a:xfrm>
            <a:off x="876300" y="3191256"/>
            <a:ext cx="548640" cy="914400"/>
          </a:xfrm>
          <a:prstGeom prst="rect">
            <a:avLst/>
          </a:prstGeom>
          <a:noFill/>
          <a:ln/>
        </p:spPr>
        <p:txBody>
          <a:bodyPr wrap="square" lIns="0" tIns="0" rIns="0" bIns="0" rtlCol="0" anchor="ctr"/>
          <a:lstStyle/>
          <a:p>
            <a:pPr marL="0" indent="0" algn="ctr">
              <a:buNone/>
            </a:pPr>
            <a:r>
              <a:rPr lang="en-US" sz="2000" dirty="0">
                <a:solidFill>
                  <a:srgbClr val="000000"/>
                </a:solidFill>
                <a:latin typeface="Meiryo" pitchFamily="34" charset="0"/>
                <a:ea typeface="Meiryo" pitchFamily="34" charset="-122"/>
                <a:cs typeface="Meiryo" pitchFamily="34" charset="-120"/>
              </a:rPr>
              <a:t>📄</a:t>
            </a:r>
            <a:endParaRPr lang="en-US" sz="2000" dirty="0"/>
          </a:p>
        </p:txBody>
      </p:sp>
      <p:sp>
        <p:nvSpPr>
          <p:cNvPr id="14" name="Text 12"/>
          <p:cNvSpPr/>
          <p:nvPr/>
        </p:nvSpPr>
        <p:spPr>
          <a:xfrm>
            <a:off x="1554480" y="3252978"/>
            <a:ext cx="9784080" cy="329184"/>
          </a:xfrm>
          <a:prstGeom prst="rect">
            <a:avLst/>
          </a:prstGeom>
          <a:noFill/>
          <a:ln/>
        </p:spPr>
        <p:txBody>
          <a:bodyPr wrap="square" lIns="0" tIns="0" rIns="0" bIns="0" rtlCol="0" anchor="ctr"/>
          <a:lstStyle/>
          <a:p>
            <a:pPr marL="0" indent="0">
              <a:buNone/>
            </a:pPr>
            <a:r>
              <a:rPr lang="en-US" sz="1600" b="1" dirty="0">
                <a:solidFill>
                  <a:srgbClr val="23373C"/>
                </a:solidFill>
                <a:latin typeface="Meiryo" pitchFamily="34" charset="0"/>
                <a:ea typeface="Meiryo" pitchFamily="34" charset="-122"/>
                <a:cs typeface="Meiryo" pitchFamily="34" charset="-120"/>
              </a:rPr>
              <a:t>登録業務は停止中で、対象の手術記録は日々増加している</a:t>
            </a:r>
            <a:endParaRPr lang="en-US" sz="1600" dirty="0"/>
          </a:p>
        </p:txBody>
      </p:sp>
      <p:sp>
        <p:nvSpPr>
          <p:cNvPr id="15" name="Text 13"/>
          <p:cNvSpPr/>
          <p:nvPr/>
        </p:nvSpPr>
        <p:spPr>
          <a:xfrm>
            <a:off x="1554480" y="3685032"/>
            <a:ext cx="9784080" cy="320040"/>
          </a:xfrm>
          <a:prstGeom prst="rect">
            <a:avLst/>
          </a:prstGeom>
          <a:noFill/>
          <a:ln/>
        </p:spPr>
        <p:txBody>
          <a:bodyPr wrap="square" lIns="0" tIns="0" rIns="0" bIns="0" rtlCol="0" anchor="ctr"/>
          <a:lstStyle/>
          <a:p>
            <a:pPr marL="0" indent="0">
              <a:buNone/>
            </a:pPr>
            <a:r>
              <a:rPr lang="en-US" sz="1200" dirty="0">
                <a:solidFill>
                  <a:srgbClr val="6C8286"/>
                </a:solidFill>
                <a:latin typeface="Meiryo" pitchFamily="34" charset="0"/>
                <a:ea typeface="Meiryo" pitchFamily="34" charset="-122"/>
                <a:cs typeface="Meiryo" pitchFamily="34" charset="-120"/>
              </a:rPr>
              <a:t>再開が遅れるほど、着手時の残件は増えます。</a:t>
            </a:r>
            <a:endParaRPr lang="en-US" sz="1200" dirty="0"/>
          </a:p>
        </p:txBody>
      </p:sp>
      <p:sp>
        <p:nvSpPr>
          <p:cNvPr id="16" name="Shape 14"/>
          <p:cNvSpPr/>
          <p:nvPr/>
        </p:nvSpPr>
        <p:spPr>
          <a:xfrm>
            <a:off x="548640" y="4572000"/>
            <a:ext cx="11064240" cy="1371600"/>
          </a:xfrm>
          <a:prstGeom prst="roundRect">
            <a:avLst>
              <a:gd name="adj" fmla="val 5333"/>
            </a:avLst>
          </a:prstGeom>
          <a:solidFill>
            <a:srgbClr val="0B3C46"/>
          </a:solidFill>
          <a:ln/>
        </p:spPr>
      </p:sp>
      <p:sp>
        <p:nvSpPr>
          <p:cNvPr id="17" name="Text 15"/>
          <p:cNvSpPr/>
          <p:nvPr/>
        </p:nvSpPr>
        <p:spPr>
          <a:xfrm>
            <a:off x="868680" y="4754880"/>
            <a:ext cx="10424160" cy="292608"/>
          </a:xfrm>
          <a:prstGeom prst="rect">
            <a:avLst/>
          </a:prstGeom>
          <a:noFill/>
          <a:ln/>
        </p:spPr>
        <p:txBody>
          <a:bodyPr wrap="square" lIns="0" tIns="0" rIns="0" bIns="0" rtlCol="0" anchor="ctr"/>
          <a:lstStyle/>
          <a:p>
            <a:pPr marL="0" indent="0">
              <a:buNone/>
            </a:pPr>
            <a:r>
              <a:rPr lang="en-US" sz="1300" b="1" dirty="0">
                <a:solidFill>
                  <a:srgbClr val="02C39A"/>
                </a:solidFill>
                <a:latin typeface="Meiryo" pitchFamily="34" charset="0"/>
                <a:ea typeface="Meiryo" pitchFamily="34" charset="-122"/>
                <a:cs typeface="Meiryo" pitchFamily="34" charset="-120"/>
              </a:rPr>
              <a:t>9月半ばの本稼働から逆算すると</a:t>
            </a:r>
            <a:endParaRPr lang="en-US" sz="1300" dirty="0"/>
          </a:p>
        </p:txBody>
      </p:sp>
      <p:sp>
        <p:nvSpPr>
          <p:cNvPr id="18" name="Shape 16"/>
          <p:cNvSpPr/>
          <p:nvPr/>
        </p:nvSpPr>
        <p:spPr>
          <a:xfrm>
            <a:off x="868680" y="5138928"/>
            <a:ext cx="3200400" cy="566928"/>
          </a:xfrm>
          <a:prstGeom prst="roundRect">
            <a:avLst>
              <a:gd name="adj" fmla="val 11290"/>
            </a:avLst>
          </a:prstGeom>
          <a:solidFill>
            <a:srgbClr val="FFFFFF"/>
          </a:solidFill>
          <a:ln/>
        </p:spPr>
      </p:sp>
      <p:sp>
        <p:nvSpPr>
          <p:cNvPr id="19" name="Text 17"/>
          <p:cNvSpPr/>
          <p:nvPr/>
        </p:nvSpPr>
        <p:spPr>
          <a:xfrm>
            <a:off x="868680" y="5138928"/>
            <a:ext cx="3200400" cy="566928"/>
          </a:xfrm>
          <a:prstGeom prst="rect">
            <a:avLst/>
          </a:prstGeom>
          <a:noFill/>
          <a:ln/>
        </p:spPr>
        <p:txBody>
          <a:bodyPr wrap="square" lIns="0" tIns="0" rIns="0" bIns="0" rtlCol="0" anchor="ctr"/>
          <a:lstStyle/>
          <a:p>
            <a:pPr marL="0" indent="0" algn="ctr">
              <a:buNone/>
            </a:pPr>
            <a:r>
              <a:rPr lang="en-US" sz="1250" b="1" dirty="0">
                <a:solidFill>
                  <a:srgbClr val="0B3C46"/>
                </a:solidFill>
                <a:latin typeface="Meiryo" pitchFamily="34" charset="0"/>
                <a:ea typeface="Meiryo" pitchFamily="34" charset="-122"/>
                <a:cs typeface="Meiryo" pitchFamily="34" charset="-120"/>
              </a:rPr>
              <a:t>8月中に手段を決定</a:t>
            </a:r>
            <a:endParaRPr lang="en-US" sz="1250" dirty="0"/>
          </a:p>
        </p:txBody>
      </p:sp>
      <p:sp>
        <p:nvSpPr>
          <p:cNvPr id="20" name="Shape 18"/>
          <p:cNvSpPr/>
          <p:nvPr/>
        </p:nvSpPr>
        <p:spPr>
          <a:xfrm>
            <a:off x="4123944" y="5294376"/>
            <a:ext cx="201168" cy="256032"/>
          </a:xfrm>
          <a:prstGeom prst="rightArrow">
            <a:avLst/>
          </a:prstGeom>
          <a:solidFill>
            <a:srgbClr val="02C39A"/>
          </a:solidFill>
          <a:ln/>
        </p:spPr>
      </p:sp>
      <p:sp>
        <p:nvSpPr>
          <p:cNvPr id="21" name="Shape 19"/>
          <p:cNvSpPr/>
          <p:nvPr/>
        </p:nvSpPr>
        <p:spPr>
          <a:xfrm>
            <a:off x="4389120" y="5138928"/>
            <a:ext cx="3200400" cy="566928"/>
          </a:xfrm>
          <a:prstGeom prst="roundRect">
            <a:avLst>
              <a:gd name="adj" fmla="val 11290"/>
            </a:avLst>
          </a:prstGeom>
          <a:solidFill>
            <a:srgbClr val="FFFFFF"/>
          </a:solidFill>
          <a:ln/>
        </p:spPr>
      </p:sp>
      <p:sp>
        <p:nvSpPr>
          <p:cNvPr id="22" name="Text 20"/>
          <p:cNvSpPr/>
          <p:nvPr/>
        </p:nvSpPr>
        <p:spPr>
          <a:xfrm>
            <a:off x="4389120" y="5138928"/>
            <a:ext cx="3200400" cy="566928"/>
          </a:xfrm>
          <a:prstGeom prst="rect">
            <a:avLst/>
          </a:prstGeom>
          <a:noFill/>
          <a:ln/>
        </p:spPr>
        <p:txBody>
          <a:bodyPr wrap="square" lIns="0" tIns="0" rIns="0" bIns="0" rtlCol="0" anchor="ctr"/>
          <a:lstStyle/>
          <a:p>
            <a:pPr marL="0" indent="0" algn="ctr">
              <a:buNone/>
            </a:pPr>
            <a:r>
              <a:rPr lang="en-US" sz="1250" b="1" dirty="0">
                <a:solidFill>
                  <a:srgbClr val="0B3C46"/>
                </a:solidFill>
                <a:latin typeface="Meiryo" pitchFamily="34" charset="0"/>
                <a:ea typeface="Meiryo" pitchFamily="34" charset="-122"/>
                <a:cs typeface="Meiryo" pitchFamily="34" charset="-120"/>
              </a:rPr>
              <a:t>9月上旬に運用開始・現場が習熟</a:t>
            </a:r>
            <a:endParaRPr lang="en-US" sz="1250" dirty="0"/>
          </a:p>
        </p:txBody>
      </p:sp>
      <p:sp>
        <p:nvSpPr>
          <p:cNvPr id="23" name="Shape 21"/>
          <p:cNvSpPr/>
          <p:nvPr/>
        </p:nvSpPr>
        <p:spPr>
          <a:xfrm>
            <a:off x="7644384" y="5294376"/>
            <a:ext cx="201168" cy="256032"/>
          </a:xfrm>
          <a:prstGeom prst="rightArrow">
            <a:avLst/>
          </a:prstGeom>
          <a:solidFill>
            <a:srgbClr val="02C39A"/>
          </a:solidFill>
          <a:ln/>
        </p:spPr>
      </p:sp>
      <p:sp>
        <p:nvSpPr>
          <p:cNvPr id="24" name="Shape 22"/>
          <p:cNvSpPr/>
          <p:nvPr/>
        </p:nvSpPr>
        <p:spPr>
          <a:xfrm>
            <a:off x="7909560" y="5138928"/>
            <a:ext cx="3200400" cy="566928"/>
          </a:xfrm>
          <a:prstGeom prst="roundRect">
            <a:avLst>
              <a:gd name="adj" fmla="val 11290"/>
            </a:avLst>
          </a:prstGeom>
          <a:solidFill>
            <a:srgbClr val="FFFFFF"/>
          </a:solidFill>
          <a:ln/>
        </p:spPr>
      </p:sp>
      <p:sp>
        <p:nvSpPr>
          <p:cNvPr id="25" name="Text 23"/>
          <p:cNvSpPr/>
          <p:nvPr/>
        </p:nvSpPr>
        <p:spPr>
          <a:xfrm>
            <a:off x="7909560" y="5138928"/>
            <a:ext cx="3200400" cy="566928"/>
          </a:xfrm>
          <a:prstGeom prst="rect">
            <a:avLst/>
          </a:prstGeom>
          <a:noFill/>
          <a:ln/>
        </p:spPr>
        <p:txBody>
          <a:bodyPr wrap="square" lIns="0" tIns="0" rIns="0" bIns="0" rtlCol="0" anchor="ctr"/>
          <a:lstStyle/>
          <a:p>
            <a:pPr marL="0" indent="0" algn="ctr">
              <a:buNone/>
            </a:pPr>
            <a:r>
              <a:rPr lang="en-US" sz="1250" b="1" dirty="0">
                <a:solidFill>
                  <a:srgbClr val="0B3C46"/>
                </a:solidFill>
                <a:latin typeface="Meiryo" pitchFamily="34" charset="0"/>
                <a:ea typeface="Meiryo" pitchFamily="34" charset="-122"/>
                <a:cs typeface="Meiryo" pitchFamily="34" charset="-120"/>
              </a:rPr>
              <a:t>9月半ば 本稼働</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92608"/>
            <a:ext cx="11064240" cy="475488"/>
          </a:xfrm>
          <a:prstGeom prst="rect">
            <a:avLst/>
          </a:prstGeom>
          <a:noFill/>
          <a:ln/>
        </p:spPr>
        <p:txBody>
          <a:bodyPr wrap="square" lIns="0" tIns="0" rIns="0" bIns="0" rtlCol="0" anchor="ctr"/>
          <a:lstStyle/>
          <a:p>
            <a:pPr marL="0" indent="0">
              <a:buNone/>
            </a:pPr>
            <a:r>
              <a:rPr lang="en-US" sz="2500" b="1" dirty="0">
                <a:solidFill>
                  <a:srgbClr val="0B3C46"/>
                </a:solidFill>
                <a:latin typeface="Meiryo" pitchFamily="34" charset="0"/>
                <a:ea typeface="Meiryo" pitchFamily="34" charset="-122"/>
                <a:cs typeface="Meiryo" pitchFamily="34" charset="-120"/>
              </a:rPr>
              <a:t>実現手段の検討 ① 市販製品</a:t>
            </a:r>
            <a:endParaRPr lang="en-US" sz="2500" dirty="0"/>
          </a:p>
        </p:txBody>
      </p:sp>
      <p:sp>
        <p:nvSpPr>
          <p:cNvPr id="3" name="Text 1"/>
          <p:cNvSpPr/>
          <p:nvPr/>
        </p:nvSpPr>
        <p:spPr>
          <a:xfrm>
            <a:off x="548640" y="822960"/>
            <a:ext cx="11064240" cy="310896"/>
          </a:xfrm>
          <a:prstGeom prst="rect">
            <a:avLst/>
          </a:prstGeom>
          <a:noFill/>
          <a:ln/>
        </p:spPr>
        <p:txBody>
          <a:bodyPr wrap="square" lIns="0" tIns="0" rIns="0" bIns="0" rtlCol="0" anchor="ctr"/>
          <a:lstStyle/>
          <a:p>
            <a:pPr marL="0" indent="0">
              <a:buNone/>
            </a:pPr>
            <a:r>
              <a:rPr lang="en-US" sz="1300" dirty="0">
                <a:solidFill>
                  <a:srgbClr val="6C8286"/>
                </a:solidFill>
                <a:latin typeface="Meiryo" pitchFamily="34" charset="0"/>
                <a:ea typeface="Meiryo" pitchFamily="34" charset="-122"/>
                <a:cs typeface="Meiryo" pitchFamily="34" charset="-120"/>
              </a:rPr>
              <a:t>目指す姿A・B・Cを市販製品で実現する場合の費用と期間です</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3907281838"/>
              </p:ext>
            </p:extLst>
          </p:nvPr>
        </p:nvGraphicFramePr>
        <p:xfrm>
          <a:off x="548640" y="1234440"/>
          <a:ext cx="11064240" cy="2724912"/>
        </p:xfrm>
        <a:graphic>
          <a:graphicData uri="http://schemas.openxmlformats.org/drawingml/2006/table">
            <a:tbl>
              <a:tblPr/>
              <a:tblGrid>
                <a:gridCol w="1737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475488">
                <a:tc>
                  <a:txBody>
                    <a:bodyPr/>
                    <a:lstStyle/>
                    <a:p>
                      <a:pPr marL="0" indent="0" algn="ctr">
                        <a:buNone/>
                      </a:pPr>
                      <a:r>
                        <a:rPr lang="en-US" sz="1150" b="1" dirty="0">
                          <a:solidFill>
                            <a:srgbClr val="FFFFFF"/>
                          </a:solidFill>
                          <a:latin typeface="Meiryo" pitchFamily="34" charset="0"/>
                          <a:ea typeface="Meiryo" pitchFamily="34" charset="-122"/>
                          <a:cs typeface="Meiryo" pitchFamily="34" charset="-120"/>
                        </a:rPr>
                        <a:t>目指す姿</a:t>
                      </a:r>
                      <a:endParaRPr lang="en-US" sz="1150" dirty="0">
                        <a:latin typeface="Meiryo" charset="0"/>
                        <a:ea typeface="Meiryo" charset="0"/>
                        <a:cs typeface="Meiryo" charset="0"/>
                      </a:endParaRPr>
                    </a:p>
                  </a:txBody>
                  <a:tcPr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solidFill>
                      <a:srgbClr val="0B3C46"/>
                    </a:solidFill>
                  </a:tcPr>
                </a:tc>
                <a:tc>
                  <a:txBody>
                    <a:bodyPr/>
                    <a:lstStyle/>
                    <a:p>
                      <a:pPr marL="0" indent="0" algn="ctr">
                        <a:buNone/>
                      </a:pPr>
                      <a:r>
                        <a:rPr lang="en-US" sz="1150" b="1" dirty="0">
                          <a:solidFill>
                            <a:srgbClr val="FFFFFF"/>
                          </a:solidFill>
                          <a:latin typeface="Meiryo" pitchFamily="34" charset="0"/>
                          <a:ea typeface="Meiryo" pitchFamily="34" charset="-122"/>
                          <a:cs typeface="Meiryo" pitchFamily="34" charset="-120"/>
                        </a:rPr>
                        <a:t>代表的な市販製品</a:t>
                      </a:r>
                      <a:endParaRPr lang="en-US" sz="1150" dirty="0">
                        <a:latin typeface="Meiryo" charset="0"/>
                        <a:ea typeface="Meiryo" charset="0"/>
                        <a:cs typeface="Meiryo" charset="0"/>
                      </a:endParaRPr>
                    </a:p>
                  </a:txBody>
                  <a:tcPr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solidFill>
                      <a:srgbClr val="0B3C46"/>
                    </a:solidFill>
                  </a:tcPr>
                </a:tc>
                <a:tc>
                  <a:txBody>
                    <a:bodyPr/>
                    <a:lstStyle/>
                    <a:p>
                      <a:pPr marL="0" indent="0" algn="ctr">
                        <a:buNone/>
                      </a:pPr>
                      <a:r>
                        <a:rPr lang="en-US" sz="1150" b="1" dirty="0">
                          <a:solidFill>
                            <a:srgbClr val="FFFFFF"/>
                          </a:solidFill>
                          <a:latin typeface="Meiryo" pitchFamily="34" charset="0"/>
                          <a:ea typeface="Meiryo" pitchFamily="34" charset="-122"/>
                          <a:cs typeface="Meiryo" pitchFamily="34" charset="-120"/>
                        </a:rPr>
                        <a:t>費用の目安</a:t>
                      </a:r>
                      <a:endParaRPr lang="en-US" sz="1150" dirty="0">
                        <a:latin typeface="Meiryo" charset="0"/>
                        <a:ea typeface="Meiryo" charset="0"/>
                        <a:cs typeface="Meiryo" charset="0"/>
                      </a:endParaRPr>
                    </a:p>
                  </a:txBody>
                  <a:tcPr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solidFill>
                      <a:srgbClr val="0B3C46"/>
                    </a:solidFill>
                  </a:tcPr>
                </a:tc>
                <a:tc>
                  <a:txBody>
                    <a:bodyPr/>
                    <a:lstStyle/>
                    <a:p>
                      <a:pPr marL="0" indent="0" algn="ctr">
                        <a:buNone/>
                      </a:pPr>
                      <a:r>
                        <a:rPr lang="en-US" sz="1150" b="1" dirty="0">
                          <a:solidFill>
                            <a:srgbClr val="FFFFFF"/>
                          </a:solidFill>
                          <a:latin typeface="Meiryo" pitchFamily="34" charset="0"/>
                          <a:ea typeface="Meiryo" pitchFamily="34" charset="-122"/>
                          <a:cs typeface="Meiryo" pitchFamily="34" charset="-120"/>
                        </a:rPr>
                        <a:t>導入期間</a:t>
                      </a:r>
                      <a:endParaRPr lang="en-US" sz="1150" dirty="0">
                        <a:latin typeface="Meiryo" charset="0"/>
                        <a:ea typeface="Meiryo" charset="0"/>
                        <a:cs typeface="Meiryo" charset="0"/>
                      </a:endParaRPr>
                    </a:p>
                    <a:p>
                      <a:pPr marL="0" indent="0" algn="ctr">
                        <a:buNone/>
                      </a:pPr>
                      <a:r>
                        <a:rPr lang="en-US" sz="1150" b="1" dirty="0">
                          <a:solidFill>
                            <a:srgbClr val="FFFFFF"/>
                          </a:solidFill>
                          <a:latin typeface="Meiryo" pitchFamily="34" charset="0"/>
                          <a:ea typeface="Meiryo" pitchFamily="34" charset="-122"/>
                          <a:cs typeface="Meiryo" pitchFamily="34" charset="-120"/>
                        </a:rPr>
                        <a:t>（決裁・設定を含む）</a:t>
                      </a:r>
                      <a:endParaRPr lang="en-US" sz="1150" dirty="0">
                        <a:latin typeface="Meiryo" charset="0"/>
                        <a:ea typeface="Meiryo" charset="0"/>
                        <a:cs typeface="Meiryo" charset="0"/>
                      </a:endParaRPr>
                    </a:p>
                  </a:txBody>
                  <a:tcPr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solidFill>
                      <a:srgbClr val="0B3C46"/>
                    </a:solidFill>
                  </a:tcPr>
                </a:tc>
                <a:tc>
                  <a:txBody>
                    <a:bodyPr/>
                    <a:lstStyle/>
                    <a:p>
                      <a:pPr marL="0" indent="0" algn="ctr">
                        <a:buNone/>
                      </a:pPr>
                      <a:r>
                        <a:rPr lang="en-US" sz="1150" b="1" dirty="0">
                          <a:solidFill>
                            <a:srgbClr val="FFFFFF"/>
                          </a:solidFill>
                          <a:latin typeface="Meiryo" pitchFamily="34" charset="0"/>
                          <a:ea typeface="Meiryo" pitchFamily="34" charset="-122"/>
                          <a:cs typeface="Meiryo" pitchFamily="34" charset="-120"/>
                        </a:rPr>
                        <a:t>9月半ばの</a:t>
                      </a:r>
                      <a:endParaRPr lang="en-US" sz="1150" dirty="0">
                        <a:latin typeface="Meiryo" charset="0"/>
                        <a:ea typeface="Meiryo" charset="0"/>
                        <a:cs typeface="Meiryo" charset="0"/>
                      </a:endParaRPr>
                    </a:p>
                    <a:p>
                      <a:pPr marL="0" indent="0" algn="ctr">
                        <a:buNone/>
                      </a:pPr>
                      <a:r>
                        <a:rPr lang="en-US" sz="1150" b="1" dirty="0">
                          <a:solidFill>
                            <a:srgbClr val="FFFFFF"/>
                          </a:solidFill>
                          <a:latin typeface="Meiryo" pitchFamily="34" charset="0"/>
                          <a:ea typeface="Meiryo" pitchFamily="34" charset="-122"/>
                          <a:cs typeface="Meiryo" pitchFamily="34" charset="-120"/>
                        </a:rPr>
                        <a:t>本稼働</a:t>
                      </a:r>
                      <a:endParaRPr lang="en-US" sz="1150" dirty="0">
                        <a:latin typeface="Meiryo" charset="0"/>
                        <a:ea typeface="Meiryo" charset="0"/>
                        <a:cs typeface="Meiryo" charset="0"/>
                      </a:endParaRPr>
                    </a:p>
                  </a:txBody>
                  <a:tcPr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solidFill>
                      <a:srgbClr val="0B3C46"/>
                    </a:solidFill>
                  </a:tcPr>
                </a:tc>
                <a:extLst>
                  <a:ext uri="{0D108BD9-81ED-4DB2-BD59-A6C34878D82A}">
                    <a16:rowId xmlns:a16="http://schemas.microsoft.com/office/drawing/2014/main" val="10000"/>
                  </a:ext>
                </a:extLst>
              </a:tr>
              <a:tr h="749808">
                <a:tc>
                  <a:txBody>
                    <a:bodyPr/>
                    <a:lstStyle/>
                    <a:p>
                      <a:pPr marL="0" indent="0">
                        <a:buNone/>
                      </a:pPr>
                      <a:r>
                        <a:rPr lang="en-US" sz="1100" b="1" dirty="0">
                          <a:solidFill>
                            <a:srgbClr val="23373C"/>
                          </a:solidFill>
                          <a:latin typeface="Meiryo" pitchFamily="34" charset="0"/>
                          <a:ea typeface="Meiryo" pitchFamily="34" charset="-122"/>
                          <a:cs typeface="Meiryo" pitchFamily="34" charset="-120"/>
                        </a:rPr>
                        <a:t>A </a:t>
                      </a:r>
                      <a:r>
                        <a:rPr lang="ja-JP" altLang="en-US" sz="1100" b="1" dirty="0">
                          <a:solidFill>
                            <a:srgbClr val="23373C"/>
                          </a:solidFill>
                          <a:latin typeface="Meiryo" pitchFamily="34" charset="0"/>
                          <a:ea typeface="Meiryo" pitchFamily="34" charset="-122"/>
                          <a:cs typeface="Meiryo" pitchFamily="34" charset="-120"/>
                        </a:rPr>
                        <a:t>帳票カスタム</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solidFill>
                      <a:srgbClr val="F4F8F9"/>
                    </a:solidFill>
                  </a:tcPr>
                </a:tc>
                <a:tc>
                  <a:txBody>
                    <a:bodyPr/>
                    <a:lstStyle/>
                    <a:p>
                      <a:pPr marL="0" indent="0">
                        <a:buNone/>
                      </a:pPr>
                      <a:r>
                        <a:rPr lang="en-US" sz="1100" dirty="0">
                          <a:solidFill>
                            <a:srgbClr val="23373C"/>
                          </a:solidFill>
                          <a:latin typeface="Meiryo" pitchFamily="34" charset="0"/>
                          <a:ea typeface="Meiryo" pitchFamily="34" charset="-122"/>
                          <a:cs typeface="Meiryo" pitchFamily="34" charset="-120"/>
                        </a:rPr>
                        <a:t>Create!Form（帳票開発ツール）</a:t>
                      </a:r>
                      <a:endParaRPr lang="en-US" sz="1100" dirty="0">
                        <a:latin typeface="Meiryo" charset="0"/>
                        <a:ea typeface="Meiryo" charset="0"/>
                        <a:cs typeface="Meiryo" charset="0"/>
                      </a:endParaRPr>
                    </a:p>
                    <a:p>
                      <a:pPr marL="0" indent="0">
                        <a:buNone/>
                      </a:pPr>
                      <a:r>
                        <a:rPr lang="en-US" sz="1100" dirty="0">
                          <a:solidFill>
                            <a:srgbClr val="23373C"/>
                          </a:solidFill>
                          <a:latin typeface="Meiryo" pitchFamily="34" charset="0"/>
                          <a:ea typeface="Meiryo" pitchFamily="34" charset="-122"/>
                          <a:cs typeface="Meiryo" pitchFamily="34" charset="-120"/>
                        </a:rPr>
                        <a:t>カミナシ（現場記録アプリ）</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tcPr>
                </a:tc>
                <a:tc>
                  <a:txBody>
                    <a:bodyPr/>
                    <a:lstStyle/>
                    <a:p>
                      <a:pPr marL="0" indent="0">
                        <a:buNone/>
                      </a:pPr>
                      <a:r>
                        <a:rPr lang="en-US" sz="1100" dirty="0">
                          <a:solidFill>
                            <a:srgbClr val="C77700"/>
                          </a:solidFill>
                          <a:latin typeface="Meiryo" pitchFamily="34" charset="0"/>
                          <a:ea typeface="Meiryo" pitchFamily="34" charset="-122"/>
                          <a:cs typeface="Meiryo" pitchFamily="34" charset="-120"/>
                        </a:rPr>
                        <a:t>ライセンス費＋開発費</a:t>
                      </a:r>
                      <a:endParaRPr lang="en-US" sz="1100" dirty="0">
                        <a:latin typeface="Meiryo" charset="0"/>
                        <a:ea typeface="Meiryo" charset="0"/>
                        <a:cs typeface="Meiryo" charset="0"/>
                      </a:endParaRPr>
                    </a:p>
                    <a:p>
                      <a:pPr marL="0" indent="0">
                        <a:buNone/>
                      </a:pPr>
                      <a:r>
                        <a:rPr lang="ja-JP" altLang="en-US" sz="1100" dirty="0">
                          <a:solidFill>
                            <a:srgbClr val="C77700"/>
                          </a:solidFill>
                          <a:latin typeface="Meiryo" pitchFamily="34" charset="0"/>
                          <a:ea typeface="Meiryo" pitchFamily="34" charset="-122"/>
                          <a:cs typeface="Meiryo" pitchFamily="34" charset="-120"/>
                        </a:rPr>
                        <a:t>共に</a:t>
                      </a:r>
                      <a:r>
                        <a:rPr lang="en-US" sz="1100" dirty="0" err="1">
                          <a:solidFill>
                            <a:srgbClr val="C77700"/>
                          </a:solidFill>
                          <a:latin typeface="Meiryo" pitchFamily="34" charset="0"/>
                          <a:ea typeface="Meiryo" pitchFamily="34" charset="-122"/>
                          <a:cs typeface="Meiryo" pitchFamily="34" charset="-120"/>
                        </a:rPr>
                        <a:t>月額</a:t>
                      </a:r>
                      <a:r>
                        <a:rPr lang="ja-JP" altLang="en-US" sz="1100" dirty="0">
                          <a:solidFill>
                            <a:srgbClr val="C77700"/>
                          </a:solidFill>
                          <a:latin typeface="Meiryo" pitchFamily="34" charset="0"/>
                          <a:ea typeface="Meiryo" pitchFamily="34" charset="-122"/>
                          <a:cs typeface="Meiryo" pitchFamily="34" charset="-120"/>
                        </a:rPr>
                        <a:t> </a:t>
                      </a:r>
                      <a:r>
                        <a:rPr lang="en-US" altLang="ja-JP" sz="1100" dirty="0">
                          <a:solidFill>
                            <a:srgbClr val="C77700"/>
                          </a:solidFill>
                          <a:latin typeface="Meiryo" pitchFamily="34" charset="0"/>
                          <a:ea typeface="Meiryo" pitchFamily="34" charset="-122"/>
                          <a:cs typeface="Meiryo" pitchFamily="34" charset="-120"/>
                        </a:rPr>
                        <a:t>3</a:t>
                      </a:r>
                      <a:r>
                        <a:rPr lang="ja-JP" altLang="en-US" sz="1100" dirty="0">
                          <a:solidFill>
                            <a:srgbClr val="C77700"/>
                          </a:solidFill>
                          <a:latin typeface="Meiryo" pitchFamily="34" charset="0"/>
                          <a:ea typeface="Meiryo" pitchFamily="34" charset="-122"/>
                          <a:cs typeface="Meiryo" pitchFamily="34" charset="-120"/>
                        </a:rPr>
                        <a:t>万円～</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tcPr>
                </a:tc>
                <a:tc>
                  <a:txBody>
                    <a:bodyPr/>
                    <a:lstStyle/>
                    <a:p>
                      <a:pPr marL="0" indent="0">
                        <a:buNone/>
                      </a:pPr>
                      <a:r>
                        <a:rPr lang="en-US" sz="1100" dirty="0">
                          <a:solidFill>
                            <a:srgbClr val="23373C"/>
                          </a:solidFill>
                          <a:latin typeface="Meiryo" pitchFamily="34" charset="0"/>
                          <a:ea typeface="Meiryo" pitchFamily="34" charset="-122"/>
                          <a:cs typeface="Meiryo" pitchFamily="34" charset="-120"/>
                        </a:rPr>
                        <a:t>数週間〜</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tcPr>
                </a:tc>
                <a:tc>
                  <a:txBody>
                    <a:bodyPr/>
                    <a:lstStyle/>
                    <a:p>
                      <a:pPr marL="0" indent="0" algn="ctr">
                        <a:buNone/>
                      </a:pPr>
                      <a:r>
                        <a:rPr lang="en-US" sz="1100" dirty="0">
                          <a:solidFill>
                            <a:srgbClr val="23373C"/>
                          </a:solidFill>
                          <a:latin typeface="Meiryo" pitchFamily="34" charset="0"/>
                          <a:ea typeface="Meiryo" pitchFamily="34" charset="-122"/>
                          <a:cs typeface="Meiryo" pitchFamily="34" charset="-120"/>
                        </a:rPr>
                        <a:t>△ 開発工数次第</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tcPr>
                </a:tc>
                <a:extLst>
                  <a:ext uri="{0D108BD9-81ED-4DB2-BD59-A6C34878D82A}">
                    <a16:rowId xmlns:a16="http://schemas.microsoft.com/office/drawing/2014/main" val="10001"/>
                  </a:ext>
                </a:extLst>
              </a:tr>
              <a:tr h="749808">
                <a:tc>
                  <a:txBody>
                    <a:bodyPr/>
                    <a:lstStyle/>
                    <a:p>
                      <a:pPr marL="0" indent="0">
                        <a:buNone/>
                      </a:pPr>
                      <a:r>
                        <a:rPr lang="en-US" sz="1100" b="1" dirty="0">
                          <a:solidFill>
                            <a:srgbClr val="23373C"/>
                          </a:solidFill>
                          <a:latin typeface="Meiryo" pitchFamily="34" charset="0"/>
                          <a:ea typeface="Meiryo" pitchFamily="34" charset="-122"/>
                          <a:cs typeface="Meiryo" pitchFamily="34" charset="-120"/>
                        </a:rPr>
                        <a:t>B </a:t>
                      </a:r>
                      <a:r>
                        <a:rPr lang="en-US" altLang="ja-JP" sz="1100" b="1" dirty="0">
                          <a:solidFill>
                            <a:srgbClr val="23373C"/>
                          </a:solidFill>
                          <a:latin typeface="Meiryo" pitchFamily="34" charset="0"/>
                          <a:ea typeface="Meiryo" pitchFamily="34" charset="-122"/>
                          <a:cs typeface="Meiryo" pitchFamily="34" charset="-120"/>
                        </a:rPr>
                        <a:t>PDF</a:t>
                      </a:r>
                      <a:r>
                        <a:rPr lang="ja-JP" altLang="en-US" sz="1100" b="1" dirty="0">
                          <a:solidFill>
                            <a:srgbClr val="23373C"/>
                          </a:solidFill>
                          <a:latin typeface="Meiryo" pitchFamily="34" charset="0"/>
                          <a:ea typeface="Meiryo" pitchFamily="34" charset="-122"/>
                          <a:cs typeface="Meiryo" pitchFamily="34" charset="-120"/>
                        </a:rPr>
                        <a:t>分割</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solidFill>
                      <a:srgbClr val="F4F8F9"/>
                    </a:solidFill>
                  </a:tcPr>
                </a:tc>
                <a:tc>
                  <a:txBody>
                    <a:bodyPr/>
                    <a:lstStyle/>
                    <a:p>
                      <a:pPr marL="0" indent="0">
                        <a:buNone/>
                      </a:pPr>
                      <a:r>
                        <a:rPr lang="en-US" sz="1100" dirty="0">
                          <a:solidFill>
                            <a:srgbClr val="23373C"/>
                          </a:solidFill>
                          <a:latin typeface="Meiryo" pitchFamily="34" charset="0"/>
                          <a:ea typeface="Meiryo" pitchFamily="34" charset="-122"/>
                          <a:cs typeface="Meiryo" pitchFamily="34" charset="-120"/>
                        </a:rPr>
                        <a:t>PaperStream Capture Pro</a:t>
                      </a:r>
                      <a:endParaRPr lang="en-US" sz="1100" dirty="0">
                        <a:latin typeface="Meiryo" charset="0"/>
                        <a:ea typeface="Meiryo" charset="0"/>
                        <a:cs typeface="Meiryo" charset="0"/>
                      </a:endParaRPr>
                    </a:p>
                    <a:p>
                      <a:pPr marL="0" indent="0">
                        <a:buNone/>
                      </a:pPr>
                      <a:r>
                        <a:rPr lang="en-US" sz="1100" dirty="0">
                          <a:solidFill>
                            <a:srgbClr val="23373C"/>
                          </a:solidFill>
                          <a:latin typeface="Meiryo" pitchFamily="34" charset="0"/>
                          <a:ea typeface="Meiryo" pitchFamily="34" charset="-122"/>
                          <a:cs typeface="Meiryo" pitchFamily="34" charset="-120"/>
                        </a:rPr>
                        <a:t>（スキャナ付属ソフトの上位版）</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tcPr>
                </a:tc>
                <a:tc>
                  <a:txBody>
                    <a:bodyPr/>
                    <a:lstStyle/>
                    <a:p>
                      <a:pPr marL="0" indent="0">
                        <a:buNone/>
                      </a:pPr>
                      <a:r>
                        <a:rPr lang="en-US" sz="1100" dirty="0">
                          <a:solidFill>
                            <a:srgbClr val="C77700"/>
                          </a:solidFill>
                          <a:latin typeface="Meiryo" pitchFamily="34" charset="0"/>
                          <a:ea typeface="Meiryo" pitchFamily="34" charset="-122"/>
                          <a:cs typeface="Meiryo" pitchFamily="34" charset="-120"/>
                        </a:rPr>
                        <a:t>年 約4万円</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tcPr>
                </a:tc>
                <a:tc>
                  <a:txBody>
                    <a:bodyPr/>
                    <a:lstStyle/>
                    <a:p>
                      <a:pPr marL="0" indent="0">
                        <a:buNone/>
                      </a:pPr>
                      <a:r>
                        <a:rPr lang="en-US" sz="1100" dirty="0">
                          <a:solidFill>
                            <a:srgbClr val="23373C"/>
                          </a:solidFill>
                          <a:latin typeface="Meiryo" pitchFamily="34" charset="0"/>
                          <a:ea typeface="Meiryo" pitchFamily="34" charset="-122"/>
                          <a:cs typeface="Meiryo" pitchFamily="34" charset="-120"/>
                        </a:rPr>
                        <a:t>数週間</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tcPr>
                </a:tc>
                <a:tc>
                  <a:txBody>
                    <a:bodyPr/>
                    <a:lstStyle/>
                    <a:p>
                      <a:pPr marL="0" indent="0" algn="ctr">
                        <a:buNone/>
                      </a:pPr>
                      <a:r>
                        <a:rPr lang="en-US" sz="1100" b="1" dirty="0">
                          <a:solidFill>
                            <a:srgbClr val="028090"/>
                          </a:solidFill>
                          <a:latin typeface="Meiryo" pitchFamily="34" charset="0"/>
                          <a:ea typeface="Meiryo" pitchFamily="34" charset="-122"/>
                          <a:cs typeface="Meiryo" pitchFamily="34" charset="-120"/>
                        </a:rPr>
                        <a:t>○ 評価版で先行検証可</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tcPr>
                </a:tc>
                <a:extLst>
                  <a:ext uri="{0D108BD9-81ED-4DB2-BD59-A6C34878D82A}">
                    <a16:rowId xmlns:a16="http://schemas.microsoft.com/office/drawing/2014/main" val="10002"/>
                  </a:ext>
                </a:extLst>
              </a:tr>
              <a:tr h="749808">
                <a:tc>
                  <a:txBody>
                    <a:bodyPr/>
                    <a:lstStyle/>
                    <a:p>
                      <a:pPr marL="0" indent="0">
                        <a:buNone/>
                      </a:pPr>
                      <a:r>
                        <a:rPr lang="en-US" sz="1100" b="1" dirty="0">
                          <a:solidFill>
                            <a:srgbClr val="23373C"/>
                          </a:solidFill>
                          <a:latin typeface="Meiryo" pitchFamily="34" charset="0"/>
                          <a:ea typeface="Meiryo" pitchFamily="34" charset="-122"/>
                          <a:cs typeface="Meiryo" pitchFamily="34" charset="-120"/>
                        </a:rPr>
                        <a:t>C 入力支援</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solidFill>
                      <a:srgbClr val="F4F8F9"/>
                    </a:solidFill>
                  </a:tcPr>
                </a:tc>
                <a:tc>
                  <a:txBody>
                    <a:bodyPr/>
                    <a:lstStyle/>
                    <a:p>
                      <a:pPr marL="0" indent="0">
                        <a:buNone/>
                      </a:pPr>
                      <a:r>
                        <a:rPr lang="en-US" sz="1100" dirty="0">
                          <a:solidFill>
                            <a:srgbClr val="23373C"/>
                          </a:solidFill>
                          <a:latin typeface="Meiryo" pitchFamily="34" charset="0"/>
                          <a:ea typeface="Meiryo" pitchFamily="34" charset="-122"/>
                          <a:cs typeface="Meiryo" pitchFamily="34" charset="-120"/>
                        </a:rPr>
                        <a:t>DX Suite（AI-OCR）</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tcPr>
                </a:tc>
                <a:tc>
                  <a:txBody>
                    <a:bodyPr/>
                    <a:lstStyle/>
                    <a:p>
                      <a:pPr marL="0" indent="0">
                        <a:buNone/>
                      </a:pPr>
                      <a:r>
                        <a:rPr lang="en-US" sz="1100" b="1" dirty="0">
                          <a:solidFill>
                            <a:srgbClr val="C77700"/>
                          </a:solidFill>
                          <a:latin typeface="Meiryo" pitchFamily="34" charset="0"/>
                          <a:ea typeface="Meiryo" pitchFamily="34" charset="-122"/>
                          <a:cs typeface="Meiryo" pitchFamily="34" charset="-120"/>
                        </a:rPr>
                        <a:t>クラウド 月10万円前後</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tcPr>
                </a:tc>
                <a:tc>
                  <a:txBody>
                    <a:bodyPr/>
                    <a:lstStyle/>
                    <a:p>
                      <a:pPr marL="0" indent="0">
                        <a:buNone/>
                      </a:pPr>
                      <a:r>
                        <a:rPr lang="en-US" sz="1100" dirty="0">
                          <a:solidFill>
                            <a:srgbClr val="23373C"/>
                          </a:solidFill>
                          <a:latin typeface="Meiryo" pitchFamily="34" charset="0"/>
                          <a:ea typeface="Meiryo" pitchFamily="34" charset="-122"/>
                          <a:cs typeface="Meiryo" pitchFamily="34" charset="-120"/>
                        </a:rPr>
                        <a:t>数ヶ月</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tcPr>
                </a:tc>
                <a:tc>
                  <a:txBody>
                    <a:bodyPr/>
                    <a:lstStyle/>
                    <a:p>
                      <a:pPr marL="0" indent="0" algn="ctr">
                        <a:buNone/>
                      </a:pPr>
                      <a:r>
                        <a:rPr lang="en-US" sz="1100" b="1" dirty="0">
                          <a:solidFill>
                            <a:srgbClr val="B3453E"/>
                          </a:solidFill>
                          <a:latin typeface="Meiryo" pitchFamily="34" charset="0"/>
                          <a:ea typeface="Meiryo" pitchFamily="34" charset="-122"/>
                          <a:cs typeface="Meiryo" pitchFamily="34" charset="-120"/>
                        </a:rPr>
                        <a:t>× 期間的に困難</a:t>
                      </a:r>
                      <a:endParaRPr lang="en-US" sz="1100" dirty="0">
                        <a:latin typeface="Meiryo" charset="0"/>
                        <a:ea typeface="Meiryo" charset="0"/>
                        <a:cs typeface="Meiryo" charset="0"/>
                      </a:endParaRPr>
                    </a:p>
                  </a:txBody>
                  <a:tcPr marL="50800" marR="50800" marT="50800" marB="50800" anchor="ctr">
                    <a:lnL w="6350" cap="flat" cmpd="sng" algn="ctr">
                      <a:solidFill>
                        <a:srgbClr val="D3DEE0"/>
                      </a:solidFill>
                      <a:prstDash val="solid"/>
                      <a:round/>
                      <a:headEnd type="none" w="med" len="med"/>
                      <a:tailEnd type="none" w="med" len="med"/>
                    </a:lnL>
                    <a:lnR w="6350" cap="flat" cmpd="sng" algn="ctr">
                      <a:solidFill>
                        <a:srgbClr val="D3DEE0"/>
                      </a:solidFill>
                      <a:prstDash val="solid"/>
                      <a:round/>
                      <a:headEnd type="none" w="med" len="med"/>
                      <a:tailEnd type="none" w="med" len="med"/>
                    </a:lnR>
                    <a:lnT w="6350" cap="flat" cmpd="sng" algn="ctr">
                      <a:solidFill>
                        <a:srgbClr val="D3DEE0"/>
                      </a:solidFill>
                      <a:prstDash val="solid"/>
                      <a:round/>
                      <a:headEnd type="none" w="med" len="med"/>
                      <a:tailEnd type="none" w="med" len="med"/>
                    </a:lnT>
                    <a:lnB w="6350" cap="flat" cmpd="sng" algn="ctr">
                      <a:solidFill>
                        <a:srgbClr val="D3DE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548640" y="4160520"/>
            <a:ext cx="11064240" cy="1508760"/>
          </a:xfrm>
          <a:prstGeom prst="roundRect">
            <a:avLst>
              <a:gd name="adj" fmla="val 4848"/>
            </a:avLst>
          </a:prstGeom>
          <a:solidFill>
            <a:srgbClr val="F4F8F9"/>
          </a:solidFill>
          <a:ln/>
        </p:spPr>
      </p:sp>
      <p:sp>
        <p:nvSpPr>
          <p:cNvPr id="6" name="Text 3"/>
          <p:cNvSpPr/>
          <p:nvPr/>
        </p:nvSpPr>
        <p:spPr>
          <a:xfrm>
            <a:off x="868680" y="4343400"/>
            <a:ext cx="10424160" cy="274320"/>
          </a:xfrm>
          <a:prstGeom prst="rect">
            <a:avLst/>
          </a:prstGeom>
          <a:noFill/>
          <a:ln/>
        </p:spPr>
        <p:txBody>
          <a:bodyPr wrap="square" lIns="0" tIns="0" rIns="0" bIns="0" rtlCol="0" anchor="ctr"/>
          <a:lstStyle/>
          <a:p>
            <a:pPr marL="0" indent="0">
              <a:buNone/>
            </a:pPr>
            <a:r>
              <a:rPr lang="en-US" sz="1400" b="1" dirty="0">
                <a:solidFill>
                  <a:srgbClr val="028090"/>
                </a:solidFill>
                <a:latin typeface="Meiryo" pitchFamily="34" charset="0"/>
                <a:ea typeface="Meiryo" pitchFamily="34" charset="-122"/>
                <a:cs typeface="Meiryo" pitchFamily="34" charset="-120"/>
              </a:rPr>
              <a:t>前提条件に照らした評価</a:t>
            </a:r>
            <a:endParaRPr lang="en-US" sz="1400" dirty="0"/>
          </a:p>
        </p:txBody>
      </p:sp>
      <p:sp>
        <p:nvSpPr>
          <p:cNvPr id="4" name="Text 4"/>
          <p:cNvSpPr/>
          <p:nvPr/>
        </p:nvSpPr>
        <p:spPr>
          <a:xfrm>
            <a:off x="868680" y="4645152"/>
            <a:ext cx="10424160" cy="960120"/>
          </a:xfrm>
          <a:prstGeom prst="rect">
            <a:avLst/>
          </a:prstGeom>
          <a:noFill/>
          <a:ln/>
        </p:spPr>
        <p:txBody>
          <a:bodyPr wrap="square" lIns="0" tIns="0" rIns="0" bIns="0" rtlCol="0" anchor="ctr"/>
          <a:lstStyle/>
          <a:p>
            <a:pPr marL="342900" indent="-342900">
              <a:spcAft>
                <a:spcPts val="400"/>
              </a:spcAft>
              <a:buSzPct val="100000"/>
              <a:buFontTx/>
              <a:buChar char="•"/>
            </a:pPr>
            <a:r>
              <a:rPr lang="en-US" altLang="ja-JP" sz="1200" dirty="0">
                <a:solidFill>
                  <a:srgbClr val="23373C"/>
                </a:solidFill>
                <a:latin typeface="Meiryo" pitchFamily="34" charset="0"/>
                <a:ea typeface="Meiryo" pitchFamily="34" charset="-122"/>
                <a:cs typeface="Meiryo" pitchFamily="34" charset="-120"/>
              </a:rPr>
              <a:t>A（</a:t>
            </a:r>
            <a:r>
              <a:rPr lang="ja-JP" altLang="en-US" sz="1200" dirty="0">
                <a:solidFill>
                  <a:srgbClr val="23373C"/>
                </a:solidFill>
                <a:latin typeface="Meiryo" pitchFamily="34" charset="0"/>
                <a:ea typeface="Meiryo" pitchFamily="34" charset="-122"/>
                <a:cs typeface="Meiryo" pitchFamily="34" charset="-120"/>
              </a:rPr>
              <a:t>帳票カスタム</a:t>
            </a:r>
            <a:r>
              <a:rPr lang="en-US" altLang="ja-JP" sz="1200" dirty="0">
                <a:solidFill>
                  <a:srgbClr val="23373C"/>
                </a:solidFill>
                <a:latin typeface="Meiryo" pitchFamily="34" charset="0"/>
                <a:ea typeface="Meiryo" pitchFamily="34" charset="-122"/>
                <a:cs typeface="Meiryo" pitchFamily="34" charset="-120"/>
              </a:rPr>
              <a:t>）</a:t>
            </a:r>
            <a:r>
              <a:rPr lang="en-US" altLang="ja-JP" sz="1200" dirty="0" err="1">
                <a:solidFill>
                  <a:srgbClr val="23373C"/>
                </a:solidFill>
                <a:latin typeface="Meiryo" pitchFamily="34" charset="0"/>
                <a:ea typeface="Meiryo" pitchFamily="34" charset="-122"/>
                <a:cs typeface="Meiryo" pitchFamily="34" charset="-120"/>
              </a:rPr>
              <a:t>はいずれも汎用の道具であり、当院の項目に合わせる作り込みは別途必要になる</a:t>
            </a:r>
            <a:r>
              <a:rPr lang="en-US" altLang="ja-JP" sz="1200" dirty="0">
                <a:solidFill>
                  <a:srgbClr val="23373C"/>
                </a:solidFill>
                <a:latin typeface="Meiryo" pitchFamily="34" charset="0"/>
                <a:ea typeface="Meiryo" pitchFamily="34" charset="-122"/>
                <a:cs typeface="Meiryo" pitchFamily="34" charset="-120"/>
              </a:rPr>
              <a:t>。</a:t>
            </a:r>
            <a:endParaRPr lang="en-US" altLang="ja-JP" sz="1200" dirty="0"/>
          </a:p>
          <a:p>
            <a:pPr marL="342900" indent="-342900">
              <a:spcAft>
                <a:spcPts val="400"/>
              </a:spcAft>
              <a:buSzPct val="100000"/>
              <a:buChar char="•"/>
            </a:pPr>
            <a:r>
              <a:rPr lang="en-US" sz="1200" dirty="0">
                <a:solidFill>
                  <a:srgbClr val="23373C"/>
                </a:solidFill>
                <a:latin typeface="Meiryo" pitchFamily="34" charset="0"/>
                <a:ea typeface="Meiryo" pitchFamily="34" charset="-122"/>
                <a:cs typeface="Meiryo" pitchFamily="34" charset="-120"/>
              </a:rPr>
              <a:t>B（PDF</a:t>
            </a:r>
            <a:r>
              <a:rPr lang="ja-JP" altLang="en-US" sz="1200" dirty="0">
                <a:solidFill>
                  <a:srgbClr val="23373C"/>
                </a:solidFill>
                <a:latin typeface="Meiryo" pitchFamily="34" charset="0"/>
                <a:ea typeface="Meiryo" pitchFamily="34" charset="-122"/>
                <a:cs typeface="Meiryo" pitchFamily="34" charset="-120"/>
              </a:rPr>
              <a:t>分割</a:t>
            </a:r>
            <a:r>
              <a:rPr lang="en-US" sz="1200" dirty="0">
                <a:solidFill>
                  <a:srgbClr val="23373C"/>
                </a:solidFill>
                <a:latin typeface="Meiryo" pitchFamily="34" charset="0"/>
                <a:ea typeface="Meiryo" pitchFamily="34" charset="-122"/>
                <a:cs typeface="Meiryo" pitchFamily="34" charset="-120"/>
              </a:rPr>
              <a:t>）</a:t>
            </a:r>
            <a:r>
              <a:rPr lang="en-US" sz="1200" dirty="0" err="1">
                <a:solidFill>
                  <a:srgbClr val="23373C"/>
                </a:solidFill>
                <a:latin typeface="Meiryo" pitchFamily="34" charset="0"/>
                <a:ea typeface="Meiryo" pitchFamily="34" charset="-122"/>
                <a:cs typeface="Meiryo" pitchFamily="34" charset="-120"/>
              </a:rPr>
              <a:t>は無償評価版があり、決裁前に当院の書類で検証できる。</a:t>
            </a:r>
            <a:r>
              <a:rPr lang="en-US" sz="1200" b="1" dirty="0" err="1">
                <a:solidFill>
                  <a:srgbClr val="23373C"/>
                </a:solidFill>
                <a:latin typeface="Meiryo" pitchFamily="34" charset="0"/>
                <a:ea typeface="Meiryo" pitchFamily="34" charset="-122"/>
                <a:cs typeface="Meiryo" pitchFamily="34" charset="-120"/>
              </a:rPr>
              <a:t>市販製品での実現が現実的</a:t>
            </a:r>
            <a:r>
              <a:rPr lang="en-US" sz="1200" b="1" dirty="0">
                <a:solidFill>
                  <a:srgbClr val="23373C"/>
                </a:solidFill>
                <a:latin typeface="Meiryo" pitchFamily="34" charset="0"/>
                <a:ea typeface="Meiryo" pitchFamily="34" charset="-122"/>
                <a:cs typeface="Meiryo" pitchFamily="34" charset="-120"/>
              </a:rPr>
              <a:t>。</a:t>
            </a:r>
            <a:endParaRPr lang="en-US" sz="1200" b="1" dirty="0"/>
          </a:p>
          <a:p>
            <a:pPr marL="342900" indent="-342900">
              <a:spcAft>
                <a:spcPts val="400"/>
              </a:spcAft>
              <a:buSzPct val="100000"/>
              <a:buChar char="•"/>
            </a:pPr>
            <a:r>
              <a:rPr lang="en-US" sz="1200" dirty="0" err="1">
                <a:solidFill>
                  <a:srgbClr val="23373C"/>
                </a:solidFill>
                <a:latin typeface="Meiryo" pitchFamily="34" charset="0"/>
                <a:ea typeface="Meiryo" pitchFamily="34" charset="-122"/>
                <a:cs typeface="Meiryo" pitchFamily="34" charset="-120"/>
              </a:rPr>
              <a:t>C（入力支援）は</a:t>
            </a:r>
            <a:r>
              <a:rPr lang="ja-JP" altLang="en-US" sz="1200" dirty="0">
                <a:solidFill>
                  <a:srgbClr val="23373C"/>
                </a:solidFill>
                <a:latin typeface="Meiryo" pitchFamily="34" charset="0"/>
                <a:ea typeface="Meiryo" pitchFamily="34" charset="-122"/>
                <a:cs typeface="Meiryo" pitchFamily="34" charset="-120"/>
              </a:rPr>
              <a:t>機能は充実しているが導入までの</a:t>
            </a:r>
            <a:r>
              <a:rPr lang="en-US" sz="1200" dirty="0" err="1">
                <a:solidFill>
                  <a:srgbClr val="23373C"/>
                </a:solidFill>
                <a:latin typeface="Meiryo" pitchFamily="34" charset="0"/>
                <a:ea typeface="Meiryo" pitchFamily="34" charset="-122"/>
                <a:cs typeface="Meiryo" pitchFamily="34" charset="-120"/>
              </a:rPr>
              <a:t>期間</a:t>
            </a:r>
            <a:r>
              <a:rPr lang="ja-JP" altLang="en-US" sz="1200" dirty="0">
                <a:solidFill>
                  <a:srgbClr val="23373C"/>
                </a:solidFill>
                <a:latin typeface="Meiryo" pitchFamily="34" charset="0"/>
                <a:ea typeface="Meiryo" pitchFamily="34" charset="-122"/>
                <a:cs typeface="Meiryo" pitchFamily="34" charset="-120"/>
              </a:rPr>
              <a:t>が長いのが課題。</a:t>
            </a:r>
            <a:endParaRPr lang="en-US" sz="1200" dirty="0"/>
          </a:p>
        </p:txBody>
      </p:sp>
      <p:sp>
        <p:nvSpPr>
          <p:cNvPr id="8" name="Text 5"/>
          <p:cNvSpPr/>
          <p:nvPr/>
        </p:nvSpPr>
        <p:spPr>
          <a:xfrm>
            <a:off x="548640" y="5806440"/>
            <a:ext cx="11064240" cy="320040"/>
          </a:xfrm>
          <a:prstGeom prst="rect">
            <a:avLst/>
          </a:prstGeom>
          <a:noFill/>
          <a:ln/>
        </p:spPr>
        <p:txBody>
          <a:bodyPr wrap="square" lIns="0" tIns="0" rIns="0" bIns="0" rtlCol="0" anchor="ctr"/>
          <a:lstStyle/>
          <a:p>
            <a:pPr marL="0" indent="0">
              <a:buNone/>
            </a:pPr>
            <a:r>
              <a:rPr lang="en-US" sz="1050" dirty="0">
                <a:solidFill>
                  <a:srgbClr val="6C8286"/>
                </a:solidFill>
                <a:latin typeface="Meiryo" pitchFamily="34" charset="0"/>
                <a:ea typeface="Meiryo" pitchFamily="34" charset="-122"/>
                <a:cs typeface="Meiryo" pitchFamily="34" charset="-120"/>
              </a:rPr>
              <a:t>※ 導入期間は、製品選定・院内決裁・契約・初期設定までを含んだ期間です。各社公開情報より（2026年時点）、金額は構成・代理店により変動します。</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92608"/>
            <a:ext cx="11064240" cy="475488"/>
          </a:xfrm>
          <a:prstGeom prst="rect">
            <a:avLst/>
          </a:prstGeom>
          <a:noFill/>
          <a:ln/>
        </p:spPr>
        <p:txBody>
          <a:bodyPr wrap="square" lIns="0" tIns="0" rIns="0" bIns="0" rtlCol="0" anchor="ctr"/>
          <a:lstStyle/>
          <a:p>
            <a:pPr marL="0" indent="0">
              <a:buNone/>
            </a:pPr>
            <a:r>
              <a:rPr lang="en-US" sz="2500" b="1" dirty="0">
                <a:solidFill>
                  <a:srgbClr val="0B3C46"/>
                </a:solidFill>
                <a:latin typeface="Meiryo" pitchFamily="34" charset="0"/>
                <a:ea typeface="Meiryo" pitchFamily="34" charset="-122"/>
                <a:cs typeface="Meiryo" pitchFamily="34" charset="-120"/>
              </a:rPr>
              <a:t>実現手段の検討 ② 院内ツールでの代用</a:t>
            </a:r>
            <a:endParaRPr lang="en-US" sz="2500" dirty="0"/>
          </a:p>
        </p:txBody>
      </p:sp>
      <p:sp>
        <p:nvSpPr>
          <p:cNvPr id="3" name="Text 1"/>
          <p:cNvSpPr/>
          <p:nvPr/>
        </p:nvSpPr>
        <p:spPr>
          <a:xfrm>
            <a:off x="548640" y="822960"/>
            <a:ext cx="11064240" cy="310896"/>
          </a:xfrm>
          <a:prstGeom prst="rect">
            <a:avLst/>
          </a:prstGeom>
          <a:noFill/>
          <a:ln/>
        </p:spPr>
        <p:txBody>
          <a:bodyPr wrap="square" lIns="0" tIns="0" rIns="0" bIns="0" rtlCol="0" anchor="ctr"/>
          <a:lstStyle/>
          <a:p>
            <a:pPr marL="0" indent="0">
              <a:buNone/>
            </a:pPr>
            <a:r>
              <a:rPr lang="en-US" sz="1300" dirty="0">
                <a:solidFill>
                  <a:srgbClr val="6C8286"/>
                </a:solidFill>
                <a:latin typeface="Meiryo" pitchFamily="34" charset="0"/>
                <a:ea typeface="Meiryo" pitchFamily="34" charset="-122"/>
                <a:cs typeface="Meiryo" pitchFamily="34" charset="-120"/>
              </a:rPr>
              <a:t>9月半ばに間に合わせるための、当面の手段としてのご提案です</a:t>
            </a:r>
            <a:endParaRPr lang="en-US" sz="1300" dirty="0"/>
          </a:p>
        </p:txBody>
      </p:sp>
      <p:sp>
        <p:nvSpPr>
          <p:cNvPr id="4" name="Shape 2"/>
          <p:cNvSpPr/>
          <p:nvPr/>
        </p:nvSpPr>
        <p:spPr>
          <a:xfrm>
            <a:off x="548640" y="1234440"/>
            <a:ext cx="11064240" cy="731520"/>
          </a:xfrm>
          <a:prstGeom prst="roundRect">
            <a:avLst>
              <a:gd name="adj" fmla="val 10000"/>
            </a:avLst>
          </a:prstGeom>
          <a:solidFill>
            <a:srgbClr val="FFF4E0"/>
          </a:solidFill>
          <a:ln/>
        </p:spPr>
      </p:sp>
      <p:sp>
        <p:nvSpPr>
          <p:cNvPr id="5" name="Text 3"/>
          <p:cNvSpPr/>
          <p:nvPr/>
        </p:nvSpPr>
        <p:spPr>
          <a:xfrm>
            <a:off x="868680" y="1234440"/>
            <a:ext cx="10424160" cy="731520"/>
          </a:xfrm>
          <a:prstGeom prst="rect">
            <a:avLst/>
          </a:prstGeom>
          <a:noFill/>
          <a:ln/>
        </p:spPr>
        <p:txBody>
          <a:bodyPr wrap="square" lIns="0" tIns="0" rIns="0" bIns="0" rtlCol="0" anchor="ctr"/>
          <a:lstStyle/>
          <a:p>
            <a:pPr marL="0" indent="0">
              <a:buNone/>
            </a:pPr>
            <a:r>
              <a:rPr lang="en-US" sz="1400" b="1" dirty="0">
                <a:solidFill>
                  <a:srgbClr val="23373C"/>
                </a:solidFill>
                <a:latin typeface="Meiryo" pitchFamily="34" charset="0"/>
                <a:ea typeface="Meiryo" pitchFamily="34" charset="-122"/>
                <a:cs typeface="Meiryo" pitchFamily="34" charset="-120"/>
              </a:rPr>
              <a:t>市販製品だけでは、9月半ばの本稼働という前提条件を満たせません。とくにC（入力支援）が期間</a:t>
            </a:r>
            <a:r>
              <a:rPr lang="ja-JP" altLang="en-US" sz="1400" b="1" dirty="0">
                <a:solidFill>
                  <a:srgbClr val="23373C"/>
                </a:solidFill>
                <a:latin typeface="Meiryo" pitchFamily="34" charset="0"/>
                <a:ea typeface="Meiryo" pitchFamily="34" charset="-122"/>
                <a:cs typeface="Meiryo" pitchFamily="34" charset="-120"/>
              </a:rPr>
              <a:t>的に</a:t>
            </a:r>
            <a:r>
              <a:rPr lang="en-US" sz="1400" b="1" dirty="0" err="1">
                <a:solidFill>
                  <a:srgbClr val="23373C"/>
                </a:solidFill>
                <a:latin typeface="Meiryo" pitchFamily="34" charset="0"/>
                <a:ea typeface="Meiryo" pitchFamily="34" charset="-122"/>
                <a:cs typeface="Meiryo" pitchFamily="34" charset="-120"/>
              </a:rPr>
              <a:t>成立しません</a:t>
            </a:r>
            <a:r>
              <a:rPr lang="en-US" sz="1400" b="1" dirty="0">
                <a:solidFill>
                  <a:srgbClr val="23373C"/>
                </a:solidFill>
                <a:latin typeface="Meiryo" pitchFamily="34" charset="0"/>
                <a:ea typeface="Meiryo" pitchFamily="34" charset="-122"/>
                <a:cs typeface="Meiryo" pitchFamily="34" charset="-120"/>
              </a:rPr>
              <a:t>。</a:t>
            </a:r>
            <a:endParaRPr lang="en-US" sz="1400" dirty="0"/>
          </a:p>
        </p:txBody>
      </p:sp>
      <p:sp>
        <p:nvSpPr>
          <p:cNvPr id="6" name="Text 4"/>
          <p:cNvSpPr/>
          <p:nvPr/>
        </p:nvSpPr>
        <p:spPr>
          <a:xfrm>
            <a:off x="548640" y="2121408"/>
            <a:ext cx="11064240" cy="320040"/>
          </a:xfrm>
          <a:prstGeom prst="rect">
            <a:avLst/>
          </a:prstGeom>
          <a:noFill/>
          <a:ln/>
        </p:spPr>
        <p:txBody>
          <a:bodyPr wrap="square" lIns="0" tIns="0" rIns="0" bIns="0" rtlCol="0" anchor="ctr"/>
          <a:lstStyle/>
          <a:p>
            <a:pPr marL="0" indent="0">
              <a:buNone/>
            </a:pPr>
            <a:r>
              <a:rPr lang="en-US" sz="1300" dirty="0" err="1">
                <a:solidFill>
                  <a:srgbClr val="23373C"/>
                </a:solidFill>
                <a:latin typeface="Meiryo" pitchFamily="34" charset="0"/>
                <a:ea typeface="Meiryo" pitchFamily="34" charset="-122"/>
                <a:cs typeface="Meiryo" pitchFamily="34" charset="-120"/>
              </a:rPr>
              <a:t>そこで</a:t>
            </a:r>
            <a:r>
              <a:rPr lang="en-US" sz="1300" dirty="0">
                <a:solidFill>
                  <a:srgbClr val="23373C"/>
                </a:solidFill>
                <a:latin typeface="Meiryo" pitchFamily="34" charset="0"/>
                <a:ea typeface="Meiryo" pitchFamily="34" charset="-122"/>
                <a:cs typeface="Meiryo" pitchFamily="34" charset="-120"/>
              </a:rPr>
              <a:t>、</a:t>
            </a:r>
            <a:r>
              <a:rPr lang="ja-JP" altLang="en-US" sz="1300" dirty="0">
                <a:solidFill>
                  <a:srgbClr val="23373C"/>
                </a:solidFill>
                <a:latin typeface="Meiryo" pitchFamily="34" charset="0"/>
                <a:ea typeface="Meiryo" pitchFamily="34" charset="-122"/>
                <a:cs typeface="Meiryo" pitchFamily="34" charset="-120"/>
              </a:rPr>
              <a:t>帳票カスタム</a:t>
            </a:r>
            <a:r>
              <a:rPr lang="en-US" sz="1300" dirty="0">
                <a:solidFill>
                  <a:srgbClr val="23373C"/>
                </a:solidFill>
                <a:latin typeface="Meiryo" pitchFamily="34" charset="0"/>
                <a:ea typeface="Meiryo" pitchFamily="34" charset="-122"/>
                <a:cs typeface="Meiryo" pitchFamily="34" charset="-120"/>
              </a:rPr>
              <a:t>・</a:t>
            </a:r>
            <a:r>
              <a:rPr lang="en-US" altLang="ja-JP" sz="1300" dirty="0">
                <a:solidFill>
                  <a:srgbClr val="23373C"/>
                </a:solidFill>
                <a:latin typeface="Meiryo" pitchFamily="34" charset="0"/>
                <a:ea typeface="Meiryo" pitchFamily="34" charset="-122"/>
                <a:cs typeface="Meiryo" pitchFamily="34" charset="-120"/>
              </a:rPr>
              <a:t>PDF</a:t>
            </a:r>
            <a:r>
              <a:rPr lang="ja-JP" altLang="en-US" sz="1300" dirty="0">
                <a:solidFill>
                  <a:srgbClr val="23373C"/>
                </a:solidFill>
                <a:latin typeface="Meiryo" pitchFamily="34" charset="0"/>
                <a:ea typeface="Meiryo" pitchFamily="34" charset="-122"/>
                <a:cs typeface="Meiryo" pitchFamily="34" charset="-120"/>
              </a:rPr>
              <a:t>分割</a:t>
            </a:r>
            <a:r>
              <a:rPr lang="en-US" sz="1300" dirty="0">
                <a:solidFill>
                  <a:srgbClr val="23373C"/>
                </a:solidFill>
                <a:latin typeface="Meiryo" pitchFamily="34" charset="0"/>
                <a:ea typeface="Meiryo" pitchFamily="34" charset="-122"/>
                <a:cs typeface="Meiryo" pitchFamily="34" charset="-120"/>
              </a:rPr>
              <a:t>・</a:t>
            </a:r>
            <a:r>
              <a:rPr lang="ja-JP" altLang="en-US" sz="1300" dirty="0">
                <a:solidFill>
                  <a:srgbClr val="23373C"/>
                </a:solidFill>
                <a:latin typeface="Meiryo" pitchFamily="34" charset="0"/>
                <a:ea typeface="Meiryo" pitchFamily="34" charset="-122"/>
                <a:cs typeface="Meiryo" pitchFamily="34" charset="-120"/>
              </a:rPr>
              <a:t>入力補助</a:t>
            </a:r>
            <a:r>
              <a:rPr lang="en-US" sz="1300" dirty="0" err="1">
                <a:solidFill>
                  <a:srgbClr val="23373C"/>
                </a:solidFill>
                <a:latin typeface="Meiryo" pitchFamily="34" charset="0"/>
                <a:ea typeface="Meiryo" pitchFamily="34" charset="-122"/>
                <a:cs typeface="Meiryo" pitchFamily="34" charset="-120"/>
              </a:rPr>
              <a:t>をそれぞれ代用する院内ツールを試作し、実際の症例で動作を検証しました</a:t>
            </a:r>
            <a:r>
              <a:rPr lang="en-US" sz="1300" dirty="0">
                <a:solidFill>
                  <a:srgbClr val="23373C"/>
                </a:solidFill>
                <a:latin typeface="Meiryo" pitchFamily="34" charset="0"/>
                <a:ea typeface="Meiryo" pitchFamily="34" charset="-122"/>
                <a:cs typeface="Meiryo" pitchFamily="34" charset="-120"/>
              </a:rPr>
              <a:t>。</a:t>
            </a:r>
            <a:endParaRPr lang="en-US" sz="1300" dirty="0"/>
          </a:p>
        </p:txBody>
      </p:sp>
      <p:sp>
        <p:nvSpPr>
          <p:cNvPr id="7" name="Shape 5"/>
          <p:cNvSpPr/>
          <p:nvPr/>
        </p:nvSpPr>
        <p:spPr>
          <a:xfrm>
            <a:off x="548640" y="2606040"/>
            <a:ext cx="3401568" cy="1965960"/>
          </a:xfrm>
          <a:prstGeom prst="roundRect">
            <a:avLst>
              <a:gd name="adj" fmla="val 4651"/>
            </a:avLst>
          </a:prstGeom>
          <a:solidFill>
            <a:srgbClr val="F4F8F9"/>
          </a:solidFill>
          <a:ln/>
        </p:spPr>
      </p:sp>
      <p:sp>
        <p:nvSpPr>
          <p:cNvPr id="8" name="Text 6"/>
          <p:cNvSpPr/>
          <p:nvPr/>
        </p:nvSpPr>
        <p:spPr>
          <a:xfrm>
            <a:off x="822960" y="2816352"/>
            <a:ext cx="2834640" cy="274320"/>
          </a:xfrm>
          <a:prstGeom prst="rect">
            <a:avLst/>
          </a:prstGeom>
          <a:noFill/>
          <a:ln/>
        </p:spPr>
        <p:txBody>
          <a:bodyPr wrap="square" lIns="0" tIns="0" rIns="0" bIns="0" rtlCol="0" anchor="ctr"/>
          <a:lstStyle/>
          <a:p>
            <a:pPr marL="0" indent="0">
              <a:buNone/>
            </a:pPr>
            <a:r>
              <a:rPr lang="en-US" altLang="ja-JP" sz="1200" b="1" dirty="0">
                <a:solidFill>
                  <a:srgbClr val="23373C"/>
                </a:solidFill>
                <a:latin typeface="Meiryo" pitchFamily="34" charset="0"/>
                <a:ea typeface="Meiryo" pitchFamily="34" charset="-122"/>
                <a:cs typeface="Meiryo" pitchFamily="34" charset="-120"/>
              </a:rPr>
              <a:t>A.</a:t>
            </a:r>
            <a:r>
              <a:rPr lang="ja-JP" altLang="en-US" sz="1200" b="1" dirty="0">
                <a:solidFill>
                  <a:srgbClr val="23373C"/>
                </a:solidFill>
                <a:latin typeface="Meiryo" pitchFamily="34" charset="0"/>
                <a:ea typeface="Meiryo" pitchFamily="34" charset="-122"/>
                <a:cs typeface="Meiryo" pitchFamily="34" charset="-120"/>
              </a:rPr>
              <a:t>帳票カスタム</a:t>
            </a:r>
            <a:endParaRPr lang="en-US" sz="1150" b="1" dirty="0"/>
          </a:p>
        </p:txBody>
      </p:sp>
      <p:sp>
        <p:nvSpPr>
          <p:cNvPr id="9" name="Text 7"/>
          <p:cNvSpPr/>
          <p:nvPr/>
        </p:nvSpPr>
        <p:spPr>
          <a:xfrm>
            <a:off x="822960" y="3154680"/>
            <a:ext cx="2834640" cy="411480"/>
          </a:xfrm>
          <a:prstGeom prst="rect">
            <a:avLst/>
          </a:prstGeom>
          <a:noFill/>
          <a:ln/>
        </p:spPr>
        <p:txBody>
          <a:bodyPr wrap="square" lIns="0" tIns="0" rIns="0" bIns="0" rtlCol="0" anchor="ctr"/>
          <a:lstStyle/>
          <a:p>
            <a:pPr marL="0" indent="0">
              <a:buNone/>
            </a:pPr>
            <a:r>
              <a:rPr lang="en-US" sz="1900" b="1" dirty="0">
                <a:solidFill>
                  <a:srgbClr val="23373C"/>
                </a:solidFill>
                <a:latin typeface="Meiryo" pitchFamily="34" charset="0"/>
                <a:ea typeface="Meiryo" pitchFamily="34" charset="-122"/>
                <a:cs typeface="Meiryo" pitchFamily="34" charset="-120"/>
              </a:rPr>
              <a:t>手術伝票プラス</a:t>
            </a:r>
            <a:endParaRPr lang="en-US" sz="1900" dirty="0"/>
          </a:p>
        </p:txBody>
      </p:sp>
      <p:sp>
        <p:nvSpPr>
          <p:cNvPr id="10" name="Text 8"/>
          <p:cNvSpPr/>
          <p:nvPr/>
        </p:nvSpPr>
        <p:spPr>
          <a:xfrm>
            <a:off x="822960" y="3675888"/>
            <a:ext cx="2834640" cy="731520"/>
          </a:xfrm>
          <a:prstGeom prst="rect">
            <a:avLst/>
          </a:prstGeom>
          <a:noFill/>
          <a:ln/>
        </p:spPr>
        <p:txBody>
          <a:bodyPr wrap="square" lIns="0" tIns="0" rIns="0" bIns="0" rtlCol="0" anchor="ctr"/>
          <a:lstStyle/>
          <a:p>
            <a:pPr marL="0" indent="0">
              <a:lnSpc>
                <a:spcPts val="1800"/>
              </a:lnSpc>
              <a:buNone/>
            </a:pPr>
            <a:r>
              <a:rPr lang="en-US" sz="1200" dirty="0">
                <a:solidFill>
                  <a:srgbClr val="6C8286"/>
                </a:solidFill>
                <a:latin typeface="Meiryo" pitchFamily="34" charset="0"/>
                <a:ea typeface="Meiryo" pitchFamily="34" charset="-122"/>
                <a:cs typeface="Meiryo" pitchFamily="34" charset="-120"/>
              </a:rPr>
              <a:t>必要な情報がそろった記録用紙を出力</a:t>
            </a:r>
            <a:endParaRPr lang="en-US" sz="1200" dirty="0"/>
          </a:p>
        </p:txBody>
      </p:sp>
      <p:sp>
        <p:nvSpPr>
          <p:cNvPr id="11" name="Shape 9"/>
          <p:cNvSpPr/>
          <p:nvPr/>
        </p:nvSpPr>
        <p:spPr>
          <a:xfrm>
            <a:off x="4370832" y="2606040"/>
            <a:ext cx="3401568" cy="1965960"/>
          </a:xfrm>
          <a:prstGeom prst="roundRect">
            <a:avLst>
              <a:gd name="adj" fmla="val 4651"/>
            </a:avLst>
          </a:prstGeom>
          <a:solidFill>
            <a:srgbClr val="F4F8F9"/>
          </a:solidFill>
          <a:ln/>
        </p:spPr>
      </p:sp>
      <p:sp>
        <p:nvSpPr>
          <p:cNvPr id="12" name="Text 10"/>
          <p:cNvSpPr/>
          <p:nvPr/>
        </p:nvSpPr>
        <p:spPr>
          <a:xfrm>
            <a:off x="4645152" y="2816352"/>
            <a:ext cx="2834640" cy="274320"/>
          </a:xfrm>
          <a:prstGeom prst="rect">
            <a:avLst/>
          </a:prstGeom>
          <a:noFill/>
          <a:ln/>
        </p:spPr>
        <p:txBody>
          <a:bodyPr wrap="square" lIns="0" tIns="0" rIns="0" bIns="0" rtlCol="0" anchor="ctr"/>
          <a:lstStyle/>
          <a:p>
            <a:pPr marL="0" indent="0">
              <a:buNone/>
            </a:pPr>
            <a:r>
              <a:rPr lang="en-US" altLang="ja-JP" sz="1200" b="1" dirty="0">
                <a:solidFill>
                  <a:srgbClr val="23373C"/>
                </a:solidFill>
                <a:latin typeface="Meiryo" pitchFamily="34" charset="0"/>
                <a:ea typeface="Meiryo" pitchFamily="34" charset="-122"/>
                <a:cs typeface="Meiryo" pitchFamily="34" charset="-120"/>
              </a:rPr>
              <a:t>B.PDF</a:t>
            </a:r>
            <a:r>
              <a:rPr lang="ja-JP" altLang="en-US" sz="1200" b="1" dirty="0">
                <a:solidFill>
                  <a:srgbClr val="23373C"/>
                </a:solidFill>
                <a:latin typeface="Meiryo" pitchFamily="34" charset="0"/>
                <a:ea typeface="Meiryo" pitchFamily="34" charset="-122"/>
                <a:cs typeface="Meiryo" pitchFamily="34" charset="-120"/>
              </a:rPr>
              <a:t>分割</a:t>
            </a:r>
            <a:endParaRPr lang="en-US" sz="1150" b="1" dirty="0"/>
          </a:p>
        </p:txBody>
      </p:sp>
      <p:sp>
        <p:nvSpPr>
          <p:cNvPr id="13" name="Text 11"/>
          <p:cNvSpPr/>
          <p:nvPr/>
        </p:nvSpPr>
        <p:spPr>
          <a:xfrm>
            <a:off x="4645152" y="3154680"/>
            <a:ext cx="2834640" cy="411480"/>
          </a:xfrm>
          <a:prstGeom prst="rect">
            <a:avLst/>
          </a:prstGeom>
          <a:noFill/>
          <a:ln/>
        </p:spPr>
        <p:txBody>
          <a:bodyPr wrap="square" lIns="0" tIns="0" rIns="0" bIns="0" rtlCol="0" anchor="ctr"/>
          <a:lstStyle/>
          <a:p>
            <a:pPr marL="0" indent="0">
              <a:buNone/>
            </a:pPr>
            <a:r>
              <a:rPr lang="en-US" sz="1900" b="1" dirty="0">
                <a:solidFill>
                  <a:srgbClr val="23373C"/>
                </a:solidFill>
                <a:latin typeface="Meiryo" pitchFamily="34" charset="0"/>
                <a:ea typeface="Meiryo" pitchFamily="34" charset="-122"/>
                <a:cs typeface="Meiryo" pitchFamily="34" charset="-120"/>
              </a:rPr>
              <a:t>PDFセパレーター</a:t>
            </a:r>
            <a:endParaRPr lang="en-US" sz="1900" dirty="0"/>
          </a:p>
        </p:txBody>
      </p:sp>
      <p:sp>
        <p:nvSpPr>
          <p:cNvPr id="14" name="Text 12"/>
          <p:cNvSpPr/>
          <p:nvPr/>
        </p:nvSpPr>
        <p:spPr>
          <a:xfrm>
            <a:off x="4645152" y="3675888"/>
            <a:ext cx="2834640" cy="731520"/>
          </a:xfrm>
          <a:prstGeom prst="rect">
            <a:avLst/>
          </a:prstGeom>
          <a:noFill/>
          <a:ln/>
        </p:spPr>
        <p:txBody>
          <a:bodyPr wrap="square" lIns="0" tIns="0" rIns="0" bIns="0" rtlCol="0" anchor="ctr"/>
          <a:lstStyle/>
          <a:p>
            <a:pPr marL="0" indent="0">
              <a:lnSpc>
                <a:spcPts val="1800"/>
              </a:lnSpc>
              <a:buNone/>
            </a:pPr>
            <a:r>
              <a:rPr lang="en-US" sz="1200" dirty="0">
                <a:solidFill>
                  <a:srgbClr val="6C8286"/>
                </a:solidFill>
                <a:latin typeface="Meiryo" pitchFamily="34" charset="0"/>
                <a:ea typeface="Meiryo" pitchFamily="34" charset="-122"/>
                <a:cs typeface="Meiryo" pitchFamily="34" charset="-120"/>
              </a:rPr>
              <a:t>一括スキャンを患者ごとに自動分割</a:t>
            </a:r>
            <a:endParaRPr lang="en-US" sz="1200" dirty="0"/>
          </a:p>
        </p:txBody>
      </p:sp>
      <p:sp>
        <p:nvSpPr>
          <p:cNvPr id="15" name="Shape 13"/>
          <p:cNvSpPr/>
          <p:nvPr/>
        </p:nvSpPr>
        <p:spPr>
          <a:xfrm>
            <a:off x="8193024" y="2606040"/>
            <a:ext cx="3401568" cy="1965960"/>
          </a:xfrm>
          <a:prstGeom prst="roundRect">
            <a:avLst>
              <a:gd name="adj" fmla="val 4651"/>
            </a:avLst>
          </a:prstGeom>
          <a:solidFill>
            <a:srgbClr val="028090"/>
          </a:solidFill>
          <a:ln/>
        </p:spPr>
      </p:sp>
      <p:sp>
        <p:nvSpPr>
          <p:cNvPr id="16" name="Text 14"/>
          <p:cNvSpPr/>
          <p:nvPr/>
        </p:nvSpPr>
        <p:spPr>
          <a:xfrm>
            <a:off x="8467344" y="2816352"/>
            <a:ext cx="2834640" cy="274320"/>
          </a:xfrm>
          <a:prstGeom prst="rect">
            <a:avLst/>
          </a:prstGeom>
          <a:noFill/>
          <a:ln/>
        </p:spPr>
        <p:txBody>
          <a:bodyPr wrap="square" lIns="0" tIns="0" rIns="0" bIns="0" rtlCol="0" anchor="ctr"/>
          <a:lstStyle/>
          <a:p>
            <a:pPr marL="0" indent="0">
              <a:buNone/>
            </a:pPr>
            <a:r>
              <a:rPr lang="en-US" altLang="ja-JP" sz="1200" b="1" dirty="0">
                <a:solidFill>
                  <a:schemeClr val="bg1"/>
                </a:solidFill>
                <a:latin typeface="Meiryo" pitchFamily="34" charset="0"/>
                <a:ea typeface="Meiryo" pitchFamily="34" charset="-122"/>
                <a:cs typeface="Meiryo" pitchFamily="34" charset="-120"/>
              </a:rPr>
              <a:t>C.</a:t>
            </a:r>
            <a:r>
              <a:rPr lang="ja-JP" altLang="en-US" sz="1200" b="1" dirty="0">
                <a:solidFill>
                  <a:schemeClr val="bg1"/>
                </a:solidFill>
                <a:latin typeface="Meiryo" pitchFamily="34" charset="0"/>
                <a:ea typeface="Meiryo" pitchFamily="34" charset="-122"/>
                <a:cs typeface="Meiryo" pitchFamily="34" charset="-120"/>
              </a:rPr>
              <a:t>入力支援</a:t>
            </a:r>
            <a:endParaRPr lang="en-US" sz="1150" b="1" dirty="0">
              <a:solidFill>
                <a:schemeClr val="bg1"/>
              </a:solidFill>
            </a:endParaRPr>
          </a:p>
        </p:txBody>
      </p:sp>
      <p:sp>
        <p:nvSpPr>
          <p:cNvPr id="17" name="Text 15"/>
          <p:cNvSpPr/>
          <p:nvPr/>
        </p:nvSpPr>
        <p:spPr>
          <a:xfrm>
            <a:off x="8467344" y="3154680"/>
            <a:ext cx="2834640" cy="411480"/>
          </a:xfrm>
          <a:prstGeom prst="rect">
            <a:avLst/>
          </a:prstGeom>
          <a:noFill/>
          <a:ln/>
        </p:spPr>
        <p:txBody>
          <a:bodyPr wrap="square" lIns="0" tIns="0" rIns="0" bIns="0" rtlCol="0" anchor="ctr"/>
          <a:lstStyle/>
          <a:p>
            <a:pPr marL="0" indent="0">
              <a:buNone/>
            </a:pPr>
            <a:r>
              <a:rPr lang="en-US" sz="1900" b="1" dirty="0">
                <a:solidFill>
                  <a:srgbClr val="FFFFFF"/>
                </a:solidFill>
                <a:latin typeface="Meiryo" pitchFamily="34" charset="0"/>
                <a:ea typeface="Meiryo" pitchFamily="34" charset="-122"/>
                <a:cs typeface="Meiryo" pitchFamily="34" charset="-120"/>
              </a:rPr>
              <a:t>オペコピ</a:t>
            </a:r>
            <a:endParaRPr lang="en-US" sz="1900" dirty="0"/>
          </a:p>
        </p:txBody>
      </p:sp>
      <p:sp>
        <p:nvSpPr>
          <p:cNvPr id="18" name="Text 16"/>
          <p:cNvSpPr/>
          <p:nvPr/>
        </p:nvSpPr>
        <p:spPr>
          <a:xfrm>
            <a:off x="8467344" y="3675888"/>
            <a:ext cx="2834640" cy="731520"/>
          </a:xfrm>
          <a:prstGeom prst="rect">
            <a:avLst/>
          </a:prstGeom>
          <a:noFill/>
          <a:ln/>
        </p:spPr>
        <p:txBody>
          <a:bodyPr wrap="square" lIns="0" tIns="0" rIns="0" bIns="0" rtlCol="0" anchor="ctr"/>
          <a:lstStyle/>
          <a:p>
            <a:pPr marL="0" indent="0">
              <a:lnSpc>
                <a:spcPts val="1800"/>
              </a:lnSpc>
              <a:buNone/>
            </a:pPr>
            <a:r>
              <a:rPr lang="en-US" sz="1200" dirty="0">
                <a:solidFill>
                  <a:srgbClr val="DFF4F1"/>
                </a:solidFill>
                <a:latin typeface="Meiryo" pitchFamily="34" charset="0"/>
                <a:ea typeface="Meiryo" pitchFamily="34" charset="-122"/>
                <a:cs typeface="Meiryo" pitchFamily="34" charset="-120"/>
              </a:rPr>
              <a:t>登録フォームの順に並べて入力を支援</a:t>
            </a:r>
            <a:endParaRPr lang="en-US" sz="1200" dirty="0"/>
          </a:p>
        </p:txBody>
      </p:sp>
      <p:sp>
        <p:nvSpPr>
          <p:cNvPr id="19" name="Shape 17"/>
          <p:cNvSpPr/>
          <p:nvPr/>
        </p:nvSpPr>
        <p:spPr>
          <a:xfrm>
            <a:off x="548640" y="4800600"/>
            <a:ext cx="11064240" cy="603504"/>
          </a:xfrm>
          <a:prstGeom prst="roundRect">
            <a:avLst>
              <a:gd name="adj" fmla="val 12121"/>
            </a:avLst>
          </a:prstGeom>
          <a:solidFill>
            <a:srgbClr val="028090"/>
          </a:solidFill>
          <a:ln/>
        </p:spPr>
      </p:sp>
      <p:sp>
        <p:nvSpPr>
          <p:cNvPr id="20" name="Text 18"/>
          <p:cNvSpPr/>
          <p:nvPr/>
        </p:nvSpPr>
        <p:spPr>
          <a:xfrm>
            <a:off x="868680" y="4800600"/>
            <a:ext cx="10424160" cy="603504"/>
          </a:xfrm>
          <a:prstGeom prst="rect">
            <a:avLst/>
          </a:prstGeom>
          <a:noFill/>
          <a:ln/>
        </p:spPr>
        <p:txBody>
          <a:bodyPr wrap="square" lIns="0" tIns="0" rIns="0" bIns="0" rtlCol="0" anchor="ctr"/>
          <a:lstStyle/>
          <a:p>
            <a:pPr marL="0" indent="0">
              <a:buNone/>
            </a:pPr>
            <a:r>
              <a:rPr lang="en-US" sz="1400" b="1" dirty="0">
                <a:solidFill>
                  <a:srgbClr val="FFFFFF"/>
                </a:solidFill>
                <a:latin typeface="Meiryo" pitchFamily="34" charset="0"/>
                <a:ea typeface="Meiryo" pitchFamily="34" charset="-122"/>
                <a:cs typeface="Meiryo" pitchFamily="34" charset="-120"/>
              </a:rPr>
              <a:t>3つとも動作検証済みで、決裁が下りればすぐに運用を開始できます。</a:t>
            </a:r>
            <a:endParaRPr lang="en-US" sz="1400" dirty="0"/>
          </a:p>
        </p:txBody>
      </p:sp>
      <p:sp>
        <p:nvSpPr>
          <p:cNvPr id="21" name="Text 19"/>
          <p:cNvSpPr/>
          <p:nvPr/>
        </p:nvSpPr>
        <p:spPr>
          <a:xfrm>
            <a:off x="548640" y="5577840"/>
            <a:ext cx="11064240" cy="457200"/>
          </a:xfrm>
          <a:prstGeom prst="rect">
            <a:avLst/>
          </a:prstGeom>
          <a:noFill/>
          <a:ln/>
        </p:spPr>
        <p:txBody>
          <a:bodyPr wrap="square" lIns="0" tIns="0" rIns="0" bIns="0" rtlCol="0" anchor="ctr"/>
          <a:lstStyle/>
          <a:p>
            <a:pPr marL="0" indent="0">
              <a:lnSpc>
                <a:spcPts val="1800"/>
              </a:lnSpc>
              <a:buNone/>
            </a:pPr>
            <a:r>
              <a:rPr lang="en-US" sz="1200" dirty="0" err="1">
                <a:solidFill>
                  <a:srgbClr val="6C8286"/>
                </a:solidFill>
                <a:latin typeface="Meiryo" pitchFamily="34" charset="0"/>
                <a:ea typeface="Meiryo" pitchFamily="34" charset="-122"/>
                <a:cs typeface="Meiryo" pitchFamily="34" charset="-120"/>
              </a:rPr>
              <a:t>市販製品を導入しないという提案ではありません。B（自動仕分け）は</a:t>
            </a:r>
            <a:r>
              <a:rPr lang="ja-JP" altLang="en-US" sz="1200" dirty="0">
                <a:solidFill>
                  <a:srgbClr val="6C8286"/>
                </a:solidFill>
                <a:latin typeface="Meiryo" pitchFamily="34" charset="0"/>
                <a:ea typeface="Meiryo" pitchFamily="34" charset="-122"/>
                <a:cs typeface="Meiryo" pitchFamily="34" charset="-120"/>
              </a:rPr>
              <a:t>スキャナオプションアプリの</a:t>
            </a:r>
            <a:r>
              <a:rPr lang="en-US" sz="1200" dirty="0" err="1">
                <a:solidFill>
                  <a:srgbClr val="6C8286"/>
                </a:solidFill>
                <a:latin typeface="Meiryo" pitchFamily="34" charset="0"/>
                <a:ea typeface="Meiryo" pitchFamily="34" charset="-122"/>
                <a:cs typeface="Meiryo" pitchFamily="34" charset="-120"/>
              </a:rPr>
              <a:t>評価版での検証を並行して進め、Cについても将来の導入時に設定情報を引き継</a:t>
            </a:r>
            <a:r>
              <a:rPr lang="ja-JP" altLang="en-US" sz="1200" dirty="0">
                <a:solidFill>
                  <a:srgbClr val="6C8286"/>
                </a:solidFill>
                <a:latin typeface="Meiryo" pitchFamily="34" charset="0"/>
                <a:ea typeface="Meiryo" pitchFamily="34" charset="-122"/>
                <a:cs typeface="Meiryo" pitchFamily="34" charset="-120"/>
              </a:rPr>
              <a:t>ぎ可能な構成</a:t>
            </a:r>
            <a:r>
              <a:rPr lang="en-US" sz="1200" dirty="0" err="1">
                <a:solidFill>
                  <a:srgbClr val="6C8286"/>
                </a:solidFill>
                <a:latin typeface="Meiryo" pitchFamily="34" charset="0"/>
                <a:ea typeface="Meiryo" pitchFamily="34" charset="-122"/>
                <a:cs typeface="Meiryo" pitchFamily="34" charset="-120"/>
              </a:rPr>
              <a:t>で設計しています</a:t>
            </a:r>
            <a:r>
              <a:rPr lang="en-US" sz="1200" dirty="0">
                <a:solidFill>
                  <a:srgbClr val="6C8286"/>
                </a:solidFill>
                <a:latin typeface="Meiryo" pitchFamily="34" charset="0"/>
                <a:ea typeface="Meiryo" pitchFamily="34" charset="-122"/>
                <a:cs typeface="Meiryo" pitchFamily="34" charset="-120"/>
              </a:rPr>
              <a: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29184"/>
            <a:ext cx="1371600" cy="402336"/>
          </a:xfrm>
          <a:prstGeom prst="roundRect">
            <a:avLst>
              <a:gd name="adj" fmla="val 18182"/>
            </a:avLst>
          </a:prstGeom>
          <a:solidFill>
            <a:srgbClr val="028090"/>
          </a:solidFill>
          <a:ln/>
        </p:spPr>
      </p:sp>
      <p:sp>
        <p:nvSpPr>
          <p:cNvPr id="3" name="Text 1"/>
          <p:cNvSpPr/>
          <p:nvPr/>
        </p:nvSpPr>
        <p:spPr>
          <a:xfrm>
            <a:off x="548640" y="329184"/>
            <a:ext cx="1371600"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pitchFamily="34" charset="0"/>
                <a:ea typeface="Meiryo" pitchFamily="34" charset="-122"/>
                <a:cs typeface="Meiryo" pitchFamily="34" charset="-120"/>
              </a:rPr>
              <a:t>目指す姿 A</a:t>
            </a:r>
            <a:endParaRPr lang="en-US" sz="1300" dirty="0"/>
          </a:p>
        </p:txBody>
      </p:sp>
      <p:sp>
        <p:nvSpPr>
          <p:cNvPr id="4" name="Text 2"/>
          <p:cNvSpPr/>
          <p:nvPr/>
        </p:nvSpPr>
        <p:spPr>
          <a:xfrm>
            <a:off x="2057400" y="292608"/>
            <a:ext cx="9555480" cy="475488"/>
          </a:xfrm>
          <a:prstGeom prst="rect">
            <a:avLst/>
          </a:prstGeom>
          <a:noFill/>
          <a:ln/>
        </p:spPr>
        <p:txBody>
          <a:bodyPr wrap="square" lIns="0" tIns="0" rIns="0" bIns="0" rtlCol="0" anchor="ctr"/>
          <a:lstStyle/>
          <a:p>
            <a:pPr marL="0" indent="0">
              <a:buNone/>
            </a:pPr>
            <a:r>
              <a:rPr lang="en-US" sz="2500" b="1" dirty="0">
                <a:solidFill>
                  <a:srgbClr val="0B3C46"/>
                </a:solidFill>
                <a:latin typeface="Meiryo" pitchFamily="34" charset="0"/>
                <a:ea typeface="Meiryo" pitchFamily="34" charset="-122"/>
                <a:cs typeface="Meiryo" pitchFamily="34" charset="-120"/>
              </a:rPr>
              <a:t>手術伝票プラス</a:t>
            </a:r>
            <a:endParaRPr lang="en-US" sz="2500" dirty="0"/>
          </a:p>
        </p:txBody>
      </p:sp>
      <p:pic>
        <p:nvPicPr>
          <p:cNvPr id="5" name="Image 0" descr="preencoded.png"/>
          <p:cNvPicPr>
            <a:picLocks noChangeAspect="1"/>
          </p:cNvPicPr>
          <p:nvPr/>
        </p:nvPicPr>
        <p:blipFill>
          <a:blip r:embed="rId3"/>
          <a:stretch>
            <a:fillRect/>
          </a:stretch>
        </p:blipFill>
        <p:spPr>
          <a:xfrm>
            <a:off x="548640" y="1097280"/>
            <a:ext cx="5669280" cy="4791456"/>
          </a:xfrm>
          <a:prstGeom prst="rect">
            <a:avLst/>
          </a:prstGeom>
        </p:spPr>
      </p:pic>
      <p:sp>
        <p:nvSpPr>
          <p:cNvPr id="6" name="Shape 3"/>
          <p:cNvSpPr/>
          <p:nvPr/>
        </p:nvSpPr>
        <p:spPr>
          <a:xfrm>
            <a:off x="6309360" y="1097280"/>
            <a:ext cx="5303520" cy="1463040"/>
          </a:xfrm>
          <a:prstGeom prst="roundRect">
            <a:avLst>
              <a:gd name="adj" fmla="val 3750"/>
            </a:avLst>
          </a:prstGeom>
          <a:solidFill>
            <a:srgbClr val="F4F8F9"/>
          </a:solidFill>
          <a:ln/>
        </p:spPr>
      </p:sp>
      <p:sp>
        <p:nvSpPr>
          <p:cNvPr id="7" name="Text 4"/>
          <p:cNvSpPr/>
          <p:nvPr/>
        </p:nvSpPr>
        <p:spPr>
          <a:xfrm>
            <a:off x="6565392" y="1261872"/>
            <a:ext cx="4791456" cy="274320"/>
          </a:xfrm>
          <a:prstGeom prst="rect">
            <a:avLst/>
          </a:prstGeom>
          <a:noFill/>
          <a:ln/>
        </p:spPr>
        <p:txBody>
          <a:bodyPr wrap="square" lIns="0" tIns="0" rIns="0" bIns="0" rtlCol="0" anchor="ctr"/>
          <a:lstStyle/>
          <a:p>
            <a:pPr marL="0" indent="0">
              <a:buNone/>
            </a:pPr>
            <a:r>
              <a:rPr lang="en-US" sz="1300" b="1" dirty="0">
                <a:solidFill>
                  <a:srgbClr val="028090"/>
                </a:solidFill>
                <a:latin typeface="Meiryo" pitchFamily="34" charset="0"/>
                <a:ea typeface="Meiryo" pitchFamily="34" charset="-122"/>
                <a:cs typeface="Meiryo" pitchFamily="34" charset="-120"/>
              </a:rPr>
              <a:t>機能</a:t>
            </a:r>
            <a:endParaRPr lang="en-US" sz="1300" dirty="0"/>
          </a:p>
        </p:txBody>
      </p:sp>
      <p:sp>
        <p:nvSpPr>
          <p:cNvPr id="8" name="Text 5"/>
          <p:cNvSpPr/>
          <p:nvPr/>
        </p:nvSpPr>
        <p:spPr>
          <a:xfrm>
            <a:off x="6565392" y="1572768"/>
            <a:ext cx="4791456" cy="822960"/>
          </a:xfrm>
          <a:prstGeom prst="rect">
            <a:avLst/>
          </a:prstGeom>
          <a:noFill/>
          <a:ln/>
        </p:spPr>
        <p:txBody>
          <a:bodyPr wrap="square" lIns="0" tIns="0" rIns="0" bIns="0" rtlCol="0" anchor="ctr"/>
          <a:lstStyle/>
          <a:p>
            <a:pPr marL="0" indent="0">
              <a:lnSpc>
                <a:spcPts val="1900"/>
              </a:lnSpc>
              <a:buNone/>
            </a:pPr>
            <a:r>
              <a:rPr lang="en-US" sz="1200" dirty="0">
                <a:solidFill>
                  <a:srgbClr val="23373C"/>
                </a:solidFill>
                <a:latin typeface="Meiryo" pitchFamily="34" charset="0"/>
                <a:ea typeface="Meiryo" pitchFamily="34" charset="-122"/>
                <a:cs typeface="Meiryo" pitchFamily="34" charset="-120"/>
              </a:rPr>
              <a:t>電子カルテ端末から出力した手術一覧CSVを読み込み、登録に必要な情報を含んだ手術記録用紙を自動生成します。</a:t>
            </a:r>
            <a:endParaRPr lang="en-US" sz="1200" dirty="0"/>
          </a:p>
        </p:txBody>
      </p:sp>
      <p:sp>
        <p:nvSpPr>
          <p:cNvPr id="9" name="Shape 6"/>
          <p:cNvSpPr/>
          <p:nvPr/>
        </p:nvSpPr>
        <p:spPr>
          <a:xfrm>
            <a:off x="6309360" y="2706624"/>
            <a:ext cx="5303520" cy="1600200"/>
          </a:xfrm>
          <a:prstGeom prst="roundRect">
            <a:avLst>
              <a:gd name="adj" fmla="val 3429"/>
            </a:avLst>
          </a:prstGeom>
          <a:solidFill>
            <a:srgbClr val="F4F8F9"/>
          </a:solidFill>
          <a:ln/>
        </p:spPr>
      </p:sp>
      <p:sp>
        <p:nvSpPr>
          <p:cNvPr id="10" name="Text 7"/>
          <p:cNvSpPr/>
          <p:nvPr/>
        </p:nvSpPr>
        <p:spPr>
          <a:xfrm>
            <a:off x="6565392" y="2871216"/>
            <a:ext cx="4791456" cy="274320"/>
          </a:xfrm>
          <a:prstGeom prst="rect">
            <a:avLst/>
          </a:prstGeom>
          <a:noFill/>
          <a:ln/>
        </p:spPr>
        <p:txBody>
          <a:bodyPr wrap="square" lIns="0" tIns="0" rIns="0" bIns="0" rtlCol="0" anchor="ctr"/>
          <a:lstStyle/>
          <a:p>
            <a:pPr marL="0" indent="0">
              <a:buNone/>
            </a:pPr>
            <a:r>
              <a:rPr lang="en-US" sz="1300" b="1" dirty="0">
                <a:solidFill>
                  <a:srgbClr val="028090"/>
                </a:solidFill>
                <a:latin typeface="Meiryo" pitchFamily="34" charset="0"/>
                <a:ea typeface="Meiryo" pitchFamily="34" charset="-122"/>
                <a:cs typeface="Meiryo" pitchFamily="34" charset="-120"/>
              </a:rPr>
              <a:t>この提案での位置づけ</a:t>
            </a:r>
            <a:endParaRPr lang="en-US" sz="1300" dirty="0"/>
          </a:p>
        </p:txBody>
      </p:sp>
      <p:sp>
        <p:nvSpPr>
          <p:cNvPr id="11" name="Text 8"/>
          <p:cNvSpPr/>
          <p:nvPr/>
        </p:nvSpPr>
        <p:spPr>
          <a:xfrm>
            <a:off x="6565392" y="3182112"/>
            <a:ext cx="4791456" cy="960120"/>
          </a:xfrm>
          <a:prstGeom prst="rect">
            <a:avLst/>
          </a:prstGeom>
          <a:noFill/>
          <a:ln/>
        </p:spPr>
        <p:txBody>
          <a:bodyPr wrap="square" lIns="0" tIns="0" rIns="0" bIns="0" rtlCol="0" anchor="ctr"/>
          <a:lstStyle/>
          <a:p>
            <a:pPr marL="0" indent="0">
              <a:lnSpc>
                <a:spcPts val="1900"/>
              </a:lnSpc>
              <a:buNone/>
            </a:pPr>
            <a:r>
              <a:rPr lang="en-US" sz="1200" dirty="0">
                <a:solidFill>
                  <a:srgbClr val="23373C"/>
                </a:solidFill>
                <a:latin typeface="Meiryo" pitchFamily="34" charset="0"/>
                <a:ea typeface="Meiryo" pitchFamily="34" charset="-122"/>
                <a:cs typeface="Meiryo" pitchFamily="34" charset="-120"/>
              </a:rPr>
              <a:t>性別・身長・体重など、これまで電子カルテを開いて調べていた情報が最初から印字されます。1症例ごとの確認作業がなくなります。</a:t>
            </a:r>
            <a:endParaRPr lang="en-US" sz="1200" dirty="0"/>
          </a:p>
        </p:txBody>
      </p:sp>
      <p:sp>
        <p:nvSpPr>
          <p:cNvPr id="12" name="Shape 9"/>
          <p:cNvSpPr/>
          <p:nvPr/>
        </p:nvSpPr>
        <p:spPr>
          <a:xfrm>
            <a:off x="6309360" y="4453128"/>
            <a:ext cx="5303520" cy="1371600"/>
          </a:xfrm>
          <a:prstGeom prst="roundRect">
            <a:avLst>
              <a:gd name="adj" fmla="val 4000"/>
            </a:avLst>
          </a:prstGeom>
          <a:solidFill>
            <a:srgbClr val="F4F8F9"/>
          </a:solidFill>
          <a:ln/>
        </p:spPr>
      </p:sp>
      <p:sp>
        <p:nvSpPr>
          <p:cNvPr id="13" name="Text 10"/>
          <p:cNvSpPr/>
          <p:nvPr/>
        </p:nvSpPr>
        <p:spPr>
          <a:xfrm>
            <a:off x="6565392" y="4617720"/>
            <a:ext cx="4791456" cy="274320"/>
          </a:xfrm>
          <a:prstGeom prst="rect">
            <a:avLst/>
          </a:prstGeom>
          <a:noFill/>
          <a:ln/>
        </p:spPr>
        <p:txBody>
          <a:bodyPr wrap="square" lIns="0" tIns="0" rIns="0" bIns="0" rtlCol="0" anchor="ctr"/>
          <a:lstStyle/>
          <a:p>
            <a:pPr marL="0" indent="0">
              <a:buNone/>
            </a:pPr>
            <a:r>
              <a:rPr lang="en-US" sz="1300" b="1" dirty="0">
                <a:solidFill>
                  <a:srgbClr val="C77700"/>
                </a:solidFill>
                <a:latin typeface="Meiryo" pitchFamily="34" charset="0"/>
                <a:ea typeface="Meiryo" pitchFamily="34" charset="-122"/>
                <a:cs typeface="Meiryo" pitchFamily="34" charset="-120"/>
              </a:rPr>
              <a:t>今後の計画</a:t>
            </a:r>
            <a:endParaRPr lang="en-US" sz="1300" dirty="0"/>
          </a:p>
        </p:txBody>
      </p:sp>
      <p:sp>
        <p:nvSpPr>
          <p:cNvPr id="14" name="Text 11"/>
          <p:cNvSpPr/>
          <p:nvPr/>
        </p:nvSpPr>
        <p:spPr>
          <a:xfrm>
            <a:off x="6565392" y="4928616"/>
            <a:ext cx="4791456" cy="731520"/>
          </a:xfrm>
          <a:prstGeom prst="rect">
            <a:avLst/>
          </a:prstGeom>
          <a:noFill/>
          <a:ln/>
        </p:spPr>
        <p:txBody>
          <a:bodyPr wrap="square" lIns="0" tIns="0" rIns="0" bIns="0" rtlCol="0" anchor="ctr"/>
          <a:lstStyle/>
          <a:p>
            <a:pPr marL="0" indent="0">
              <a:lnSpc>
                <a:spcPts val="1900"/>
              </a:lnSpc>
              <a:buNone/>
            </a:pPr>
            <a:r>
              <a:rPr lang="en-US" sz="1200" dirty="0">
                <a:solidFill>
                  <a:srgbClr val="23373C"/>
                </a:solidFill>
                <a:latin typeface="Meiryo" pitchFamily="34" charset="0"/>
                <a:ea typeface="Meiryo" pitchFamily="34" charset="-122"/>
                <a:cs typeface="Meiryo" pitchFamily="34" charset="-120"/>
              </a:rPr>
              <a:t>出力可能な項目をDWHから順次調査し、より網羅的な改良版を作成します。</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29184"/>
            <a:ext cx="1371600" cy="402336"/>
          </a:xfrm>
          <a:prstGeom prst="roundRect">
            <a:avLst>
              <a:gd name="adj" fmla="val 18182"/>
            </a:avLst>
          </a:prstGeom>
          <a:solidFill>
            <a:srgbClr val="028090"/>
          </a:solidFill>
          <a:ln/>
        </p:spPr>
      </p:sp>
      <p:sp>
        <p:nvSpPr>
          <p:cNvPr id="3" name="Text 1"/>
          <p:cNvSpPr/>
          <p:nvPr/>
        </p:nvSpPr>
        <p:spPr>
          <a:xfrm>
            <a:off x="548640" y="329184"/>
            <a:ext cx="1371600"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pitchFamily="34" charset="0"/>
                <a:ea typeface="Meiryo" pitchFamily="34" charset="-122"/>
                <a:cs typeface="Meiryo" pitchFamily="34" charset="-120"/>
              </a:rPr>
              <a:t>目指す姿 B</a:t>
            </a:r>
            <a:endParaRPr lang="en-US" sz="1300" dirty="0"/>
          </a:p>
        </p:txBody>
      </p:sp>
      <p:sp>
        <p:nvSpPr>
          <p:cNvPr id="4" name="Text 2"/>
          <p:cNvSpPr/>
          <p:nvPr/>
        </p:nvSpPr>
        <p:spPr>
          <a:xfrm>
            <a:off x="2057400" y="292608"/>
            <a:ext cx="9555480" cy="475488"/>
          </a:xfrm>
          <a:prstGeom prst="rect">
            <a:avLst/>
          </a:prstGeom>
          <a:noFill/>
          <a:ln/>
        </p:spPr>
        <p:txBody>
          <a:bodyPr wrap="square" lIns="0" tIns="0" rIns="0" bIns="0" rtlCol="0" anchor="ctr"/>
          <a:lstStyle/>
          <a:p>
            <a:pPr marL="0" indent="0">
              <a:buNone/>
            </a:pPr>
            <a:r>
              <a:rPr lang="en-US" sz="2500" b="1" dirty="0">
                <a:solidFill>
                  <a:srgbClr val="0B3C46"/>
                </a:solidFill>
                <a:latin typeface="Meiryo" pitchFamily="34" charset="0"/>
                <a:ea typeface="Meiryo" pitchFamily="34" charset="-122"/>
                <a:cs typeface="Meiryo" pitchFamily="34" charset="-120"/>
              </a:rPr>
              <a:t>PDFセパレーター</a:t>
            </a:r>
            <a:endParaRPr lang="en-US" sz="2500" dirty="0"/>
          </a:p>
        </p:txBody>
      </p:sp>
      <p:pic>
        <p:nvPicPr>
          <p:cNvPr id="5" name="Image 0" descr="preencoded.png"/>
          <p:cNvPicPr>
            <a:picLocks noChangeAspect="1"/>
          </p:cNvPicPr>
          <p:nvPr/>
        </p:nvPicPr>
        <p:blipFill>
          <a:blip r:embed="rId3"/>
          <a:stretch>
            <a:fillRect/>
          </a:stretch>
        </p:blipFill>
        <p:spPr>
          <a:xfrm>
            <a:off x="835152" y="1021080"/>
            <a:ext cx="4624493" cy="3983031"/>
          </a:xfrm>
          <a:prstGeom prst="rect">
            <a:avLst/>
          </a:prstGeom>
        </p:spPr>
      </p:pic>
      <p:sp>
        <p:nvSpPr>
          <p:cNvPr id="6" name="Shape 3"/>
          <p:cNvSpPr/>
          <p:nvPr/>
        </p:nvSpPr>
        <p:spPr>
          <a:xfrm>
            <a:off x="6309360" y="1097280"/>
            <a:ext cx="5303520" cy="1463040"/>
          </a:xfrm>
          <a:prstGeom prst="roundRect">
            <a:avLst>
              <a:gd name="adj" fmla="val 3750"/>
            </a:avLst>
          </a:prstGeom>
          <a:solidFill>
            <a:srgbClr val="F4F8F9"/>
          </a:solidFill>
          <a:ln/>
        </p:spPr>
      </p:sp>
      <p:sp>
        <p:nvSpPr>
          <p:cNvPr id="7" name="Text 4"/>
          <p:cNvSpPr/>
          <p:nvPr/>
        </p:nvSpPr>
        <p:spPr>
          <a:xfrm>
            <a:off x="6565392" y="1261872"/>
            <a:ext cx="4791456" cy="274320"/>
          </a:xfrm>
          <a:prstGeom prst="rect">
            <a:avLst/>
          </a:prstGeom>
          <a:noFill/>
          <a:ln/>
        </p:spPr>
        <p:txBody>
          <a:bodyPr wrap="square" lIns="0" tIns="0" rIns="0" bIns="0" rtlCol="0" anchor="ctr"/>
          <a:lstStyle/>
          <a:p>
            <a:pPr marL="0" indent="0">
              <a:buNone/>
            </a:pPr>
            <a:r>
              <a:rPr lang="en-US" sz="1300" b="1" dirty="0">
                <a:solidFill>
                  <a:srgbClr val="028090"/>
                </a:solidFill>
                <a:latin typeface="Meiryo" pitchFamily="34" charset="0"/>
                <a:ea typeface="Meiryo" pitchFamily="34" charset="-122"/>
                <a:cs typeface="Meiryo" pitchFamily="34" charset="-120"/>
              </a:rPr>
              <a:t>機能</a:t>
            </a:r>
            <a:endParaRPr lang="en-US" sz="1300" dirty="0"/>
          </a:p>
        </p:txBody>
      </p:sp>
      <p:sp>
        <p:nvSpPr>
          <p:cNvPr id="8" name="Text 5"/>
          <p:cNvSpPr/>
          <p:nvPr/>
        </p:nvSpPr>
        <p:spPr>
          <a:xfrm>
            <a:off x="6565392" y="1572768"/>
            <a:ext cx="4791456" cy="822960"/>
          </a:xfrm>
          <a:prstGeom prst="rect">
            <a:avLst/>
          </a:prstGeom>
          <a:noFill/>
          <a:ln/>
        </p:spPr>
        <p:txBody>
          <a:bodyPr wrap="square" lIns="0" tIns="0" rIns="0" bIns="0" rtlCol="0" anchor="ctr"/>
          <a:lstStyle/>
          <a:p>
            <a:pPr marL="0" indent="0">
              <a:lnSpc>
                <a:spcPts val="1900"/>
              </a:lnSpc>
              <a:buNone/>
            </a:pPr>
            <a:r>
              <a:rPr lang="en-US" sz="1200" dirty="0">
                <a:solidFill>
                  <a:srgbClr val="23373C"/>
                </a:solidFill>
                <a:latin typeface="Meiryo" pitchFamily="34" charset="0"/>
                <a:ea typeface="Meiryo" pitchFamily="34" charset="-122"/>
                <a:cs typeface="Meiryo" pitchFamily="34" charset="-120"/>
              </a:rPr>
              <a:t>複合機でまとめてスキャンした1つのPDFを、患者ごとのファイルに自動で分割します。ファイル名には術式も付与されます。</a:t>
            </a:r>
            <a:endParaRPr lang="en-US" sz="1200" dirty="0"/>
          </a:p>
        </p:txBody>
      </p:sp>
      <p:sp>
        <p:nvSpPr>
          <p:cNvPr id="9" name="Shape 6"/>
          <p:cNvSpPr/>
          <p:nvPr/>
        </p:nvSpPr>
        <p:spPr>
          <a:xfrm>
            <a:off x="6309360" y="2706624"/>
            <a:ext cx="5303520" cy="1600200"/>
          </a:xfrm>
          <a:prstGeom prst="roundRect">
            <a:avLst>
              <a:gd name="adj" fmla="val 3429"/>
            </a:avLst>
          </a:prstGeom>
          <a:solidFill>
            <a:srgbClr val="F4F8F9"/>
          </a:solidFill>
          <a:ln/>
        </p:spPr>
      </p:sp>
      <p:sp>
        <p:nvSpPr>
          <p:cNvPr id="10" name="Text 7"/>
          <p:cNvSpPr/>
          <p:nvPr/>
        </p:nvSpPr>
        <p:spPr>
          <a:xfrm>
            <a:off x="6565392" y="2871216"/>
            <a:ext cx="4791456" cy="274320"/>
          </a:xfrm>
          <a:prstGeom prst="rect">
            <a:avLst/>
          </a:prstGeom>
          <a:noFill/>
          <a:ln/>
        </p:spPr>
        <p:txBody>
          <a:bodyPr wrap="square" lIns="0" tIns="0" rIns="0" bIns="0" rtlCol="0" anchor="ctr"/>
          <a:lstStyle/>
          <a:p>
            <a:pPr marL="0" indent="0">
              <a:buNone/>
            </a:pPr>
            <a:r>
              <a:rPr lang="en-US" sz="1300" b="1" dirty="0">
                <a:solidFill>
                  <a:srgbClr val="028090"/>
                </a:solidFill>
                <a:latin typeface="Meiryo" pitchFamily="34" charset="0"/>
                <a:ea typeface="Meiryo" pitchFamily="34" charset="-122"/>
                <a:cs typeface="Meiryo" pitchFamily="34" charset="-120"/>
              </a:rPr>
              <a:t>この提案での位置づけ</a:t>
            </a:r>
            <a:endParaRPr lang="en-US" sz="1300" dirty="0"/>
          </a:p>
        </p:txBody>
      </p:sp>
      <p:sp>
        <p:nvSpPr>
          <p:cNvPr id="11" name="Text 8"/>
          <p:cNvSpPr/>
          <p:nvPr/>
        </p:nvSpPr>
        <p:spPr>
          <a:xfrm>
            <a:off x="6565392" y="3182112"/>
            <a:ext cx="4791456" cy="960120"/>
          </a:xfrm>
          <a:prstGeom prst="rect">
            <a:avLst/>
          </a:prstGeom>
          <a:noFill/>
          <a:ln/>
        </p:spPr>
        <p:txBody>
          <a:bodyPr wrap="square" lIns="0" tIns="0" rIns="0" bIns="0" rtlCol="0" anchor="ctr"/>
          <a:lstStyle/>
          <a:p>
            <a:pPr marL="0" indent="0">
              <a:lnSpc>
                <a:spcPts val="1900"/>
              </a:lnSpc>
              <a:buNone/>
            </a:pPr>
            <a:r>
              <a:rPr lang="en-US" sz="1200" dirty="0">
                <a:solidFill>
                  <a:srgbClr val="23373C"/>
                </a:solidFill>
                <a:latin typeface="Meiryo" pitchFamily="34" charset="0"/>
                <a:ea typeface="Meiryo" pitchFamily="34" charset="-122"/>
                <a:cs typeface="Meiryo" pitchFamily="34" charset="-120"/>
              </a:rPr>
              <a:t>患者ごとにスキャンし直す必要がなくなります。ブラウザ上で完結するため、追加のソフト導入も不要です。</a:t>
            </a:r>
            <a:endParaRPr lang="en-US" sz="1200" dirty="0"/>
          </a:p>
        </p:txBody>
      </p:sp>
      <p:sp>
        <p:nvSpPr>
          <p:cNvPr id="12" name="Shape 9"/>
          <p:cNvSpPr/>
          <p:nvPr/>
        </p:nvSpPr>
        <p:spPr>
          <a:xfrm>
            <a:off x="6309360" y="4453128"/>
            <a:ext cx="5303520" cy="1371600"/>
          </a:xfrm>
          <a:prstGeom prst="roundRect">
            <a:avLst>
              <a:gd name="adj" fmla="val 4000"/>
            </a:avLst>
          </a:prstGeom>
          <a:solidFill>
            <a:srgbClr val="F4F8F9"/>
          </a:solidFill>
          <a:ln/>
        </p:spPr>
      </p:sp>
      <p:sp>
        <p:nvSpPr>
          <p:cNvPr id="13" name="Text 10"/>
          <p:cNvSpPr/>
          <p:nvPr/>
        </p:nvSpPr>
        <p:spPr>
          <a:xfrm>
            <a:off x="6565392" y="4617720"/>
            <a:ext cx="4791456" cy="274320"/>
          </a:xfrm>
          <a:prstGeom prst="rect">
            <a:avLst/>
          </a:prstGeom>
          <a:noFill/>
          <a:ln/>
        </p:spPr>
        <p:txBody>
          <a:bodyPr wrap="square" lIns="0" tIns="0" rIns="0" bIns="0" rtlCol="0" anchor="ctr"/>
          <a:lstStyle/>
          <a:p>
            <a:pPr marL="0" indent="0">
              <a:buNone/>
            </a:pPr>
            <a:r>
              <a:rPr lang="en-US" sz="1300" b="1" dirty="0">
                <a:solidFill>
                  <a:srgbClr val="C77700"/>
                </a:solidFill>
                <a:latin typeface="Meiryo" pitchFamily="34" charset="0"/>
                <a:ea typeface="Meiryo" pitchFamily="34" charset="-122"/>
                <a:cs typeface="Meiryo" pitchFamily="34" charset="-120"/>
              </a:rPr>
              <a:t>今後の計画</a:t>
            </a:r>
            <a:endParaRPr lang="en-US" sz="1300" dirty="0"/>
          </a:p>
        </p:txBody>
      </p:sp>
      <p:sp>
        <p:nvSpPr>
          <p:cNvPr id="14" name="Text 11"/>
          <p:cNvSpPr/>
          <p:nvPr/>
        </p:nvSpPr>
        <p:spPr>
          <a:xfrm>
            <a:off x="6565392" y="4928616"/>
            <a:ext cx="4791456" cy="731520"/>
          </a:xfrm>
          <a:prstGeom prst="rect">
            <a:avLst/>
          </a:prstGeom>
          <a:noFill/>
          <a:ln/>
        </p:spPr>
        <p:txBody>
          <a:bodyPr wrap="square" lIns="0" tIns="0" rIns="0" bIns="0" rtlCol="0" anchor="ctr"/>
          <a:lstStyle/>
          <a:p>
            <a:pPr marL="0" indent="0">
              <a:lnSpc>
                <a:spcPts val="1900"/>
              </a:lnSpc>
              <a:buNone/>
            </a:pPr>
            <a:r>
              <a:rPr lang="en-US" sz="1200" dirty="0">
                <a:solidFill>
                  <a:srgbClr val="23373C"/>
                </a:solidFill>
                <a:latin typeface="Meiryo" pitchFamily="34" charset="0"/>
                <a:ea typeface="Meiryo" pitchFamily="34" charset="-122"/>
                <a:cs typeface="Meiryo" pitchFamily="34" charset="-120"/>
              </a:rPr>
              <a:t>市販の PaperStream Capture Pro の無償評価版で同等の処理を検証し、費用と運用の両面から比較します。</a:t>
            </a:r>
            <a:endParaRPr lang="en-US" sz="1200" dirty="0"/>
          </a:p>
        </p:txBody>
      </p:sp>
      <p:pic>
        <p:nvPicPr>
          <p:cNvPr id="16" name="図 15">
            <a:extLst>
              <a:ext uri="{FF2B5EF4-FFF2-40B4-BE49-F238E27FC236}">
                <a16:creationId xmlns:a16="http://schemas.microsoft.com/office/drawing/2014/main" id="{2698AE21-0886-41D9-97F5-1FEA732F6B48}"/>
              </a:ext>
            </a:extLst>
          </p:cNvPr>
          <p:cNvPicPr>
            <a:picLocks noChangeAspect="1"/>
          </p:cNvPicPr>
          <p:nvPr/>
        </p:nvPicPr>
        <p:blipFill>
          <a:blip r:embed="rId4"/>
          <a:stretch>
            <a:fillRect/>
          </a:stretch>
        </p:blipFill>
        <p:spPr>
          <a:xfrm>
            <a:off x="1405249" y="5005635"/>
            <a:ext cx="2962688" cy="10669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29184"/>
            <a:ext cx="1371600" cy="402336"/>
          </a:xfrm>
          <a:prstGeom prst="roundRect">
            <a:avLst>
              <a:gd name="adj" fmla="val 18182"/>
            </a:avLst>
          </a:prstGeom>
          <a:solidFill>
            <a:srgbClr val="028090"/>
          </a:solidFill>
          <a:ln/>
        </p:spPr>
      </p:sp>
      <p:sp>
        <p:nvSpPr>
          <p:cNvPr id="3" name="Text 1"/>
          <p:cNvSpPr/>
          <p:nvPr/>
        </p:nvSpPr>
        <p:spPr>
          <a:xfrm>
            <a:off x="548640" y="329184"/>
            <a:ext cx="1371600"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pitchFamily="34" charset="0"/>
                <a:ea typeface="Meiryo" pitchFamily="34" charset="-122"/>
                <a:cs typeface="Meiryo" pitchFamily="34" charset="-120"/>
              </a:rPr>
              <a:t>目指す姿 C</a:t>
            </a:r>
            <a:endParaRPr lang="en-US" sz="1300" dirty="0"/>
          </a:p>
        </p:txBody>
      </p:sp>
      <p:sp>
        <p:nvSpPr>
          <p:cNvPr id="4" name="Text 2"/>
          <p:cNvSpPr/>
          <p:nvPr/>
        </p:nvSpPr>
        <p:spPr>
          <a:xfrm>
            <a:off x="2057400" y="292608"/>
            <a:ext cx="9555480" cy="475488"/>
          </a:xfrm>
          <a:prstGeom prst="rect">
            <a:avLst/>
          </a:prstGeom>
          <a:noFill/>
          <a:ln/>
        </p:spPr>
        <p:txBody>
          <a:bodyPr wrap="square" lIns="0" tIns="0" rIns="0" bIns="0" rtlCol="0" anchor="ctr"/>
          <a:lstStyle/>
          <a:p>
            <a:pPr marL="0" indent="0">
              <a:buNone/>
            </a:pPr>
            <a:r>
              <a:rPr lang="en-US" sz="2500" b="1" dirty="0">
                <a:solidFill>
                  <a:srgbClr val="0B3C46"/>
                </a:solidFill>
                <a:latin typeface="Meiryo" pitchFamily="34" charset="0"/>
                <a:ea typeface="Meiryo" pitchFamily="34" charset="-122"/>
                <a:cs typeface="Meiryo" pitchFamily="34" charset="-120"/>
              </a:rPr>
              <a:t>オペコピ</a:t>
            </a:r>
            <a:endParaRPr lang="en-US" sz="2500" dirty="0"/>
          </a:p>
        </p:txBody>
      </p:sp>
      <p:pic>
        <p:nvPicPr>
          <p:cNvPr id="5" name="Image 0" descr="preencoded.png"/>
          <p:cNvPicPr>
            <a:picLocks noChangeAspect="1"/>
          </p:cNvPicPr>
          <p:nvPr/>
        </p:nvPicPr>
        <p:blipFill>
          <a:blip r:embed="rId3"/>
          <a:stretch>
            <a:fillRect/>
          </a:stretch>
        </p:blipFill>
        <p:spPr>
          <a:xfrm>
            <a:off x="548640" y="1097280"/>
            <a:ext cx="2468880" cy="4636008"/>
          </a:xfrm>
          <a:prstGeom prst="rect">
            <a:avLst/>
          </a:prstGeom>
        </p:spPr>
      </p:pic>
      <p:pic>
        <p:nvPicPr>
          <p:cNvPr id="6" name="Image 1" descr="preencoded.png"/>
          <p:cNvPicPr>
            <a:picLocks noChangeAspect="1"/>
          </p:cNvPicPr>
          <p:nvPr/>
        </p:nvPicPr>
        <p:blipFill>
          <a:blip r:embed="rId4"/>
          <a:stretch>
            <a:fillRect/>
          </a:stretch>
        </p:blipFill>
        <p:spPr>
          <a:xfrm>
            <a:off x="3200400" y="1097280"/>
            <a:ext cx="2377440" cy="4636008"/>
          </a:xfrm>
          <a:prstGeom prst="rect">
            <a:avLst/>
          </a:prstGeom>
        </p:spPr>
      </p:pic>
      <p:sp>
        <p:nvSpPr>
          <p:cNvPr id="7" name="Shape 3"/>
          <p:cNvSpPr/>
          <p:nvPr/>
        </p:nvSpPr>
        <p:spPr>
          <a:xfrm>
            <a:off x="6309360" y="1097280"/>
            <a:ext cx="5303520" cy="1463040"/>
          </a:xfrm>
          <a:prstGeom prst="roundRect">
            <a:avLst>
              <a:gd name="adj" fmla="val 3750"/>
            </a:avLst>
          </a:prstGeom>
          <a:solidFill>
            <a:srgbClr val="F4F8F9"/>
          </a:solidFill>
          <a:ln/>
        </p:spPr>
      </p:sp>
      <p:sp>
        <p:nvSpPr>
          <p:cNvPr id="8" name="Text 4"/>
          <p:cNvSpPr/>
          <p:nvPr/>
        </p:nvSpPr>
        <p:spPr>
          <a:xfrm>
            <a:off x="6565392" y="1261872"/>
            <a:ext cx="4791456" cy="274320"/>
          </a:xfrm>
          <a:prstGeom prst="rect">
            <a:avLst/>
          </a:prstGeom>
          <a:noFill/>
          <a:ln/>
        </p:spPr>
        <p:txBody>
          <a:bodyPr wrap="square" lIns="0" tIns="0" rIns="0" bIns="0" rtlCol="0" anchor="ctr"/>
          <a:lstStyle/>
          <a:p>
            <a:pPr marL="0" indent="0">
              <a:buNone/>
            </a:pPr>
            <a:r>
              <a:rPr lang="en-US" sz="1300" b="1" dirty="0">
                <a:solidFill>
                  <a:srgbClr val="028090"/>
                </a:solidFill>
                <a:latin typeface="Meiryo" pitchFamily="34" charset="0"/>
                <a:ea typeface="Meiryo" pitchFamily="34" charset="-122"/>
                <a:cs typeface="Meiryo" pitchFamily="34" charset="-120"/>
              </a:rPr>
              <a:t>機能</a:t>
            </a:r>
            <a:endParaRPr lang="en-US" sz="1300" dirty="0"/>
          </a:p>
        </p:txBody>
      </p:sp>
      <p:sp>
        <p:nvSpPr>
          <p:cNvPr id="9" name="Text 5"/>
          <p:cNvSpPr/>
          <p:nvPr/>
        </p:nvSpPr>
        <p:spPr>
          <a:xfrm>
            <a:off x="6565392" y="1572768"/>
            <a:ext cx="4791456" cy="822960"/>
          </a:xfrm>
          <a:prstGeom prst="rect">
            <a:avLst/>
          </a:prstGeom>
          <a:noFill/>
          <a:ln/>
        </p:spPr>
        <p:txBody>
          <a:bodyPr wrap="square" lIns="0" tIns="0" rIns="0" bIns="0" rtlCol="0" anchor="ctr"/>
          <a:lstStyle/>
          <a:p>
            <a:pPr marL="0" indent="0">
              <a:lnSpc>
                <a:spcPts val="1900"/>
              </a:lnSpc>
              <a:buNone/>
            </a:pPr>
            <a:r>
              <a:rPr lang="en-US" sz="1200" dirty="0">
                <a:solidFill>
                  <a:srgbClr val="23373C"/>
                </a:solidFill>
                <a:latin typeface="Meiryo" pitchFamily="34" charset="0"/>
                <a:ea typeface="Meiryo" pitchFamily="34" charset="-122"/>
                <a:cs typeface="Meiryo" pitchFamily="34" charset="-120"/>
              </a:rPr>
              <a:t>分割されたPDFを読み取り、JOANR登録フォームと同じ順番に情報を並べて表示します。術式は登録可能な候補から提示されます。</a:t>
            </a:r>
            <a:endParaRPr lang="en-US" sz="1200" dirty="0"/>
          </a:p>
        </p:txBody>
      </p:sp>
      <p:sp>
        <p:nvSpPr>
          <p:cNvPr id="10" name="Shape 6"/>
          <p:cNvSpPr/>
          <p:nvPr/>
        </p:nvSpPr>
        <p:spPr>
          <a:xfrm>
            <a:off x="6309360" y="2706624"/>
            <a:ext cx="5303520" cy="1600200"/>
          </a:xfrm>
          <a:prstGeom prst="roundRect">
            <a:avLst>
              <a:gd name="adj" fmla="val 3429"/>
            </a:avLst>
          </a:prstGeom>
          <a:solidFill>
            <a:srgbClr val="F4F8F9"/>
          </a:solidFill>
          <a:ln/>
        </p:spPr>
      </p:sp>
      <p:sp>
        <p:nvSpPr>
          <p:cNvPr id="11" name="Text 7"/>
          <p:cNvSpPr/>
          <p:nvPr/>
        </p:nvSpPr>
        <p:spPr>
          <a:xfrm>
            <a:off x="6565392" y="2871216"/>
            <a:ext cx="4791456" cy="274320"/>
          </a:xfrm>
          <a:prstGeom prst="rect">
            <a:avLst/>
          </a:prstGeom>
          <a:noFill/>
          <a:ln/>
        </p:spPr>
        <p:txBody>
          <a:bodyPr wrap="square" lIns="0" tIns="0" rIns="0" bIns="0" rtlCol="0" anchor="ctr"/>
          <a:lstStyle/>
          <a:p>
            <a:pPr marL="0" indent="0">
              <a:buNone/>
            </a:pPr>
            <a:r>
              <a:rPr lang="en-US" sz="1300" b="1" dirty="0">
                <a:solidFill>
                  <a:srgbClr val="028090"/>
                </a:solidFill>
                <a:latin typeface="Meiryo" pitchFamily="34" charset="0"/>
                <a:ea typeface="Meiryo" pitchFamily="34" charset="-122"/>
                <a:cs typeface="Meiryo" pitchFamily="34" charset="-120"/>
              </a:rPr>
              <a:t>この提案での位置づけ</a:t>
            </a:r>
            <a:endParaRPr lang="en-US" sz="1300" dirty="0"/>
          </a:p>
        </p:txBody>
      </p:sp>
      <p:sp>
        <p:nvSpPr>
          <p:cNvPr id="12" name="Text 8"/>
          <p:cNvSpPr/>
          <p:nvPr/>
        </p:nvSpPr>
        <p:spPr>
          <a:xfrm>
            <a:off x="6565392" y="3182112"/>
            <a:ext cx="4791456" cy="960120"/>
          </a:xfrm>
          <a:prstGeom prst="rect">
            <a:avLst/>
          </a:prstGeom>
          <a:noFill/>
          <a:ln/>
        </p:spPr>
        <p:txBody>
          <a:bodyPr wrap="square" lIns="0" tIns="0" rIns="0" bIns="0" rtlCol="0" anchor="ctr"/>
          <a:lstStyle/>
          <a:p>
            <a:pPr marL="0" indent="0">
              <a:lnSpc>
                <a:spcPts val="1900"/>
              </a:lnSpc>
              <a:buNone/>
            </a:pPr>
            <a:r>
              <a:rPr lang="en-US" sz="1200" dirty="0">
                <a:solidFill>
                  <a:srgbClr val="23373C"/>
                </a:solidFill>
                <a:latin typeface="Meiryo" pitchFamily="34" charset="0"/>
                <a:ea typeface="Meiryo" pitchFamily="34" charset="-122"/>
                <a:cs typeface="Meiryo" pitchFamily="34" charset="-120"/>
              </a:rPr>
              <a:t>目線の往復とスクロールがなくなり、入力ミスと所要時間が減ります。課題03の術式探しも、候補提示によって解消されます。</a:t>
            </a:r>
            <a:endParaRPr lang="en-US" sz="1200" dirty="0"/>
          </a:p>
        </p:txBody>
      </p:sp>
      <p:sp>
        <p:nvSpPr>
          <p:cNvPr id="13" name="Shape 9"/>
          <p:cNvSpPr/>
          <p:nvPr/>
        </p:nvSpPr>
        <p:spPr>
          <a:xfrm>
            <a:off x="6309360" y="4453128"/>
            <a:ext cx="5303520" cy="1371600"/>
          </a:xfrm>
          <a:prstGeom prst="roundRect">
            <a:avLst>
              <a:gd name="adj" fmla="val 4000"/>
            </a:avLst>
          </a:prstGeom>
          <a:solidFill>
            <a:srgbClr val="F4F8F9"/>
          </a:solidFill>
          <a:ln/>
        </p:spPr>
      </p:sp>
      <p:sp>
        <p:nvSpPr>
          <p:cNvPr id="14" name="Text 10"/>
          <p:cNvSpPr/>
          <p:nvPr/>
        </p:nvSpPr>
        <p:spPr>
          <a:xfrm>
            <a:off x="6565392" y="4617720"/>
            <a:ext cx="4791456" cy="274320"/>
          </a:xfrm>
          <a:prstGeom prst="rect">
            <a:avLst/>
          </a:prstGeom>
          <a:noFill/>
          <a:ln/>
        </p:spPr>
        <p:txBody>
          <a:bodyPr wrap="square" lIns="0" tIns="0" rIns="0" bIns="0" rtlCol="0" anchor="ctr"/>
          <a:lstStyle/>
          <a:p>
            <a:pPr marL="0" indent="0">
              <a:buNone/>
            </a:pPr>
            <a:r>
              <a:rPr lang="en-US" sz="1300" b="1" dirty="0">
                <a:solidFill>
                  <a:srgbClr val="C77700"/>
                </a:solidFill>
                <a:latin typeface="Meiryo" pitchFamily="34" charset="0"/>
                <a:ea typeface="Meiryo" pitchFamily="34" charset="-122"/>
                <a:cs typeface="Meiryo" pitchFamily="34" charset="-120"/>
              </a:rPr>
              <a:t>今後の計画</a:t>
            </a:r>
            <a:endParaRPr lang="en-US" sz="1300" dirty="0"/>
          </a:p>
        </p:txBody>
      </p:sp>
      <p:sp>
        <p:nvSpPr>
          <p:cNvPr id="15" name="Text 11"/>
          <p:cNvSpPr/>
          <p:nvPr/>
        </p:nvSpPr>
        <p:spPr>
          <a:xfrm>
            <a:off x="6565392" y="4928616"/>
            <a:ext cx="4791456" cy="731520"/>
          </a:xfrm>
          <a:prstGeom prst="rect">
            <a:avLst/>
          </a:prstGeom>
          <a:noFill/>
          <a:ln/>
        </p:spPr>
        <p:txBody>
          <a:bodyPr wrap="square" lIns="0" tIns="0" rIns="0" bIns="0" rtlCol="0" anchor="ctr"/>
          <a:lstStyle/>
          <a:p>
            <a:pPr marL="0" indent="0">
              <a:lnSpc>
                <a:spcPts val="1900"/>
              </a:lnSpc>
              <a:buNone/>
            </a:pPr>
            <a:r>
              <a:rPr lang="en-US" sz="1200" dirty="0" err="1">
                <a:solidFill>
                  <a:srgbClr val="23373C"/>
                </a:solidFill>
                <a:latin typeface="Meiryo" pitchFamily="34" charset="0"/>
                <a:ea typeface="Meiryo" pitchFamily="34" charset="-122"/>
                <a:cs typeface="Meiryo" pitchFamily="34" charset="-120"/>
              </a:rPr>
              <a:t>DA課による読み取り設定の調整で精度を高めます。材料シールのキーワードなども随時更新し</a:t>
            </a:r>
            <a:r>
              <a:rPr lang="ja-JP" altLang="en-US" sz="1200" dirty="0">
                <a:solidFill>
                  <a:srgbClr val="23373C"/>
                </a:solidFill>
                <a:latin typeface="Meiryo" pitchFamily="34" charset="0"/>
                <a:ea typeface="Meiryo" pitchFamily="34" charset="-122"/>
                <a:cs typeface="Meiryo" pitchFamily="34" charset="-120"/>
              </a:rPr>
              <a:t>ていってもらいます。</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01752"/>
            <a:ext cx="11064240" cy="502920"/>
          </a:xfrm>
          <a:prstGeom prst="rect">
            <a:avLst/>
          </a:prstGeom>
          <a:noFill/>
          <a:ln/>
        </p:spPr>
        <p:txBody>
          <a:bodyPr wrap="square" lIns="0" tIns="0" rIns="0" bIns="0" rtlCol="0" anchor="ctr"/>
          <a:lstStyle/>
          <a:p>
            <a:pPr marL="0" indent="0">
              <a:buNone/>
            </a:pPr>
            <a:r>
              <a:rPr lang="en-US" sz="3000" b="1" dirty="0">
                <a:solidFill>
                  <a:srgbClr val="1F2933"/>
                </a:solidFill>
                <a:latin typeface="Calibri" pitchFamily="34" charset="0"/>
                <a:ea typeface="Calibri" pitchFamily="34" charset="-122"/>
                <a:cs typeface="Calibri" pitchFamily="34" charset="-120"/>
              </a:rPr>
              <a:t>オペコピ ― データの流れとセキュリティ</a:t>
            </a:r>
            <a:endParaRPr lang="en-US" sz="30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300" dirty="0">
                <a:solidFill>
                  <a:srgbClr val="6B7680"/>
                </a:solidFill>
                <a:latin typeface="Calibri" pitchFamily="34" charset="0"/>
                <a:ea typeface="Calibri" pitchFamily="34" charset="-122"/>
                <a:cs typeface="Calibri" pitchFamily="34" charset="-120"/>
              </a:rPr>
              <a:t>手術記録用紙を読み取り、JOANR入力を補助する院内ツール</a:t>
            </a:r>
            <a:endParaRPr lang="en-US" sz="1300" dirty="0"/>
          </a:p>
        </p:txBody>
      </p:sp>
      <p:sp>
        <p:nvSpPr>
          <p:cNvPr id="4" name="Shape 2"/>
          <p:cNvSpPr/>
          <p:nvPr/>
        </p:nvSpPr>
        <p:spPr>
          <a:xfrm>
            <a:off x="411480" y="1298448"/>
            <a:ext cx="3017520" cy="2331720"/>
          </a:xfrm>
          <a:prstGeom prst="roundRect">
            <a:avLst>
              <a:gd name="adj" fmla="val 3922"/>
            </a:avLst>
          </a:prstGeom>
          <a:solidFill>
            <a:srgbClr val="EFF6F6"/>
          </a:solidFill>
          <a:ln w="19050">
            <a:solidFill>
              <a:srgbClr val="00A896"/>
            </a:solidFill>
            <a:prstDash val="dash"/>
          </a:ln>
        </p:spPr>
      </p:sp>
      <p:sp>
        <p:nvSpPr>
          <p:cNvPr id="5" name="Text 3"/>
          <p:cNvSpPr/>
          <p:nvPr/>
        </p:nvSpPr>
        <p:spPr>
          <a:xfrm>
            <a:off x="411480" y="1371600"/>
            <a:ext cx="3017520" cy="256032"/>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院内ネットワーク</a:t>
            </a:r>
            <a:endParaRPr lang="en-US" sz="1100" dirty="0"/>
          </a:p>
        </p:txBody>
      </p:sp>
      <p:sp>
        <p:nvSpPr>
          <p:cNvPr id="6" name="Shape 4"/>
          <p:cNvSpPr/>
          <p:nvPr/>
        </p:nvSpPr>
        <p:spPr>
          <a:xfrm>
            <a:off x="621792" y="1737360"/>
            <a:ext cx="2596896" cy="1188720"/>
          </a:xfrm>
          <a:prstGeom prst="roundRect">
            <a:avLst>
              <a:gd name="adj" fmla="val 6154"/>
            </a:avLst>
          </a:prstGeom>
          <a:solidFill>
            <a:srgbClr val="FFFFFF"/>
          </a:solidFill>
          <a:ln w="12700">
            <a:solidFill>
              <a:srgbClr val="D8DFE2"/>
            </a:solidFill>
            <a:prstDash val="solid"/>
          </a:ln>
          <a:effectLst>
            <a:outerShdw blurRad="76200" dist="12700" dir="5400000" algn="bl" rotWithShape="0">
              <a:srgbClr val="AAB4B8">
                <a:alpha val="35000"/>
              </a:srgbClr>
            </a:outerShdw>
          </a:effectLst>
        </p:spPr>
      </p:sp>
      <p:sp>
        <p:nvSpPr>
          <p:cNvPr id="7" name="Text 5"/>
          <p:cNvSpPr/>
          <p:nvPr/>
        </p:nvSpPr>
        <p:spPr>
          <a:xfrm>
            <a:off x="621792" y="1874520"/>
            <a:ext cx="2596896" cy="274320"/>
          </a:xfrm>
          <a:prstGeom prst="rect">
            <a:avLst/>
          </a:prstGeom>
          <a:noFill/>
          <a:ln/>
        </p:spPr>
        <p:txBody>
          <a:bodyPr wrap="square" lIns="0" tIns="0" rIns="0" bIns="0" rtlCol="0" anchor="ctr"/>
          <a:lstStyle/>
          <a:p>
            <a:pPr marL="0" indent="0" algn="ctr">
              <a:buNone/>
            </a:pPr>
            <a:r>
              <a:rPr lang="en-US" sz="1400" b="1" dirty="0">
                <a:solidFill>
                  <a:srgbClr val="1F2933"/>
                </a:solidFill>
                <a:latin typeface="Calibri" pitchFamily="34" charset="0"/>
                <a:ea typeface="Calibri" pitchFamily="34" charset="-122"/>
                <a:cs typeface="Calibri" pitchFamily="34" charset="-120"/>
              </a:rPr>
              <a:t>院内PC / サイドバー</a:t>
            </a:r>
            <a:endParaRPr lang="en-US" sz="1400" dirty="0"/>
          </a:p>
        </p:txBody>
      </p:sp>
      <p:sp>
        <p:nvSpPr>
          <p:cNvPr id="8" name="Text 6"/>
          <p:cNvSpPr/>
          <p:nvPr/>
        </p:nvSpPr>
        <p:spPr>
          <a:xfrm>
            <a:off x="713232" y="2194560"/>
            <a:ext cx="2414016" cy="640080"/>
          </a:xfrm>
          <a:prstGeom prst="rect">
            <a:avLst/>
          </a:prstGeom>
          <a:noFill/>
          <a:ln/>
        </p:spPr>
        <p:txBody>
          <a:bodyPr wrap="square" lIns="0" tIns="0" rIns="0" bIns="0" rtlCol="0" anchor="ctr"/>
          <a:lstStyle/>
          <a:p>
            <a:pPr marL="0" indent="0" algn="ctr">
              <a:lnSpc>
                <a:spcPct val="115000"/>
              </a:lnSpc>
              <a:buNone/>
            </a:pPr>
            <a:r>
              <a:rPr lang="en-US" sz="1050" dirty="0">
                <a:solidFill>
                  <a:srgbClr val="6B7680"/>
                </a:solidFill>
                <a:latin typeface="Calibri" pitchFamily="34" charset="0"/>
                <a:ea typeface="Calibri" pitchFamily="34" charset="-122"/>
                <a:cs typeface="Calibri" pitchFamily="34" charset="-120"/>
              </a:rPr>
              <a:t>PDFを読み込み、ページごとに</a:t>
            </a:r>
            <a:endParaRPr lang="en-US" sz="1050" dirty="0"/>
          </a:p>
          <a:p>
            <a:pPr marL="0" indent="0" algn="ctr">
              <a:lnSpc>
                <a:spcPct val="115000"/>
              </a:lnSpc>
              <a:buNone/>
            </a:pPr>
            <a:r>
              <a:rPr lang="en-US" sz="1050" dirty="0">
                <a:solidFill>
                  <a:srgbClr val="6B7680"/>
                </a:solidFill>
                <a:latin typeface="Calibri" pitchFamily="34" charset="0"/>
                <a:ea typeface="Calibri" pitchFamily="34" charset="-122"/>
                <a:cs typeface="Calibri" pitchFamily="34" charset="-120"/>
              </a:rPr>
              <a:t>「送る / 送らない」を選ぶ</a:t>
            </a:r>
            <a:endParaRPr lang="en-US" sz="1050" dirty="0"/>
          </a:p>
        </p:txBody>
      </p:sp>
      <p:sp>
        <p:nvSpPr>
          <p:cNvPr id="9" name="Text 7"/>
          <p:cNvSpPr/>
          <p:nvPr/>
        </p:nvSpPr>
        <p:spPr>
          <a:xfrm>
            <a:off x="411480" y="3246120"/>
            <a:ext cx="3017520" cy="256032"/>
          </a:xfrm>
          <a:prstGeom prst="rect">
            <a:avLst/>
          </a:prstGeom>
          <a:noFill/>
          <a:ln/>
        </p:spPr>
        <p:txBody>
          <a:bodyPr wrap="square" lIns="0" tIns="0" rIns="0" bIns="0" rtlCol="0" anchor="ctr"/>
          <a:lstStyle/>
          <a:p>
            <a:pPr marL="0" indent="0" algn="ctr">
              <a:buNone/>
            </a:pPr>
            <a:r>
              <a:rPr lang="en-US" sz="1050" b="1" dirty="0">
                <a:solidFill>
                  <a:srgbClr val="028090"/>
                </a:solidFill>
                <a:latin typeface="Calibri" pitchFamily="34" charset="0"/>
                <a:ea typeface="Calibri" pitchFamily="34" charset="-122"/>
                <a:cs typeface="Calibri" pitchFamily="34" charset="-120"/>
              </a:rPr>
              <a:t>固定グローバルIPからのみ接続可</a:t>
            </a:r>
            <a:endParaRPr lang="en-US" sz="1050" dirty="0"/>
          </a:p>
        </p:txBody>
      </p:sp>
      <p:sp>
        <p:nvSpPr>
          <p:cNvPr id="10" name="Text 8"/>
          <p:cNvSpPr/>
          <p:nvPr/>
        </p:nvSpPr>
        <p:spPr>
          <a:xfrm>
            <a:off x="3456432" y="1901952"/>
            <a:ext cx="905256" cy="228600"/>
          </a:xfrm>
          <a:prstGeom prst="rect">
            <a:avLst/>
          </a:prstGeom>
          <a:noFill/>
          <a:ln/>
        </p:spPr>
        <p:txBody>
          <a:bodyPr wrap="square" lIns="0" tIns="0" rIns="0" bIns="0" rtlCol="0" anchor="ctr"/>
          <a:lstStyle/>
          <a:p>
            <a:pPr marL="0" indent="0" algn="ctr">
              <a:buNone/>
            </a:pPr>
            <a:r>
              <a:rPr lang="en-US" sz="950" dirty="0">
                <a:solidFill>
                  <a:srgbClr val="6B7680"/>
                </a:solidFill>
                <a:latin typeface="Calibri" pitchFamily="34" charset="0"/>
                <a:ea typeface="Calibri" pitchFamily="34" charset="-122"/>
                <a:cs typeface="Calibri" pitchFamily="34" charset="-120"/>
              </a:rPr>
              <a:t>暗号化通信</a:t>
            </a:r>
            <a:endParaRPr lang="en-US" sz="950" dirty="0"/>
          </a:p>
        </p:txBody>
      </p:sp>
      <p:sp>
        <p:nvSpPr>
          <p:cNvPr id="11" name="Shape 9"/>
          <p:cNvSpPr/>
          <p:nvPr/>
        </p:nvSpPr>
        <p:spPr>
          <a:xfrm>
            <a:off x="3474720" y="2212848"/>
            <a:ext cx="777240" cy="274320"/>
          </a:xfrm>
          <a:prstGeom prst="rightArrow">
            <a:avLst/>
          </a:prstGeom>
          <a:solidFill>
            <a:srgbClr val="00A896"/>
          </a:solidFill>
          <a:ln w="12700">
            <a:solidFill>
              <a:srgbClr val="00A896"/>
            </a:solidFill>
            <a:prstDash val="solid"/>
          </a:ln>
        </p:spPr>
      </p:sp>
      <p:sp>
        <p:nvSpPr>
          <p:cNvPr id="12" name="Shape 10"/>
          <p:cNvSpPr/>
          <p:nvPr/>
        </p:nvSpPr>
        <p:spPr>
          <a:xfrm>
            <a:off x="4389120" y="1737360"/>
            <a:ext cx="3291840" cy="1188720"/>
          </a:xfrm>
          <a:prstGeom prst="roundRect">
            <a:avLst>
              <a:gd name="adj" fmla="val 6154"/>
            </a:avLst>
          </a:prstGeom>
          <a:solidFill>
            <a:srgbClr val="028090"/>
          </a:solidFill>
          <a:ln w="12700">
            <a:solidFill>
              <a:srgbClr val="028090"/>
            </a:solidFill>
            <a:prstDash val="solid"/>
          </a:ln>
          <a:effectLst>
            <a:outerShdw blurRad="76200" dist="12700" dir="5400000" algn="bl" rotWithShape="0">
              <a:srgbClr val="6E8A8C">
                <a:alpha val="35000"/>
              </a:srgbClr>
            </a:outerShdw>
          </a:effectLst>
        </p:spPr>
      </p:sp>
      <p:sp>
        <p:nvSpPr>
          <p:cNvPr id="13" name="Text 11"/>
          <p:cNvSpPr/>
          <p:nvPr/>
        </p:nvSpPr>
        <p:spPr>
          <a:xfrm>
            <a:off x="4389120" y="1856232"/>
            <a:ext cx="3291840"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Cloudflare Workers</a:t>
            </a:r>
            <a:endParaRPr lang="en-US" sz="1400" dirty="0"/>
          </a:p>
        </p:txBody>
      </p:sp>
      <p:sp>
        <p:nvSpPr>
          <p:cNvPr id="14" name="Text 12"/>
          <p:cNvSpPr/>
          <p:nvPr/>
        </p:nvSpPr>
        <p:spPr>
          <a:xfrm>
            <a:off x="4389120" y="2112264"/>
            <a:ext cx="3291840" cy="237744"/>
          </a:xfrm>
          <a:prstGeom prst="rect">
            <a:avLst/>
          </a:prstGeom>
          <a:noFill/>
          <a:ln/>
        </p:spPr>
        <p:txBody>
          <a:bodyPr wrap="square" lIns="0" tIns="0" rIns="0" bIns="0" rtlCol="0" anchor="ctr"/>
          <a:lstStyle/>
          <a:p>
            <a:pPr marL="0" indent="0" algn="ctr">
              <a:buNone/>
            </a:pPr>
            <a:r>
              <a:rPr lang="en-US" sz="1100" dirty="0">
                <a:solidFill>
                  <a:srgbClr val="CFE9E9"/>
                </a:solidFill>
                <a:latin typeface="Calibri" pitchFamily="34" charset="0"/>
                <a:ea typeface="Calibri" pitchFamily="34" charset="-122"/>
                <a:cs typeface="Calibri" pitchFamily="34" charset="-120"/>
              </a:rPr>
              <a:t>オペコピ本体</a:t>
            </a:r>
            <a:endParaRPr lang="en-US" sz="1100" dirty="0"/>
          </a:p>
        </p:txBody>
      </p:sp>
      <p:sp>
        <p:nvSpPr>
          <p:cNvPr id="15" name="Text 13"/>
          <p:cNvSpPr/>
          <p:nvPr/>
        </p:nvSpPr>
        <p:spPr>
          <a:xfrm>
            <a:off x="4480560" y="2395728"/>
            <a:ext cx="3108960" cy="411480"/>
          </a:xfrm>
          <a:prstGeom prst="rect">
            <a:avLst/>
          </a:prstGeom>
          <a:noFill/>
          <a:ln/>
        </p:spPr>
        <p:txBody>
          <a:bodyPr wrap="square" lIns="0" tIns="0" rIns="0" bIns="0" rtlCol="0" anchor="ctr"/>
          <a:lstStyle/>
          <a:p>
            <a:pPr marL="0" indent="0" algn="ctr">
              <a:buNone/>
            </a:pPr>
            <a:r>
              <a:rPr lang="en-US" sz="1000" dirty="0">
                <a:solidFill>
                  <a:srgbClr val="E4F3F3"/>
                </a:solidFill>
                <a:latin typeface="Calibri" pitchFamily="34" charset="0"/>
                <a:ea typeface="Calibri" pitchFamily="34" charset="-122"/>
                <a:cs typeface="Calibri" pitchFamily="34" charset="-120"/>
              </a:rPr>
              <a:t>ログイン確認・読み取り指示・結果の整形</a:t>
            </a:r>
            <a:endParaRPr lang="en-US" sz="1000" dirty="0"/>
          </a:p>
        </p:txBody>
      </p:sp>
      <p:sp>
        <p:nvSpPr>
          <p:cNvPr id="16" name="Shape 14"/>
          <p:cNvSpPr/>
          <p:nvPr/>
        </p:nvSpPr>
        <p:spPr>
          <a:xfrm>
            <a:off x="6035040" y="2926080"/>
            <a:ext cx="0" cy="256032"/>
          </a:xfrm>
          <a:prstGeom prst="line">
            <a:avLst/>
          </a:prstGeom>
          <a:noFill/>
          <a:ln w="19050">
            <a:solidFill>
              <a:srgbClr val="D8DFE2"/>
            </a:solidFill>
            <a:prstDash val="solid"/>
          </a:ln>
        </p:spPr>
      </p:sp>
      <p:sp>
        <p:nvSpPr>
          <p:cNvPr id="17" name="Shape 15"/>
          <p:cNvSpPr/>
          <p:nvPr/>
        </p:nvSpPr>
        <p:spPr>
          <a:xfrm>
            <a:off x="4389120" y="3182112"/>
            <a:ext cx="1572768" cy="786384"/>
          </a:xfrm>
          <a:prstGeom prst="roundRect">
            <a:avLst>
              <a:gd name="adj" fmla="val 6977"/>
            </a:avLst>
          </a:prstGeom>
          <a:solidFill>
            <a:srgbClr val="FFFFFF"/>
          </a:solidFill>
          <a:ln w="19050">
            <a:solidFill>
              <a:srgbClr val="02C39A"/>
            </a:solidFill>
            <a:prstDash val="solid"/>
          </a:ln>
        </p:spPr>
      </p:sp>
      <p:sp>
        <p:nvSpPr>
          <p:cNvPr id="18" name="Text 16"/>
          <p:cNvSpPr/>
          <p:nvPr/>
        </p:nvSpPr>
        <p:spPr>
          <a:xfrm>
            <a:off x="4389120" y="3255264"/>
            <a:ext cx="1572768" cy="219456"/>
          </a:xfrm>
          <a:prstGeom prst="rect">
            <a:avLst/>
          </a:prstGeom>
          <a:noFill/>
          <a:ln/>
        </p:spPr>
        <p:txBody>
          <a:bodyPr wrap="square" lIns="0" tIns="0" rIns="0" bIns="0" rtlCol="0" anchor="ctr"/>
          <a:lstStyle/>
          <a:p>
            <a:pPr marL="0" indent="0" algn="ctr">
              <a:buNone/>
            </a:pPr>
            <a:r>
              <a:rPr lang="en-US" sz="1150" b="1" dirty="0">
                <a:solidFill>
                  <a:srgbClr val="028090"/>
                </a:solidFill>
                <a:latin typeface="Calibri" pitchFamily="34" charset="0"/>
                <a:ea typeface="Calibri" pitchFamily="34" charset="-122"/>
                <a:cs typeface="Calibri" pitchFamily="34" charset="-120"/>
              </a:rPr>
              <a:t>KV</a:t>
            </a:r>
            <a:endParaRPr lang="en-US" sz="1150" dirty="0"/>
          </a:p>
        </p:txBody>
      </p:sp>
      <p:sp>
        <p:nvSpPr>
          <p:cNvPr id="19" name="Text 17"/>
          <p:cNvSpPr/>
          <p:nvPr/>
        </p:nvSpPr>
        <p:spPr>
          <a:xfrm>
            <a:off x="4425696" y="3474720"/>
            <a:ext cx="1499616" cy="457200"/>
          </a:xfrm>
          <a:prstGeom prst="rect">
            <a:avLst/>
          </a:prstGeom>
          <a:noFill/>
          <a:ln/>
        </p:spPr>
        <p:txBody>
          <a:bodyPr wrap="square" lIns="0" tIns="0" rIns="0" bIns="0" rtlCol="0" anchor="ctr"/>
          <a:lstStyle/>
          <a:p>
            <a:pPr marL="0" indent="0" algn="ctr">
              <a:lnSpc>
                <a:spcPct val="110000"/>
              </a:lnSpc>
              <a:buNone/>
            </a:pPr>
            <a:r>
              <a:rPr lang="en-US" sz="850" dirty="0">
                <a:solidFill>
                  <a:srgbClr val="6B7680"/>
                </a:solidFill>
                <a:latin typeface="Calibri" pitchFamily="34" charset="0"/>
                <a:ea typeface="Calibri" pitchFamily="34" charset="-122"/>
                <a:cs typeface="Calibri" pitchFamily="34" charset="-120"/>
              </a:rPr>
              <a:t>用紙マスタ・医師名簿</a:t>
            </a:r>
            <a:endParaRPr lang="en-US" sz="850" dirty="0"/>
          </a:p>
          <a:p>
            <a:pPr marL="0" indent="0" algn="ctr">
              <a:lnSpc>
                <a:spcPct val="110000"/>
              </a:lnSpc>
              <a:buNone/>
            </a:pPr>
            <a:r>
              <a:rPr lang="en-US" sz="850" dirty="0">
                <a:solidFill>
                  <a:srgbClr val="6B7680"/>
                </a:solidFill>
                <a:latin typeface="Calibri" pitchFamily="34" charset="0"/>
                <a:ea typeface="Calibri" pitchFamily="34" charset="-122"/>
                <a:cs typeface="Calibri" pitchFamily="34" charset="-120"/>
              </a:rPr>
              <a:t>術式マスタ・利用者名簿</a:t>
            </a:r>
            <a:endParaRPr lang="en-US" sz="850" dirty="0"/>
          </a:p>
        </p:txBody>
      </p:sp>
      <p:sp>
        <p:nvSpPr>
          <p:cNvPr id="20" name="Shape 18"/>
          <p:cNvSpPr/>
          <p:nvPr/>
        </p:nvSpPr>
        <p:spPr>
          <a:xfrm>
            <a:off x="6108192" y="3182112"/>
            <a:ext cx="1572768" cy="786384"/>
          </a:xfrm>
          <a:prstGeom prst="roundRect">
            <a:avLst>
              <a:gd name="adj" fmla="val 6977"/>
            </a:avLst>
          </a:prstGeom>
          <a:solidFill>
            <a:srgbClr val="FFFFFF"/>
          </a:solidFill>
          <a:ln w="19050">
            <a:solidFill>
              <a:srgbClr val="02C39A"/>
            </a:solidFill>
            <a:prstDash val="solid"/>
          </a:ln>
        </p:spPr>
      </p:sp>
      <p:sp>
        <p:nvSpPr>
          <p:cNvPr id="21" name="Text 19"/>
          <p:cNvSpPr/>
          <p:nvPr/>
        </p:nvSpPr>
        <p:spPr>
          <a:xfrm>
            <a:off x="6108192" y="3255264"/>
            <a:ext cx="1572768" cy="219456"/>
          </a:xfrm>
          <a:prstGeom prst="rect">
            <a:avLst/>
          </a:prstGeom>
          <a:noFill/>
          <a:ln/>
        </p:spPr>
        <p:txBody>
          <a:bodyPr wrap="square" lIns="0" tIns="0" rIns="0" bIns="0" rtlCol="0" anchor="ctr"/>
          <a:lstStyle/>
          <a:p>
            <a:pPr marL="0" indent="0" algn="ctr">
              <a:buNone/>
            </a:pPr>
            <a:r>
              <a:rPr lang="en-US" sz="1150" b="1" dirty="0">
                <a:solidFill>
                  <a:srgbClr val="028090"/>
                </a:solidFill>
                <a:latin typeface="Calibri" pitchFamily="34" charset="0"/>
                <a:ea typeface="Calibri" pitchFamily="34" charset="-122"/>
                <a:cs typeface="Calibri" pitchFamily="34" charset="-120"/>
              </a:rPr>
              <a:t>D1</a:t>
            </a:r>
            <a:endParaRPr lang="en-US" sz="1150" dirty="0"/>
          </a:p>
        </p:txBody>
      </p:sp>
      <p:sp>
        <p:nvSpPr>
          <p:cNvPr id="22" name="Text 20"/>
          <p:cNvSpPr/>
          <p:nvPr/>
        </p:nvSpPr>
        <p:spPr>
          <a:xfrm>
            <a:off x="6144768" y="3474720"/>
            <a:ext cx="1499616" cy="457200"/>
          </a:xfrm>
          <a:prstGeom prst="rect">
            <a:avLst/>
          </a:prstGeom>
          <a:noFill/>
          <a:ln/>
        </p:spPr>
        <p:txBody>
          <a:bodyPr wrap="square" lIns="0" tIns="0" rIns="0" bIns="0" rtlCol="0" anchor="ctr"/>
          <a:lstStyle/>
          <a:p>
            <a:pPr marL="0" indent="0" algn="ctr">
              <a:lnSpc>
                <a:spcPct val="110000"/>
              </a:lnSpc>
              <a:buNone/>
            </a:pPr>
            <a:r>
              <a:rPr lang="en-US" sz="850" dirty="0" err="1">
                <a:solidFill>
                  <a:srgbClr val="6B7680"/>
                </a:solidFill>
                <a:latin typeface="Calibri" pitchFamily="34" charset="0"/>
                <a:ea typeface="Calibri" pitchFamily="34" charset="-122"/>
                <a:cs typeface="Calibri" pitchFamily="34" charset="-120"/>
              </a:rPr>
              <a:t>症例台帳</a:t>
            </a:r>
            <a:endParaRPr lang="en-US" sz="850" dirty="0"/>
          </a:p>
        </p:txBody>
      </p:sp>
      <p:sp>
        <p:nvSpPr>
          <p:cNvPr id="23" name="Text 21"/>
          <p:cNvSpPr/>
          <p:nvPr/>
        </p:nvSpPr>
        <p:spPr>
          <a:xfrm>
            <a:off x="7726680" y="1901952"/>
            <a:ext cx="1051560" cy="228600"/>
          </a:xfrm>
          <a:prstGeom prst="rect">
            <a:avLst/>
          </a:prstGeom>
          <a:noFill/>
          <a:ln/>
        </p:spPr>
        <p:txBody>
          <a:bodyPr wrap="square" lIns="0" tIns="0" rIns="0" bIns="0" rtlCol="0" anchor="ctr"/>
          <a:lstStyle/>
          <a:p>
            <a:pPr marL="0" indent="0" algn="ctr">
              <a:buNone/>
            </a:pPr>
            <a:r>
              <a:rPr lang="en-US" sz="950" dirty="0">
                <a:solidFill>
                  <a:srgbClr val="6B7680"/>
                </a:solidFill>
                <a:latin typeface="Calibri" pitchFamily="34" charset="0"/>
                <a:ea typeface="Calibri" pitchFamily="34" charset="-122"/>
                <a:cs typeface="Calibri" pitchFamily="34" charset="-120"/>
              </a:rPr>
              <a:t>画像のみ送信</a:t>
            </a:r>
            <a:endParaRPr lang="en-US" sz="950" dirty="0"/>
          </a:p>
        </p:txBody>
      </p:sp>
      <p:sp>
        <p:nvSpPr>
          <p:cNvPr id="24" name="Shape 22"/>
          <p:cNvSpPr/>
          <p:nvPr/>
        </p:nvSpPr>
        <p:spPr>
          <a:xfrm>
            <a:off x="7863840" y="2212848"/>
            <a:ext cx="777240" cy="274320"/>
          </a:xfrm>
          <a:prstGeom prst="rightArrow">
            <a:avLst/>
          </a:prstGeom>
          <a:solidFill>
            <a:srgbClr val="E0A44A"/>
          </a:solidFill>
          <a:ln w="12700">
            <a:solidFill>
              <a:srgbClr val="E0A44A"/>
            </a:solidFill>
            <a:prstDash val="solid"/>
          </a:ln>
        </p:spPr>
      </p:sp>
      <p:sp>
        <p:nvSpPr>
          <p:cNvPr id="25" name="Shape 23"/>
          <p:cNvSpPr/>
          <p:nvPr/>
        </p:nvSpPr>
        <p:spPr>
          <a:xfrm>
            <a:off x="8778240" y="1737360"/>
            <a:ext cx="2834640" cy="1188720"/>
          </a:xfrm>
          <a:prstGeom prst="roundRect">
            <a:avLst>
              <a:gd name="adj" fmla="val 6154"/>
            </a:avLst>
          </a:prstGeom>
          <a:solidFill>
            <a:srgbClr val="FFFFFF"/>
          </a:solidFill>
          <a:ln w="19050">
            <a:solidFill>
              <a:srgbClr val="E0A44A"/>
            </a:solidFill>
            <a:prstDash val="solid"/>
          </a:ln>
          <a:effectLst>
            <a:outerShdw blurRad="76200" dist="12700" dir="5400000" algn="bl" rotWithShape="0">
              <a:srgbClr val="AAB4B8">
                <a:alpha val="35000"/>
              </a:srgbClr>
            </a:outerShdw>
          </a:effectLst>
        </p:spPr>
      </p:sp>
      <p:sp>
        <p:nvSpPr>
          <p:cNvPr id="26" name="Text 24"/>
          <p:cNvSpPr/>
          <p:nvPr/>
        </p:nvSpPr>
        <p:spPr>
          <a:xfrm>
            <a:off x="8778240" y="1874520"/>
            <a:ext cx="2834640" cy="256032"/>
          </a:xfrm>
          <a:prstGeom prst="rect">
            <a:avLst/>
          </a:prstGeom>
          <a:noFill/>
          <a:ln/>
        </p:spPr>
        <p:txBody>
          <a:bodyPr wrap="square" lIns="0" tIns="0" rIns="0" bIns="0" rtlCol="0" anchor="ctr"/>
          <a:lstStyle/>
          <a:p>
            <a:pPr marL="0" indent="0" algn="ctr">
              <a:buNone/>
            </a:pPr>
            <a:r>
              <a:rPr lang="en-US" sz="1400" b="1" dirty="0">
                <a:solidFill>
                  <a:srgbClr val="1F2933"/>
                </a:solidFill>
                <a:latin typeface="Calibri" pitchFamily="34" charset="0"/>
                <a:ea typeface="Calibri" pitchFamily="34" charset="-122"/>
                <a:cs typeface="Calibri" pitchFamily="34" charset="-120"/>
              </a:rPr>
              <a:t>OpenAI API</a:t>
            </a:r>
            <a:endParaRPr lang="en-US" sz="1400" dirty="0"/>
          </a:p>
        </p:txBody>
      </p:sp>
      <p:sp>
        <p:nvSpPr>
          <p:cNvPr id="27" name="Text 25"/>
          <p:cNvSpPr/>
          <p:nvPr/>
        </p:nvSpPr>
        <p:spPr>
          <a:xfrm>
            <a:off x="8869680" y="2194560"/>
            <a:ext cx="2651760" cy="640080"/>
          </a:xfrm>
          <a:prstGeom prst="rect">
            <a:avLst/>
          </a:prstGeom>
          <a:noFill/>
          <a:ln/>
        </p:spPr>
        <p:txBody>
          <a:bodyPr wrap="square" lIns="0" tIns="0" rIns="0" bIns="0" rtlCol="0" anchor="ctr"/>
          <a:lstStyle/>
          <a:p>
            <a:pPr marL="0" indent="0" algn="ctr">
              <a:lnSpc>
                <a:spcPct val="115000"/>
              </a:lnSpc>
              <a:buNone/>
            </a:pPr>
            <a:r>
              <a:rPr lang="en-US" sz="1050" dirty="0">
                <a:solidFill>
                  <a:srgbClr val="6B7680"/>
                </a:solidFill>
                <a:latin typeface="Calibri" pitchFamily="34" charset="0"/>
                <a:ea typeface="Calibri" pitchFamily="34" charset="-122"/>
                <a:cs typeface="Calibri" pitchFamily="34" charset="-120"/>
              </a:rPr>
              <a:t>画像から文字を読み取る</a:t>
            </a:r>
            <a:endParaRPr lang="en-US" sz="1050" dirty="0"/>
          </a:p>
          <a:p>
            <a:pPr marL="0" indent="0" algn="ctr">
              <a:lnSpc>
                <a:spcPct val="115000"/>
              </a:lnSpc>
              <a:buNone/>
            </a:pPr>
            <a:r>
              <a:rPr lang="en-US" sz="1050" dirty="0">
                <a:solidFill>
                  <a:srgbClr val="6B7680"/>
                </a:solidFill>
                <a:latin typeface="Calibri" pitchFamily="34" charset="0"/>
                <a:ea typeface="Calibri" pitchFamily="34" charset="-122"/>
                <a:cs typeface="Calibri" pitchFamily="34" charset="-120"/>
              </a:rPr>
              <a:t>(gpt-4o・米国)</a:t>
            </a:r>
            <a:endParaRPr lang="en-US" sz="1050" dirty="0"/>
          </a:p>
        </p:txBody>
      </p:sp>
      <p:sp>
        <p:nvSpPr>
          <p:cNvPr id="28" name="Text 26"/>
          <p:cNvSpPr/>
          <p:nvPr/>
        </p:nvSpPr>
        <p:spPr>
          <a:xfrm>
            <a:off x="8778240" y="3246120"/>
            <a:ext cx="2834640" cy="256032"/>
          </a:xfrm>
          <a:prstGeom prst="rect">
            <a:avLst/>
          </a:prstGeom>
          <a:noFill/>
          <a:ln/>
        </p:spPr>
        <p:txBody>
          <a:bodyPr wrap="square" lIns="0" tIns="0" rIns="0" bIns="0" rtlCol="0" anchor="ctr"/>
          <a:lstStyle/>
          <a:p>
            <a:pPr marL="0" indent="0" algn="ctr">
              <a:buNone/>
            </a:pPr>
            <a:r>
              <a:rPr lang="en-US" sz="1050" b="1" dirty="0">
                <a:solidFill>
                  <a:srgbClr val="E0A44A"/>
                </a:solidFill>
                <a:latin typeface="Calibri" pitchFamily="34" charset="0"/>
                <a:ea typeface="Calibri" pitchFamily="34" charset="-122"/>
                <a:cs typeface="Calibri" pitchFamily="34" charset="-120"/>
              </a:rPr>
              <a:t>学習には使われず30日</a:t>
            </a:r>
            <a:r>
              <a:rPr lang="ja-JP" altLang="en-US" sz="1050" b="1" dirty="0">
                <a:solidFill>
                  <a:srgbClr val="E0A44A"/>
                </a:solidFill>
                <a:latin typeface="Calibri" pitchFamily="34" charset="0"/>
                <a:ea typeface="Calibri" pitchFamily="34" charset="-122"/>
                <a:cs typeface="Calibri" pitchFamily="34" charset="-120"/>
              </a:rPr>
              <a:t>で</a:t>
            </a:r>
            <a:r>
              <a:rPr lang="en-US" sz="1050" b="1" dirty="0" err="1">
                <a:solidFill>
                  <a:srgbClr val="E0A44A"/>
                </a:solidFill>
                <a:latin typeface="Calibri" pitchFamily="34" charset="0"/>
                <a:ea typeface="Calibri" pitchFamily="34" charset="-122"/>
                <a:cs typeface="Calibri" pitchFamily="34" charset="-120"/>
              </a:rPr>
              <a:t>削除</a:t>
            </a:r>
            <a:endParaRPr lang="en-US" sz="1050" dirty="0"/>
          </a:p>
        </p:txBody>
      </p:sp>
      <p:sp>
        <p:nvSpPr>
          <p:cNvPr id="29" name="Text 27"/>
          <p:cNvSpPr/>
          <p:nvPr/>
        </p:nvSpPr>
        <p:spPr>
          <a:xfrm>
            <a:off x="548640" y="4187952"/>
            <a:ext cx="5486400" cy="292608"/>
          </a:xfrm>
          <a:prstGeom prst="rect">
            <a:avLst/>
          </a:prstGeom>
          <a:noFill/>
          <a:ln/>
        </p:spPr>
        <p:txBody>
          <a:bodyPr wrap="square" lIns="0" tIns="0" rIns="0" bIns="0" rtlCol="0" anchor="ctr"/>
          <a:lstStyle/>
          <a:p>
            <a:pPr marL="0" indent="0">
              <a:buNone/>
            </a:pPr>
            <a:r>
              <a:rPr lang="en-US" sz="1700" b="1" dirty="0">
                <a:solidFill>
                  <a:srgbClr val="1F2933"/>
                </a:solidFill>
                <a:latin typeface="Calibri" pitchFamily="34" charset="0"/>
                <a:ea typeface="Calibri" pitchFamily="34" charset="-122"/>
                <a:cs typeface="Calibri" pitchFamily="34" charset="-120"/>
              </a:rPr>
              <a:t>セキュリティ対策</a:t>
            </a:r>
            <a:endParaRPr lang="en-US" sz="1700" dirty="0"/>
          </a:p>
        </p:txBody>
      </p:sp>
      <p:sp>
        <p:nvSpPr>
          <p:cNvPr id="30" name="Shape 28"/>
          <p:cNvSpPr/>
          <p:nvPr/>
        </p:nvSpPr>
        <p:spPr>
          <a:xfrm>
            <a:off x="548640" y="4553712"/>
            <a:ext cx="2606040" cy="1207008"/>
          </a:xfrm>
          <a:prstGeom prst="roundRect">
            <a:avLst>
              <a:gd name="adj" fmla="val 5303"/>
            </a:avLst>
          </a:prstGeom>
          <a:solidFill>
            <a:srgbClr val="FFFFFF"/>
          </a:solidFill>
          <a:ln w="12700">
            <a:solidFill>
              <a:srgbClr val="D8DFE2"/>
            </a:solidFill>
            <a:prstDash val="solid"/>
          </a:ln>
        </p:spPr>
      </p:sp>
      <p:sp>
        <p:nvSpPr>
          <p:cNvPr id="31" name="Shape 29"/>
          <p:cNvSpPr/>
          <p:nvPr/>
        </p:nvSpPr>
        <p:spPr>
          <a:xfrm>
            <a:off x="694944" y="4700016"/>
            <a:ext cx="237744" cy="237744"/>
          </a:xfrm>
          <a:prstGeom prst="ellipse">
            <a:avLst/>
          </a:prstGeom>
          <a:solidFill>
            <a:srgbClr val="00A896"/>
          </a:solidFill>
          <a:ln w="12700">
            <a:solidFill>
              <a:srgbClr val="00A896"/>
            </a:solidFill>
            <a:prstDash val="solid"/>
          </a:ln>
        </p:spPr>
      </p:sp>
      <p:sp>
        <p:nvSpPr>
          <p:cNvPr id="32" name="Text 30"/>
          <p:cNvSpPr/>
          <p:nvPr/>
        </p:nvSpPr>
        <p:spPr>
          <a:xfrm>
            <a:off x="694944" y="4709160"/>
            <a:ext cx="237744"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3" name="Text 31"/>
          <p:cNvSpPr/>
          <p:nvPr/>
        </p:nvSpPr>
        <p:spPr>
          <a:xfrm>
            <a:off x="1005840" y="4690872"/>
            <a:ext cx="2020824" cy="256032"/>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院内からしか使えない</a:t>
            </a:r>
            <a:endParaRPr lang="en-US" sz="1200" dirty="0"/>
          </a:p>
        </p:txBody>
      </p:sp>
      <p:sp>
        <p:nvSpPr>
          <p:cNvPr id="34" name="Text 32"/>
          <p:cNvSpPr/>
          <p:nvPr/>
        </p:nvSpPr>
        <p:spPr>
          <a:xfrm>
            <a:off x="694944" y="5010912"/>
            <a:ext cx="2313432" cy="658368"/>
          </a:xfrm>
          <a:prstGeom prst="rect">
            <a:avLst/>
          </a:prstGeom>
          <a:noFill/>
          <a:ln/>
        </p:spPr>
        <p:txBody>
          <a:bodyPr wrap="square" lIns="0" tIns="0" rIns="0" bIns="0" rtlCol="0" anchor="ctr"/>
          <a:lstStyle/>
          <a:p>
            <a:pPr marL="0" indent="0">
              <a:lnSpc>
                <a:spcPct val="115000"/>
              </a:lnSpc>
              <a:buNone/>
            </a:pPr>
            <a:r>
              <a:rPr lang="en-US" sz="950" dirty="0">
                <a:solidFill>
                  <a:srgbClr val="6B7680"/>
                </a:solidFill>
                <a:latin typeface="Calibri" pitchFamily="34" charset="0"/>
                <a:ea typeface="Calibri" pitchFamily="34" charset="-122"/>
                <a:cs typeface="Calibri" pitchFamily="34" charset="-120"/>
              </a:rPr>
              <a:t>許可した固定グローバルIPからの接続だけを通す。院外からは画面すら表示されず遮断される。</a:t>
            </a:r>
            <a:endParaRPr lang="en-US" sz="950" dirty="0"/>
          </a:p>
        </p:txBody>
      </p:sp>
      <p:sp>
        <p:nvSpPr>
          <p:cNvPr id="35" name="Shape 33"/>
          <p:cNvSpPr/>
          <p:nvPr/>
        </p:nvSpPr>
        <p:spPr>
          <a:xfrm>
            <a:off x="3374136" y="4553712"/>
            <a:ext cx="2606040" cy="1207008"/>
          </a:xfrm>
          <a:prstGeom prst="roundRect">
            <a:avLst>
              <a:gd name="adj" fmla="val 5303"/>
            </a:avLst>
          </a:prstGeom>
          <a:solidFill>
            <a:srgbClr val="FFFFFF"/>
          </a:solidFill>
          <a:ln w="12700">
            <a:solidFill>
              <a:srgbClr val="D8DFE2"/>
            </a:solidFill>
            <a:prstDash val="solid"/>
          </a:ln>
        </p:spPr>
      </p:sp>
      <p:sp>
        <p:nvSpPr>
          <p:cNvPr id="36" name="Shape 34"/>
          <p:cNvSpPr/>
          <p:nvPr/>
        </p:nvSpPr>
        <p:spPr>
          <a:xfrm>
            <a:off x="3520440" y="4700016"/>
            <a:ext cx="237744" cy="237744"/>
          </a:xfrm>
          <a:prstGeom prst="ellipse">
            <a:avLst/>
          </a:prstGeom>
          <a:solidFill>
            <a:srgbClr val="00A896"/>
          </a:solidFill>
          <a:ln w="12700">
            <a:solidFill>
              <a:srgbClr val="00A896"/>
            </a:solidFill>
            <a:prstDash val="solid"/>
          </a:ln>
        </p:spPr>
      </p:sp>
      <p:sp>
        <p:nvSpPr>
          <p:cNvPr id="37" name="Text 35"/>
          <p:cNvSpPr/>
          <p:nvPr/>
        </p:nvSpPr>
        <p:spPr>
          <a:xfrm>
            <a:off x="3520440" y="4709160"/>
            <a:ext cx="237744"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8" name="Text 36"/>
          <p:cNvSpPr/>
          <p:nvPr/>
        </p:nvSpPr>
        <p:spPr>
          <a:xfrm>
            <a:off x="3831336" y="4690872"/>
            <a:ext cx="2020824" cy="256032"/>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利用者ごとのログイン</a:t>
            </a:r>
            <a:endParaRPr lang="en-US" sz="1200" dirty="0"/>
          </a:p>
        </p:txBody>
      </p:sp>
      <p:sp>
        <p:nvSpPr>
          <p:cNvPr id="39" name="Text 37"/>
          <p:cNvSpPr/>
          <p:nvPr/>
        </p:nvSpPr>
        <p:spPr>
          <a:xfrm>
            <a:off x="3520440" y="5010912"/>
            <a:ext cx="2313432" cy="658368"/>
          </a:xfrm>
          <a:prstGeom prst="rect">
            <a:avLst/>
          </a:prstGeom>
          <a:noFill/>
          <a:ln/>
        </p:spPr>
        <p:txBody>
          <a:bodyPr wrap="square" lIns="0" tIns="0" rIns="0" bIns="0" rtlCol="0" anchor="ctr"/>
          <a:lstStyle/>
          <a:p>
            <a:pPr marL="0" indent="0">
              <a:lnSpc>
                <a:spcPct val="115000"/>
              </a:lnSpc>
              <a:buNone/>
            </a:pPr>
            <a:r>
              <a:rPr lang="en-US" sz="950" dirty="0">
                <a:solidFill>
                  <a:srgbClr val="6B7680"/>
                </a:solidFill>
                <a:latin typeface="Calibri" pitchFamily="34" charset="0"/>
                <a:ea typeface="Calibri" pitchFamily="34" charset="-122"/>
                <a:cs typeface="Calibri" pitchFamily="34" charset="-120"/>
              </a:rPr>
              <a:t>IDとパスワードで本人を確認。パスワードは暗号化して保存し、管理画面から発行・停止できる。</a:t>
            </a:r>
            <a:endParaRPr lang="en-US" sz="950" dirty="0"/>
          </a:p>
        </p:txBody>
      </p:sp>
      <p:sp>
        <p:nvSpPr>
          <p:cNvPr id="40" name="Shape 38"/>
          <p:cNvSpPr/>
          <p:nvPr/>
        </p:nvSpPr>
        <p:spPr>
          <a:xfrm>
            <a:off x="6199632" y="4553712"/>
            <a:ext cx="2606040" cy="1207008"/>
          </a:xfrm>
          <a:prstGeom prst="roundRect">
            <a:avLst>
              <a:gd name="adj" fmla="val 5303"/>
            </a:avLst>
          </a:prstGeom>
          <a:solidFill>
            <a:srgbClr val="FFFFFF"/>
          </a:solidFill>
          <a:ln w="12700">
            <a:solidFill>
              <a:srgbClr val="D8DFE2"/>
            </a:solidFill>
            <a:prstDash val="solid"/>
          </a:ln>
        </p:spPr>
      </p:sp>
      <p:sp>
        <p:nvSpPr>
          <p:cNvPr id="41" name="Shape 39"/>
          <p:cNvSpPr/>
          <p:nvPr/>
        </p:nvSpPr>
        <p:spPr>
          <a:xfrm>
            <a:off x="6345936" y="4700016"/>
            <a:ext cx="237744" cy="237744"/>
          </a:xfrm>
          <a:prstGeom prst="ellipse">
            <a:avLst/>
          </a:prstGeom>
          <a:solidFill>
            <a:srgbClr val="00A896"/>
          </a:solidFill>
          <a:ln w="12700">
            <a:solidFill>
              <a:srgbClr val="00A896"/>
            </a:solidFill>
            <a:prstDash val="solid"/>
          </a:ln>
        </p:spPr>
      </p:sp>
      <p:sp>
        <p:nvSpPr>
          <p:cNvPr id="42" name="Text 40"/>
          <p:cNvSpPr/>
          <p:nvPr/>
        </p:nvSpPr>
        <p:spPr>
          <a:xfrm>
            <a:off x="6345936" y="4709160"/>
            <a:ext cx="237744"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3" name="Text 41"/>
          <p:cNvSpPr/>
          <p:nvPr/>
        </p:nvSpPr>
        <p:spPr>
          <a:xfrm>
            <a:off x="6656832" y="4690872"/>
            <a:ext cx="2020824" cy="256032"/>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管理画面は別パスワード</a:t>
            </a:r>
            <a:endParaRPr lang="en-US" sz="1200" dirty="0"/>
          </a:p>
        </p:txBody>
      </p:sp>
      <p:sp>
        <p:nvSpPr>
          <p:cNvPr id="44" name="Text 42"/>
          <p:cNvSpPr/>
          <p:nvPr/>
        </p:nvSpPr>
        <p:spPr>
          <a:xfrm>
            <a:off x="6345936" y="5010912"/>
            <a:ext cx="2313432" cy="658368"/>
          </a:xfrm>
          <a:prstGeom prst="rect">
            <a:avLst/>
          </a:prstGeom>
          <a:noFill/>
          <a:ln/>
        </p:spPr>
        <p:txBody>
          <a:bodyPr wrap="square" lIns="0" tIns="0" rIns="0" bIns="0" rtlCol="0" anchor="ctr"/>
          <a:lstStyle/>
          <a:p>
            <a:pPr marL="0" indent="0">
              <a:lnSpc>
                <a:spcPct val="115000"/>
              </a:lnSpc>
              <a:buNone/>
            </a:pPr>
            <a:r>
              <a:rPr lang="en-US" sz="950" dirty="0">
                <a:solidFill>
                  <a:srgbClr val="6B7680"/>
                </a:solidFill>
                <a:latin typeface="Calibri" pitchFamily="34" charset="0"/>
                <a:ea typeface="Calibri" pitchFamily="34" charset="-122"/>
                <a:cs typeface="Calibri" pitchFamily="34" charset="-120"/>
              </a:rPr>
              <a:t>用紙マスタ・症例台帳・利用者管理は管理者専用。利用者のIDでは開けない。</a:t>
            </a:r>
            <a:endParaRPr lang="en-US" sz="950" dirty="0"/>
          </a:p>
        </p:txBody>
      </p:sp>
      <p:sp>
        <p:nvSpPr>
          <p:cNvPr id="45" name="Shape 43"/>
          <p:cNvSpPr/>
          <p:nvPr/>
        </p:nvSpPr>
        <p:spPr>
          <a:xfrm>
            <a:off x="9025128" y="4553712"/>
            <a:ext cx="2606040" cy="1207008"/>
          </a:xfrm>
          <a:prstGeom prst="roundRect">
            <a:avLst>
              <a:gd name="adj" fmla="val 5303"/>
            </a:avLst>
          </a:prstGeom>
          <a:solidFill>
            <a:srgbClr val="FFFFFF"/>
          </a:solidFill>
          <a:ln w="12700">
            <a:solidFill>
              <a:srgbClr val="D8DFE2"/>
            </a:solidFill>
            <a:prstDash val="solid"/>
          </a:ln>
        </p:spPr>
      </p:sp>
      <p:sp>
        <p:nvSpPr>
          <p:cNvPr id="46" name="Shape 44"/>
          <p:cNvSpPr/>
          <p:nvPr/>
        </p:nvSpPr>
        <p:spPr>
          <a:xfrm>
            <a:off x="9171432" y="4700016"/>
            <a:ext cx="237744" cy="237744"/>
          </a:xfrm>
          <a:prstGeom prst="ellipse">
            <a:avLst/>
          </a:prstGeom>
          <a:solidFill>
            <a:srgbClr val="00A896"/>
          </a:solidFill>
          <a:ln w="12700">
            <a:solidFill>
              <a:srgbClr val="00A896"/>
            </a:solidFill>
            <a:prstDash val="solid"/>
          </a:ln>
        </p:spPr>
      </p:sp>
      <p:sp>
        <p:nvSpPr>
          <p:cNvPr id="47" name="Text 45"/>
          <p:cNvSpPr/>
          <p:nvPr/>
        </p:nvSpPr>
        <p:spPr>
          <a:xfrm>
            <a:off x="9171432" y="4709160"/>
            <a:ext cx="237744"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8" name="Text 46"/>
          <p:cNvSpPr/>
          <p:nvPr/>
        </p:nvSpPr>
        <p:spPr>
          <a:xfrm>
            <a:off x="9482328" y="4690872"/>
            <a:ext cx="2020824" cy="256032"/>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記録が残る</a:t>
            </a:r>
            <a:endParaRPr lang="en-US" sz="1200" dirty="0"/>
          </a:p>
        </p:txBody>
      </p:sp>
      <p:sp>
        <p:nvSpPr>
          <p:cNvPr id="49" name="Text 47"/>
          <p:cNvSpPr/>
          <p:nvPr/>
        </p:nvSpPr>
        <p:spPr>
          <a:xfrm>
            <a:off x="9171432" y="5010912"/>
            <a:ext cx="2313432" cy="658368"/>
          </a:xfrm>
          <a:prstGeom prst="rect">
            <a:avLst/>
          </a:prstGeom>
          <a:noFill/>
          <a:ln/>
        </p:spPr>
        <p:txBody>
          <a:bodyPr wrap="square" lIns="0" tIns="0" rIns="0" bIns="0" rtlCol="0" anchor="ctr"/>
          <a:lstStyle/>
          <a:p>
            <a:pPr marL="0" indent="0">
              <a:lnSpc>
                <a:spcPct val="115000"/>
              </a:lnSpc>
              <a:buNone/>
            </a:pPr>
            <a:r>
              <a:rPr lang="en-US" sz="950" dirty="0">
                <a:solidFill>
                  <a:srgbClr val="6B7680"/>
                </a:solidFill>
                <a:latin typeface="Calibri" pitchFamily="34" charset="0"/>
                <a:ea typeface="Calibri" pitchFamily="34" charset="-122"/>
                <a:cs typeface="Calibri" pitchFamily="34" charset="-120"/>
              </a:rPr>
              <a:t>どの症例を誰がいつ読み取ったかを台帳に記録。あとから追跡できる。</a:t>
            </a:r>
            <a:endParaRPr lang="en-US" sz="950" dirty="0"/>
          </a:p>
        </p:txBody>
      </p:sp>
      <p:sp>
        <p:nvSpPr>
          <p:cNvPr id="50" name="Shape 48"/>
          <p:cNvSpPr/>
          <p:nvPr/>
        </p:nvSpPr>
        <p:spPr>
          <a:xfrm>
            <a:off x="548640" y="5925312"/>
            <a:ext cx="11091672" cy="658368"/>
          </a:xfrm>
          <a:prstGeom prst="roundRect">
            <a:avLst>
              <a:gd name="adj" fmla="val 8333"/>
            </a:avLst>
          </a:prstGeom>
          <a:solidFill>
            <a:srgbClr val="FDF4E7"/>
          </a:solidFill>
          <a:ln w="12700">
            <a:solidFill>
              <a:srgbClr val="E0A44A"/>
            </a:solidFill>
            <a:prstDash val="solid"/>
          </a:ln>
        </p:spPr>
      </p:sp>
      <p:sp>
        <p:nvSpPr>
          <p:cNvPr id="51" name="Text 49"/>
          <p:cNvSpPr/>
          <p:nvPr/>
        </p:nvSpPr>
        <p:spPr>
          <a:xfrm>
            <a:off x="713232" y="5989320"/>
            <a:ext cx="10762488" cy="530352"/>
          </a:xfrm>
          <a:prstGeom prst="rect">
            <a:avLst/>
          </a:prstGeom>
          <a:noFill/>
          <a:ln/>
        </p:spPr>
        <p:txBody>
          <a:bodyPr wrap="square" lIns="0" tIns="0" rIns="0" bIns="0" rtlCol="0" anchor="ctr"/>
          <a:lstStyle/>
          <a:p>
            <a:pPr marL="0" indent="0">
              <a:lnSpc>
                <a:spcPct val="120000"/>
              </a:lnSpc>
              <a:buNone/>
            </a:pPr>
            <a:r>
              <a:rPr lang="en-US" sz="1000" b="1" dirty="0" err="1">
                <a:solidFill>
                  <a:srgbClr val="1F2933"/>
                </a:solidFill>
                <a:latin typeface="Calibri" pitchFamily="34" charset="0"/>
                <a:ea typeface="Calibri" pitchFamily="34" charset="-122"/>
                <a:cs typeface="Calibri" pitchFamily="34" charset="-120"/>
              </a:rPr>
              <a:t>個人情報の扱い</a:t>
            </a:r>
            <a:r>
              <a:rPr lang="en-US" sz="1000" b="1" dirty="0">
                <a:solidFill>
                  <a:srgbClr val="1F2933"/>
                </a:solidFill>
                <a:latin typeface="Calibri" pitchFamily="34" charset="0"/>
                <a:ea typeface="Calibri" pitchFamily="34" charset="-122"/>
                <a:cs typeface="Calibri" pitchFamily="34" charset="-120"/>
              </a:rPr>
              <a:t>　</a:t>
            </a:r>
            <a:r>
              <a:rPr lang="en-US" sz="1000" dirty="0" err="1">
                <a:solidFill>
                  <a:srgbClr val="1F2933"/>
                </a:solidFill>
                <a:latin typeface="Calibri" pitchFamily="34" charset="0"/>
                <a:ea typeface="Calibri" pitchFamily="34" charset="-122"/>
                <a:cs typeface="Calibri" pitchFamily="34" charset="-120"/>
              </a:rPr>
              <a:t>患者IDは加工した番号で保存／個人情報が写るページは「送らない」指定で除外できます</a:t>
            </a:r>
            <a:r>
              <a:rPr lang="en-US" sz="1000" dirty="0">
                <a:solidFill>
                  <a:srgbClr val="1F2933"/>
                </a:solidFill>
                <a:latin typeface="Calibri" pitchFamily="34" charset="0"/>
                <a:ea typeface="Calibri" pitchFamily="34" charset="-122"/>
                <a:cs typeface="Calibri" pitchFamily="34" charset="-120"/>
              </a:rPr>
              <a:t>。</a:t>
            </a:r>
            <a:r>
              <a:rPr lang="en-US" sz="1000" dirty="0">
                <a:solidFill>
                  <a:srgbClr val="9A5B12"/>
                </a:solidFill>
                <a:latin typeface="Calibri" pitchFamily="34" charset="0"/>
                <a:ea typeface="Calibri" pitchFamily="34" charset="-122"/>
                <a:cs typeface="Calibri" pitchFamily="34" charset="-120"/>
              </a:rPr>
              <a:t>　</a:t>
            </a:r>
          </a:p>
          <a:p>
            <a:pPr marL="0" indent="0">
              <a:lnSpc>
                <a:spcPct val="120000"/>
              </a:lnSpc>
              <a:buNone/>
            </a:pPr>
            <a:r>
              <a:rPr lang="en-US" sz="1000" dirty="0">
                <a:solidFill>
                  <a:srgbClr val="9A5B12"/>
                </a:solidFill>
                <a:latin typeface="Calibri" pitchFamily="34" charset="0"/>
                <a:ea typeface="Calibri" pitchFamily="34" charset="-122"/>
                <a:cs typeface="Calibri" pitchFamily="34" charset="-120"/>
              </a:rPr>
              <a:t>※ 読み取りのために手術記録の画像はOpenAI社(米国)へ送信されます。院内で完結する仕組みではありません。</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92608"/>
            <a:ext cx="11064240" cy="475488"/>
          </a:xfrm>
          <a:prstGeom prst="rect">
            <a:avLst/>
          </a:prstGeom>
          <a:noFill/>
          <a:ln/>
        </p:spPr>
        <p:txBody>
          <a:bodyPr wrap="square" lIns="0" tIns="0" rIns="0" bIns="0" rtlCol="0" anchor="ctr"/>
          <a:lstStyle/>
          <a:p>
            <a:pPr marL="0" indent="0">
              <a:buNone/>
            </a:pPr>
            <a:r>
              <a:rPr lang="en-US" sz="2500" b="1" dirty="0">
                <a:solidFill>
                  <a:srgbClr val="0B3C46"/>
                </a:solidFill>
                <a:latin typeface="Meiryo" pitchFamily="34" charset="0"/>
                <a:ea typeface="Meiryo" pitchFamily="34" charset="-122"/>
                <a:cs typeface="Meiryo" pitchFamily="34" charset="-120"/>
              </a:rPr>
              <a:t>導入の効果と、市販製品への移行方針</a:t>
            </a:r>
            <a:endParaRPr lang="en-US" sz="2500" dirty="0"/>
          </a:p>
        </p:txBody>
      </p:sp>
      <p:sp>
        <p:nvSpPr>
          <p:cNvPr id="3" name="Text 1"/>
          <p:cNvSpPr/>
          <p:nvPr/>
        </p:nvSpPr>
        <p:spPr>
          <a:xfrm>
            <a:off x="548640" y="822960"/>
            <a:ext cx="11064240" cy="310896"/>
          </a:xfrm>
          <a:prstGeom prst="rect">
            <a:avLst/>
          </a:prstGeom>
          <a:noFill/>
          <a:ln/>
        </p:spPr>
        <p:txBody>
          <a:bodyPr wrap="square" lIns="0" tIns="0" rIns="0" bIns="0" rtlCol="0" anchor="ctr"/>
          <a:lstStyle/>
          <a:p>
            <a:pPr marL="0" indent="0">
              <a:buNone/>
            </a:pPr>
            <a:r>
              <a:rPr lang="en-US" sz="1300" dirty="0">
                <a:solidFill>
                  <a:srgbClr val="6C8286"/>
                </a:solidFill>
                <a:latin typeface="Meiryo" pitchFamily="34" charset="0"/>
                <a:ea typeface="Meiryo" pitchFamily="34" charset="-122"/>
                <a:cs typeface="Meiryo" pitchFamily="34" charset="-120"/>
              </a:rPr>
              <a:t>本提案の不利な点もあわせてご報告します</a:t>
            </a:r>
            <a:endParaRPr lang="en-US" sz="1300" dirty="0"/>
          </a:p>
        </p:txBody>
      </p:sp>
      <p:sp>
        <p:nvSpPr>
          <p:cNvPr id="4" name="Shape 2"/>
          <p:cNvSpPr/>
          <p:nvPr/>
        </p:nvSpPr>
        <p:spPr>
          <a:xfrm>
            <a:off x="548640" y="1188720"/>
            <a:ext cx="5440680" cy="2011680"/>
          </a:xfrm>
          <a:prstGeom prst="roundRect">
            <a:avLst>
              <a:gd name="adj" fmla="val 3636"/>
            </a:avLst>
          </a:prstGeom>
          <a:solidFill>
            <a:srgbClr val="F4F8F9"/>
          </a:solidFill>
          <a:ln/>
        </p:spPr>
      </p:sp>
      <p:sp>
        <p:nvSpPr>
          <p:cNvPr id="5" name="Text 3"/>
          <p:cNvSpPr/>
          <p:nvPr/>
        </p:nvSpPr>
        <p:spPr>
          <a:xfrm>
            <a:off x="868680" y="1371600"/>
            <a:ext cx="4846320" cy="274320"/>
          </a:xfrm>
          <a:prstGeom prst="rect">
            <a:avLst/>
          </a:prstGeom>
          <a:noFill/>
          <a:ln/>
        </p:spPr>
        <p:txBody>
          <a:bodyPr wrap="square" lIns="0" tIns="0" rIns="0" bIns="0" rtlCol="0" anchor="ctr"/>
          <a:lstStyle/>
          <a:p>
            <a:pPr marL="0" indent="0">
              <a:buNone/>
            </a:pPr>
            <a:r>
              <a:rPr lang="en-US" sz="1400" b="1" dirty="0">
                <a:solidFill>
                  <a:srgbClr val="028090"/>
                </a:solidFill>
                <a:latin typeface="Meiryo" pitchFamily="34" charset="0"/>
                <a:ea typeface="Meiryo" pitchFamily="34" charset="-122"/>
                <a:cs typeface="Meiryo" pitchFamily="34" charset="-120"/>
              </a:rPr>
              <a:t>効果</a:t>
            </a:r>
            <a:endParaRPr lang="en-US" sz="1400" dirty="0"/>
          </a:p>
        </p:txBody>
      </p:sp>
      <p:sp>
        <p:nvSpPr>
          <p:cNvPr id="6" name="Text 4"/>
          <p:cNvSpPr/>
          <p:nvPr/>
        </p:nvSpPr>
        <p:spPr>
          <a:xfrm>
            <a:off x="868680" y="1691640"/>
            <a:ext cx="4846320" cy="548640"/>
          </a:xfrm>
          <a:prstGeom prst="rect">
            <a:avLst/>
          </a:prstGeom>
          <a:noFill/>
          <a:ln/>
        </p:spPr>
        <p:txBody>
          <a:bodyPr wrap="square" lIns="0" tIns="0" rIns="0" bIns="0" rtlCol="0" anchor="ctr"/>
          <a:lstStyle/>
          <a:p>
            <a:pPr marL="0" indent="0">
              <a:lnSpc>
                <a:spcPts val="1900"/>
              </a:lnSpc>
              <a:buNone/>
            </a:pPr>
            <a:r>
              <a:rPr lang="en-US" sz="1250" dirty="0">
                <a:solidFill>
                  <a:srgbClr val="23373C"/>
                </a:solidFill>
                <a:latin typeface="Meiryo" pitchFamily="34" charset="0"/>
                <a:ea typeface="Meiryo" pitchFamily="34" charset="-122"/>
                <a:cs typeface="Meiryo" pitchFamily="34" charset="-120"/>
              </a:rPr>
              <a:t>停止している登録業務を再開でき、9月半ばの本稼働に間に合わせられます。</a:t>
            </a:r>
            <a:endParaRPr lang="en-US" sz="1250" dirty="0"/>
          </a:p>
        </p:txBody>
      </p:sp>
      <p:sp>
        <p:nvSpPr>
          <p:cNvPr id="7" name="Text 5"/>
          <p:cNvSpPr/>
          <p:nvPr/>
        </p:nvSpPr>
        <p:spPr>
          <a:xfrm>
            <a:off x="868680" y="2331720"/>
            <a:ext cx="4846320" cy="320040"/>
          </a:xfrm>
          <a:prstGeom prst="rect">
            <a:avLst/>
          </a:prstGeom>
          <a:noFill/>
          <a:ln/>
        </p:spPr>
        <p:txBody>
          <a:bodyPr wrap="square" lIns="0" tIns="0" rIns="0" bIns="0" rtlCol="0" anchor="ctr"/>
          <a:lstStyle/>
          <a:p>
            <a:pPr marL="0" indent="0">
              <a:buNone/>
            </a:pPr>
            <a:r>
              <a:rPr lang="en-US" sz="1250" b="1" dirty="0">
                <a:solidFill>
                  <a:srgbClr val="C77700"/>
                </a:solidFill>
                <a:latin typeface="Meiryo" pitchFamily="34" charset="0"/>
                <a:ea typeface="Meiryo" pitchFamily="34" charset="-122"/>
                <a:cs typeface="Meiryo" pitchFamily="34" charset="-120"/>
              </a:rPr>
              <a:t>1症例あたり　</a:t>
            </a:r>
            <a:r>
              <a:rPr lang="en-US" altLang="ja-JP" sz="1250" b="1" dirty="0">
                <a:solidFill>
                  <a:srgbClr val="C77700"/>
                </a:solidFill>
                <a:latin typeface="Meiryo" pitchFamily="34" charset="0"/>
                <a:ea typeface="Meiryo" pitchFamily="34" charset="-122"/>
                <a:cs typeface="Meiryo" pitchFamily="34" charset="-120"/>
              </a:rPr>
              <a:t>10</a:t>
            </a:r>
            <a:r>
              <a:rPr lang="ja-JP" altLang="en-US" sz="1250" b="1" dirty="0">
                <a:solidFill>
                  <a:srgbClr val="C77700"/>
                </a:solidFill>
                <a:latin typeface="Meiryo" pitchFamily="34" charset="0"/>
                <a:ea typeface="Meiryo" pitchFamily="34" charset="-122"/>
                <a:cs typeface="Meiryo" pitchFamily="34" charset="-120"/>
              </a:rPr>
              <a:t>～</a:t>
            </a:r>
            <a:r>
              <a:rPr lang="en-US" altLang="ja-JP" sz="1250" b="1" dirty="0">
                <a:solidFill>
                  <a:srgbClr val="C77700"/>
                </a:solidFill>
                <a:latin typeface="Meiryo" pitchFamily="34" charset="0"/>
                <a:ea typeface="Meiryo" pitchFamily="34" charset="-122"/>
                <a:cs typeface="Meiryo" pitchFamily="34" charset="-120"/>
              </a:rPr>
              <a:t>20</a:t>
            </a:r>
            <a:r>
              <a:rPr lang="en-US" sz="1250" b="1" dirty="0">
                <a:solidFill>
                  <a:srgbClr val="C77700"/>
                </a:solidFill>
                <a:latin typeface="Meiryo" pitchFamily="34" charset="0"/>
                <a:ea typeface="Meiryo" pitchFamily="34" charset="-122"/>
                <a:cs typeface="Meiryo" pitchFamily="34" charset="-120"/>
              </a:rPr>
              <a:t>分 → </a:t>
            </a:r>
            <a:r>
              <a:rPr lang="en-US" altLang="ja-JP" sz="1250" b="1" dirty="0">
                <a:solidFill>
                  <a:srgbClr val="C77700"/>
                </a:solidFill>
                <a:latin typeface="Meiryo" pitchFamily="34" charset="0"/>
                <a:ea typeface="Meiryo" pitchFamily="34" charset="-122"/>
                <a:cs typeface="Meiryo" pitchFamily="34" charset="-120"/>
              </a:rPr>
              <a:t>3</a:t>
            </a:r>
            <a:r>
              <a:rPr lang="ja-JP" altLang="en-US" sz="1250" b="1" dirty="0">
                <a:solidFill>
                  <a:srgbClr val="C77700"/>
                </a:solidFill>
                <a:latin typeface="Meiryo" pitchFamily="34" charset="0"/>
                <a:ea typeface="Meiryo" pitchFamily="34" charset="-122"/>
                <a:cs typeface="Meiryo" pitchFamily="34" charset="-120"/>
              </a:rPr>
              <a:t>～</a:t>
            </a:r>
            <a:r>
              <a:rPr lang="en-US" altLang="ja-JP" sz="1250" b="1" dirty="0">
                <a:solidFill>
                  <a:srgbClr val="C77700"/>
                </a:solidFill>
                <a:latin typeface="Meiryo" pitchFamily="34" charset="0"/>
                <a:ea typeface="Meiryo" pitchFamily="34" charset="-122"/>
                <a:cs typeface="Meiryo" pitchFamily="34" charset="-120"/>
              </a:rPr>
              <a:t>7</a:t>
            </a:r>
            <a:r>
              <a:rPr lang="en-US" sz="1250" b="1" dirty="0">
                <a:solidFill>
                  <a:srgbClr val="C77700"/>
                </a:solidFill>
                <a:latin typeface="Meiryo" pitchFamily="34" charset="0"/>
                <a:ea typeface="Meiryo" pitchFamily="34" charset="-122"/>
                <a:cs typeface="Meiryo" pitchFamily="34" charset="-120"/>
              </a:rPr>
              <a:t>分</a:t>
            </a:r>
            <a:r>
              <a:rPr lang="ja-JP" altLang="en-US" sz="1250" b="1" dirty="0">
                <a:solidFill>
                  <a:srgbClr val="C77700"/>
                </a:solidFill>
                <a:latin typeface="Meiryo" pitchFamily="34" charset="0"/>
                <a:ea typeface="Meiryo" pitchFamily="34" charset="-122"/>
                <a:cs typeface="Meiryo" pitchFamily="34" charset="-120"/>
              </a:rPr>
              <a:t> （想定値）</a:t>
            </a:r>
            <a:endParaRPr lang="en-US" sz="1250" dirty="0"/>
          </a:p>
        </p:txBody>
      </p:sp>
      <p:sp>
        <p:nvSpPr>
          <p:cNvPr id="8" name="Text 6"/>
          <p:cNvSpPr/>
          <p:nvPr/>
        </p:nvSpPr>
        <p:spPr>
          <a:xfrm>
            <a:off x="868680" y="2670048"/>
            <a:ext cx="4846320" cy="320040"/>
          </a:xfrm>
          <a:prstGeom prst="rect">
            <a:avLst/>
          </a:prstGeom>
          <a:noFill/>
          <a:ln/>
        </p:spPr>
        <p:txBody>
          <a:bodyPr wrap="square" lIns="0" tIns="0" rIns="0" bIns="0" rtlCol="0" anchor="ctr"/>
          <a:lstStyle/>
          <a:p>
            <a:pPr marL="0" indent="0">
              <a:buNone/>
            </a:pPr>
            <a:r>
              <a:rPr lang="en-US" sz="1100" dirty="0">
                <a:solidFill>
                  <a:srgbClr val="6C8286"/>
                </a:solidFill>
                <a:latin typeface="Meiryo" pitchFamily="34" charset="0"/>
                <a:ea typeface="Meiryo" pitchFamily="34" charset="-122"/>
                <a:cs typeface="Meiryo" pitchFamily="34" charset="-120"/>
              </a:rPr>
              <a:t>※ 実測値が入ると、決裁のご判断材料になります。</a:t>
            </a:r>
            <a:endParaRPr lang="en-US" sz="1100" dirty="0"/>
          </a:p>
        </p:txBody>
      </p:sp>
      <p:sp>
        <p:nvSpPr>
          <p:cNvPr id="9" name="Shape 7"/>
          <p:cNvSpPr/>
          <p:nvPr/>
        </p:nvSpPr>
        <p:spPr>
          <a:xfrm>
            <a:off x="6172200" y="1188720"/>
            <a:ext cx="5440680" cy="2011680"/>
          </a:xfrm>
          <a:prstGeom prst="roundRect">
            <a:avLst>
              <a:gd name="adj" fmla="val 3636"/>
            </a:avLst>
          </a:prstGeom>
          <a:solidFill>
            <a:srgbClr val="0B3C46"/>
          </a:solidFill>
          <a:ln/>
        </p:spPr>
      </p:sp>
      <p:sp>
        <p:nvSpPr>
          <p:cNvPr id="10" name="Text 8"/>
          <p:cNvSpPr/>
          <p:nvPr/>
        </p:nvSpPr>
        <p:spPr>
          <a:xfrm>
            <a:off x="6492240" y="1371600"/>
            <a:ext cx="4846320" cy="274320"/>
          </a:xfrm>
          <a:prstGeom prst="rect">
            <a:avLst/>
          </a:prstGeom>
          <a:noFill/>
          <a:ln/>
        </p:spPr>
        <p:txBody>
          <a:bodyPr wrap="square" lIns="0" tIns="0" rIns="0" bIns="0" rtlCol="0" anchor="ctr"/>
          <a:lstStyle/>
          <a:p>
            <a:pPr marL="0" indent="0">
              <a:buNone/>
            </a:pPr>
            <a:r>
              <a:rPr lang="en-US" sz="1400" b="1" dirty="0">
                <a:solidFill>
                  <a:srgbClr val="02C39A"/>
                </a:solidFill>
                <a:latin typeface="Meiryo" pitchFamily="34" charset="0"/>
                <a:ea typeface="Meiryo" pitchFamily="34" charset="-122"/>
                <a:cs typeface="Meiryo" pitchFamily="34" charset="-120"/>
              </a:rPr>
              <a:t>市販製品が導入されたら</a:t>
            </a:r>
            <a:endParaRPr lang="en-US" sz="1400" dirty="0"/>
          </a:p>
        </p:txBody>
      </p:sp>
      <p:sp>
        <p:nvSpPr>
          <p:cNvPr id="11" name="Text 9"/>
          <p:cNvSpPr/>
          <p:nvPr/>
        </p:nvSpPr>
        <p:spPr>
          <a:xfrm>
            <a:off x="6492240" y="1691640"/>
            <a:ext cx="4846320" cy="1371600"/>
          </a:xfrm>
          <a:prstGeom prst="rect">
            <a:avLst/>
          </a:prstGeom>
          <a:noFill/>
          <a:ln/>
        </p:spPr>
        <p:txBody>
          <a:bodyPr wrap="square" lIns="0" tIns="0" rIns="0" bIns="0" rtlCol="0" anchor="ctr"/>
          <a:lstStyle/>
          <a:p>
            <a:pPr marL="0" indent="0">
              <a:lnSpc>
                <a:spcPts val="1800"/>
              </a:lnSpc>
              <a:spcAft>
                <a:spcPts val="400"/>
              </a:spcAft>
              <a:buNone/>
            </a:pPr>
            <a:r>
              <a:rPr lang="en-US" sz="1200" dirty="0">
                <a:solidFill>
                  <a:srgbClr val="D6ECEE"/>
                </a:solidFill>
                <a:latin typeface="Meiryo" pitchFamily="34" charset="0"/>
                <a:ea typeface="Meiryo" pitchFamily="34" charset="-122"/>
                <a:cs typeface="Meiryo" pitchFamily="34" charset="-120"/>
              </a:rPr>
              <a:t>重複して使い続けず、役割を終えて撤去します。</a:t>
            </a:r>
            <a:endParaRPr lang="en-US" sz="1200" dirty="0"/>
          </a:p>
          <a:p>
            <a:pPr marL="0" indent="0">
              <a:lnSpc>
                <a:spcPts val="1800"/>
              </a:lnSpc>
              <a:spcAft>
                <a:spcPts val="400"/>
              </a:spcAft>
              <a:buNone/>
            </a:pPr>
            <a:r>
              <a:rPr lang="en-US" sz="1200" dirty="0">
                <a:solidFill>
                  <a:srgbClr val="D6ECEE"/>
                </a:solidFill>
                <a:latin typeface="Meiryo" pitchFamily="34" charset="0"/>
                <a:ea typeface="Meiryo" pitchFamily="34" charset="-122"/>
                <a:cs typeface="Meiryo" pitchFamily="34" charset="-120"/>
              </a:rPr>
              <a:t>オペコピの読み取り設定は、製品側のマッチング設定にほぼそのまま移せます。通常は時間のかかる作業を短縮できます。</a:t>
            </a:r>
            <a:endParaRPr lang="en-US" sz="1200" dirty="0"/>
          </a:p>
          <a:p>
            <a:pPr marL="0" indent="0">
              <a:lnSpc>
                <a:spcPts val="1800"/>
              </a:lnSpc>
              <a:spcAft>
                <a:spcPts val="400"/>
              </a:spcAft>
              <a:buNone/>
            </a:pPr>
            <a:r>
              <a:rPr lang="en-US" sz="1200" dirty="0">
                <a:solidFill>
                  <a:srgbClr val="D6ECEE"/>
                </a:solidFill>
                <a:latin typeface="Meiryo" pitchFamily="34" charset="0"/>
                <a:ea typeface="Meiryo" pitchFamily="34" charset="-122"/>
                <a:cs typeface="Meiryo" pitchFamily="34" charset="-120"/>
              </a:rPr>
              <a:t>現場が同じ流れに慣れているため、移行時の混乱と教育の手間が減ります。</a:t>
            </a:r>
            <a:endParaRPr lang="en-US" sz="1200" dirty="0"/>
          </a:p>
        </p:txBody>
      </p:sp>
      <p:sp>
        <p:nvSpPr>
          <p:cNvPr id="12" name="Shape 10"/>
          <p:cNvSpPr/>
          <p:nvPr/>
        </p:nvSpPr>
        <p:spPr>
          <a:xfrm>
            <a:off x="548640" y="3429000"/>
            <a:ext cx="11064240" cy="2495550"/>
          </a:xfrm>
          <a:prstGeom prst="roundRect">
            <a:avLst>
              <a:gd name="adj" fmla="val 3137"/>
            </a:avLst>
          </a:prstGeom>
          <a:solidFill>
            <a:srgbClr val="FFF4E0"/>
          </a:solidFill>
          <a:ln/>
        </p:spPr>
      </p:sp>
      <p:sp>
        <p:nvSpPr>
          <p:cNvPr id="13" name="Text 11"/>
          <p:cNvSpPr/>
          <p:nvPr/>
        </p:nvSpPr>
        <p:spPr>
          <a:xfrm>
            <a:off x="868680" y="3611880"/>
            <a:ext cx="10424160" cy="274320"/>
          </a:xfrm>
          <a:prstGeom prst="rect">
            <a:avLst/>
          </a:prstGeom>
          <a:noFill/>
          <a:ln/>
        </p:spPr>
        <p:txBody>
          <a:bodyPr wrap="square" lIns="0" tIns="0" rIns="0" bIns="0" rtlCol="0" anchor="ctr"/>
          <a:lstStyle/>
          <a:p>
            <a:pPr marL="0" indent="0">
              <a:buNone/>
            </a:pPr>
            <a:r>
              <a:rPr lang="en-US" sz="1400" b="1" dirty="0">
                <a:solidFill>
                  <a:srgbClr val="C77700"/>
                </a:solidFill>
                <a:latin typeface="Meiryo" pitchFamily="34" charset="0"/>
                <a:ea typeface="Meiryo" pitchFamily="34" charset="-122"/>
                <a:cs typeface="Meiryo" pitchFamily="34" charset="-120"/>
              </a:rPr>
              <a:t>本提案の弱点（ご判断にあたりお含みおきください）</a:t>
            </a:r>
            <a:endParaRPr lang="en-US" sz="1400" dirty="0"/>
          </a:p>
        </p:txBody>
      </p:sp>
      <p:sp>
        <p:nvSpPr>
          <p:cNvPr id="14" name="Text 12"/>
          <p:cNvSpPr/>
          <p:nvPr/>
        </p:nvSpPr>
        <p:spPr>
          <a:xfrm>
            <a:off x="868680" y="3977640"/>
            <a:ext cx="5029200" cy="256032"/>
          </a:xfrm>
          <a:prstGeom prst="rect">
            <a:avLst/>
          </a:prstGeom>
          <a:noFill/>
          <a:ln/>
        </p:spPr>
        <p:txBody>
          <a:bodyPr wrap="square" lIns="0" tIns="0" rIns="0" bIns="0" rtlCol="0" anchor="ctr"/>
          <a:lstStyle/>
          <a:p>
            <a:pPr marL="0" indent="0">
              <a:buNone/>
            </a:pPr>
            <a:r>
              <a:rPr lang="en-US" sz="1250" b="1" dirty="0">
                <a:solidFill>
                  <a:srgbClr val="23373C"/>
                </a:solidFill>
                <a:latin typeface="Meiryo" pitchFamily="34" charset="0"/>
                <a:ea typeface="Meiryo" pitchFamily="34" charset="-122"/>
                <a:cs typeface="Meiryo" pitchFamily="34" charset="-120"/>
              </a:rPr>
              <a:t>▪ 属人性</a:t>
            </a:r>
            <a:endParaRPr lang="en-US" sz="1250" dirty="0"/>
          </a:p>
        </p:txBody>
      </p:sp>
      <p:sp>
        <p:nvSpPr>
          <p:cNvPr id="15" name="Text 13"/>
          <p:cNvSpPr/>
          <p:nvPr/>
        </p:nvSpPr>
        <p:spPr>
          <a:xfrm>
            <a:off x="1051560" y="4251960"/>
            <a:ext cx="4846320" cy="457200"/>
          </a:xfrm>
          <a:prstGeom prst="rect">
            <a:avLst/>
          </a:prstGeom>
          <a:noFill/>
          <a:ln/>
        </p:spPr>
        <p:txBody>
          <a:bodyPr wrap="square" lIns="0" tIns="0" rIns="0" bIns="0" rtlCol="0" anchor="ctr"/>
          <a:lstStyle/>
          <a:p>
            <a:pPr marL="0" indent="0">
              <a:lnSpc>
                <a:spcPts val="1600"/>
              </a:lnSpc>
              <a:buNone/>
            </a:pPr>
            <a:r>
              <a:rPr lang="en-US" sz="1150" dirty="0">
                <a:solidFill>
                  <a:srgbClr val="6C8286"/>
                </a:solidFill>
                <a:latin typeface="Meiryo" pitchFamily="34" charset="0"/>
                <a:ea typeface="Meiryo" pitchFamily="34" charset="-122"/>
                <a:cs typeface="Meiryo" pitchFamily="34" charset="-120"/>
              </a:rPr>
              <a:t>職員1名が作成したもので、担当者が不在になると改修が止まります。</a:t>
            </a:r>
            <a:endParaRPr lang="en-US" sz="1150" dirty="0"/>
          </a:p>
        </p:txBody>
      </p:sp>
      <p:sp>
        <p:nvSpPr>
          <p:cNvPr id="16" name="Text 14"/>
          <p:cNvSpPr/>
          <p:nvPr/>
        </p:nvSpPr>
        <p:spPr>
          <a:xfrm>
            <a:off x="6217920" y="3977640"/>
            <a:ext cx="5029200" cy="256032"/>
          </a:xfrm>
          <a:prstGeom prst="rect">
            <a:avLst/>
          </a:prstGeom>
          <a:noFill/>
          <a:ln/>
        </p:spPr>
        <p:txBody>
          <a:bodyPr wrap="square" lIns="0" tIns="0" rIns="0" bIns="0" rtlCol="0" anchor="ctr"/>
          <a:lstStyle/>
          <a:p>
            <a:pPr marL="0" indent="0">
              <a:buNone/>
            </a:pPr>
            <a:r>
              <a:rPr lang="en-US" sz="1250" b="1" dirty="0">
                <a:solidFill>
                  <a:srgbClr val="23373C"/>
                </a:solidFill>
                <a:latin typeface="Meiryo" pitchFamily="34" charset="0"/>
                <a:ea typeface="Meiryo" pitchFamily="34" charset="-122"/>
                <a:cs typeface="Meiryo" pitchFamily="34" charset="-120"/>
              </a:rPr>
              <a:t>▪ サポート窓口がない</a:t>
            </a:r>
            <a:endParaRPr lang="en-US" sz="1250" dirty="0"/>
          </a:p>
        </p:txBody>
      </p:sp>
      <p:sp>
        <p:nvSpPr>
          <p:cNvPr id="17" name="Text 15"/>
          <p:cNvSpPr/>
          <p:nvPr/>
        </p:nvSpPr>
        <p:spPr>
          <a:xfrm>
            <a:off x="6400800" y="4251960"/>
            <a:ext cx="4846320" cy="457200"/>
          </a:xfrm>
          <a:prstGeom prst="rect">
            <a:avLst/>
          </a:prstGeom>
          <a:noFill/>
          <a:ln/>
        </p:spPr>
        <p:txBody>
          <a:bodyPr wrap="square" lIns="0" tIns="0" rIns="0" bIns="0" rtlCol="0" anchor="ctr"/>
          <a:lstStyle/>
          <a:p>
            <a:pPr marL="0" indent="0">
              <a:lnSpc>
                <a:spcPts val="1600"/>
              </a:lnSpc>
              <a:buNone/>
            </a:pPr>
            <a:r>
              <a:rPr lang="en-US" sz="1150" dirty="0">
                <a:solidFill>
                  <a:srgbClr val="6C8286"/>
                </a:solidFill>
                <a:latin typeface="Meiryo" pitchFamily="34" charset="0"/>
                <a:ea typeface="Meiryo" pitchFamily="34" charset="-122"/>
                <a:cs typeface="Meiryo" pitchFamily="34" charset="-120"/>
              </a:rPr>
              <a:t>不具合時にメーカー保証や問い合わせ先がありません。</a:t>
            </a:r>
            <a:endParaRPr lang="en-US" sz="1150" dirty="0"/>
          </a:p>
        </p:txBody>
      </p:sp>
      <p:sp>
        <p:nvSpPr>
          <p:cNvPr id="18" name="Text 16"/>
          <p:cNvSpPr/>
          <p:nvPr/>
        </p:nvSpPr>
        <p:spPr>
          <a:xfrm>
            <a:off x="868680" y="4818888"/>
            <a:ext cx="5029200" cy="256032"/>
          </a:xfrm>
          <a:prstGeom prst="rect">
            <a:avLst/>
          </a:prstGeom>
          <a:noFill/>
          <a:ln/>
        </p:spPr>
        <p:txBody>
          <a:bodyPr wrap="square" lIns="0" tIns="0" rIns="0" bIns="0" rtlCol="0" anchor="ctr"/>
          <a:lstStyle/>
          <a:p>
            <a:pPr marL="0" indent="0">
              <a:buNone/>
            </a:pPr>
            <a:r>
              <a:rPr lang="en-US" sz="1250" b="1" dirty="0">
                <a:solidFill>
                  <a:srgbClr val="23373C"/>
                </a:solidFill>
                <a:latin typeface="Meiryo" pitchFamily="34" charset="0"/>
                <a:ea typeface="Meiryo" pitchFamily="34" charset="-122"/>
                <a:cs typeface="Meiryo" pitchFamily="34" charset="-120"/>
              </a:rPr>
              <a:t>▪ </a:t>
            </a:r>
            <a:r>
              <a:rPr lang="en-US" sz="1250" b="1" dirty="0" err="1">
                <a:solidFill>
                  <a:srgbClr val="23373C"/>
                </a:solidFill>
                <a:latin typeface="Meiryo" pitchFamily="34" charset="0"/>
                <a:ea typeface="Meiryo" pitchFamily="34" charset="-122"/>
                <a:cs typeface="Meiryo" pitchFamily="34" charset="-120"/>
              </a:rPr>
              <a:t>手書きの読み取り</a:t>
            </a:r>
            <a:r>
              <a:rPr lang="ja-JP" altLang="en-US" sz="1250" b="1" dirty="0">
                <a:solidFill>
                  <a:srgbClr val="23373C"/>
                </a:solidFill>
                <a:latin typeface="Meiryo" pitchFamily="34" charset="0"/>
                <a:ea typeface="Meiryo" pitchFamily="34" charset="-122"/>
                <a:cs typeface="Meiryo" pitchFamily="34" charset="-120"/>
              </a:rPr>
              <a:t>機能不足</a:t>
            </a:r>
            <a:endParaRPr lang="en-US" sz="1250" dirty="0"/>
          </a:p>
        </p:txBody>
      </p:sp>
      <p:sp>
        <p:nvSpPr>
          <p:cNvPr id="19" name="Text 17"/>
          <p:cNvSpPr/>
          <p:nvPr/>
        </p:nvSpPr>
        <p:spPr>
          <a:xfrm>
            <a:off x="1051560" y="5093208"/>
            <a:ext cx="4846320" cy="457200"/>
          </a:xfrm>
          <a:prstGeom prst="rect">
            <a:avLst/>
          </a:prstGeom>
          <a:noFill/>
          <a:ln/>
        </p:spPr>
        <p:txBody>
          <a:bodyPr wrap="square" lIns="0" tIns="0" rIns="0" bIns="0" rtlCol="0" anchor="ctr"/>
          <a:lstStyle/>
          <a:p>
            <a:pPr marL="0" indent="0">
              <a:lnSpc>
                <a:spcPts val="1600"/>
              </a:lnSpc>
              <a:buNone/>
            </a:pPr>
            <a:r>
              <a:rPr lang="en-US" sz="1150" dirty="0" err="1">
                <a:solidFill>
                  <a:srgbClr val="6C8286"/>
                </a:solidFill>
                <a:latin typeface="Meiryo" pitchFamily="34" charset="0"/>
                <a:ea typeface="Meiryo" pitchFamily="34" charset="-122"/>
                <a:cs typeface="Meiryo" pitchFamily="34" charset="-120"/>
              </a:rPr>
              <a:t>手書き文字の認識は</a:t>
            </a:r>
            <a:r>
              <a:rPr lang="ja-JP" altLang="en-US" sz="1150" dirty="0">
                <a:solidFill>
                  <a:srgbClr val="6C8286"/>
                </a:solidFill>
                <a:latin typeface="Meiryo" pitchFamily="34" charset="0"/>
                <a:ea typeface="Meiryo" pitchFamily="34" charset="-122"/>
                <a:cs typeface="Meiryo" pitchFamily="34" charset="-120"/>
              </a:rPr>
              <a:t>出来ません</a:t>
            </a:r>
            <a:r>
              <a:rPr lang="en-US" sz="1150" dirty="0">
                <a:solidFill>
                  <a:srgbClr val="6C8286"/>
                </a:solidFill>
                <a:latin typeface="Meiryo" pitchFamily="34" charset="0"/>
                <a:ea typeface="Meiryo" pitchFamily="34" charset="-122"/>
                <a:cs typeface="Meiryo" pitchFamily="34" charset="-120"/>
              </a:rPr>
              <a:t>。人による確認が前提です。</a:t>
            </a:r>
            <a:endParaRPr lang="en-US" sz="1150" dirty="0"/>
          </a:p>
        </p:txBody>
      </p:sp>
      <p:sp>
        <p:nvSpPr>
          <p:cNvPr id="20" name="Text 18"/>
          <p:cNvSpPr/>
          <p:nvPr/>
        </p:nvSpPr>
        <p:spPr>
          <a:xfrm>
            <a:off x="6217920" y="4818888"/>
            <a:ext cx="5029200" cy="256032"/>
          </a:xfrm>
          <a:prstGeom prst="rect">
            <a:avLst/>
          </a:prstGeom>
          <a:noFill/>
          <a:ln/>
        </p:spPr>
        <p:txBody>
          <a:bodyPr wrap="square" lIns="0" tIns="0" rIns="0" bIns="0" rtlCol="0" anchor="ctr"/>
          <a:lstStyle/>
          <a:p>
            <a:pPr marL="0" indent="0">
              <a:buNone/>
            </a:pPr>
            <a:r>
              <a:rPr lang="en-US" sz="1250" b="1" dirty="0">
                <a:solidFill>
                  <a:srgbClr val="23373C"/>
                </a:solidFill>
                <a:latin typeface="Meiryo" pitchFamily="34" charset="0"/>
                <a:ea typeface="Meiryo" pitchFamily="34" charset="-122"/>
                <a:cs typeface="Meiryo" pitchFamily="34" charset="-120"/>
              </a:rPr>
              <a:t>▪ データの蓄積機能がない</a:t>
            </a:r>
            <a:endParaRPr lang="en-US" sz="1250" dirty="0"/>
          </a:p>
        </p:txBody>
      </p:sp>
      <p:sp>
        <p:nvSpPr>
          <p:cNvPr id="21" name="Text 19"/>
          <p:cNvSpPr/>
          <p:nvPr/>
        </p:nvSpPr>
        <p:spPr>
          <a:xfrm>
            <a:off x="6400800" y="5093208"/>
            <a:ext cx="4846320" cy="566928"/>
          </a:xfrm>
          <a:prstGeom prst="rect">
            <a:avLst/>
          </a:prstGeom>
          <a:noFill/>
          <a:ln/>
        </p:spPr>
        <p:txBody>
          <a:bodyPr wrap="square" lIns="0" tIns="0" rIns="0" bIns="0" rtlCol="0" anchor="ctr"/>
          <a:lstStyle/>
          <a:p>
            <a:pPr marL="0" indent="0">
              <a:lnSpc>
                <a:spcPts val="1600"/>
              </a:lnSpc>
              <a:buNone/>
            </a:pPr>
            <a:r>
              <a:rPr lang="en-US" sz="1150" dirty="0" err="1">
                <a:solidFill>
                  <a:srgbClr val="6C8286"/>
                </a:solidFill>
                <a:latin typeface="Meiryo" pitchFamily="34" charset="0"/>
                <a:ea typeface="Meiryo" pitchFamily="34" charset="-122"/>
                <a:cs typeface="Meiryo" pitchFamily="34" charset="-120"/>
              </a:rPr>
              <a:t>読み取った結果を保存・再利用する機能は持ちません</a:t>
            </a:r>
            <a:r>
              <a:rPr lang="en-US" sz="1150" dirty="0">
                <a:solidFill>
                  <a:srgbClr val="6C8286"/>
                </a:solidFill>
                <a:latin typeface="Meiryo" pitchFamily="34" charset="0"/>
                <a:ea typeface="Meiryo" pitchFamily="34" charset="-122"/>
                <a:cs typeface="Meiryo" pitchFamily="34" charset="-120"/>
              </a:rPr>
              <a:t>。</a:t>
            </a:r>
            <a:br>
              <a:rPr lang="en-US" sz="1150" dirty="0">
                <a:solidFill>
                  <a:srgbClr val="6C8286"/>
                </a:solidFill>
                <a:latin typeface="Meiryo" pitchFamily="34" charset="0"/>
                <a:ea typeface="Meiryo" pitchFamily="34" charset="-122"/>
                <a:cs typeface="Meiryo" pitchFamily="34" charset="-120"/>
              </a:rPr>
            </a:br>
            <a:r>
              <a:rPr lang="en-US" altLang="ja-JP" sz="1150" dirty="0">
                <a:solidFill>
                  <a:srgbClr val="6C8286"/>
                </a:solidFill>
                <a:latin typeface="Meiryo" pitchFamily="34" charset="0"/>
                <a:ea typeface="Meiryo" pitchFamily="34" charset="-122"/>
                <a:cs typeface="Meiryo" pitchFamily="34" charset="-120"/>
              </a:rPr>
              <a:t>※</a:t>
            </a:r>
            <a:r>
              <a:rPr lang="ja-JP" altLang="en-US" sz="1150" dirty="0">
                <a:solidFill>
                  <a:srgbClr val="6C8286"/>
                </a:solidFill>
                <a:latin typeface="Meiryo" pitchFamily="34" charset="0"/>
                <a:ea typeface="Meiryo" pitchFamily="34" charset="-122"/>
                <a:cs typeface="Meiryo" pitchFamily="34" charset="-120"/>
              </a:rPr>
              <a:t>需要があれば構築検討します。</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B3C46"/>
        </a:solidFill>
        <a:effectLst/>
      </p:bgPr>
    </p:bg>
    <p:spTree>
      <p:nvGrpSpPr>
        <p:cNvPr id="1" name=""/>
        <p:cNvGrpSpPr/>
        <p:nvPr/>
      </p:nvGrpSpPr>
      <p:grpSpPr>
        <a:xfrm>
          <a:off x="0" y="0"/>
          <a:ext cx="0" cy="0"/>
          <a:chOff x="0" y="0"/>
          <a:chExt cx="0" cy="0"/>
        </a:xfrm>
      </p:grpSpPr>
      <p:sp>
        <p:nvSpPr>
          <p:cNvPr id="2" name="Shape 0"/>
          <p:cNvSpPr/>
          <p:nvPr/>
        </p:nvSpPr>
        <p:spPr>
          <a:xfrm>
            <a:off x="548640" y="365760"/>
            <a:ext cx="1508760" cy="402336"/>
          </a:xfrm>
          <a:prstGeom prst="roundRect">
            <a:avLst>
              <a:gd name="adj" fmla="val 18182"/>
            </a:avLst>
          </a:prstGeom>
          <a:solidFill>
            <a:srgbClr val="C77700"/>
          </a:solidFill>
          <a:ln/>
        </p:spPr>
      </p:sp>
      <p:sp>
        <p:nvSpPr>
          <p:cNvPr id="3" name="Text 1"/>
          <p:cNvSpPr/>
          <p:nvPr/>
        </p:nvSpPr>
        <p:spPr>
          <a:xfrm>
            <a:off x="548640" y="365760"/>
            <a:ext cx="1508760"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pitchFamily="34" charset="0"/>
                <a:ea typeface="Meiryo" pitchFamily="34" charset="-122"/>
                <a:cs typeface="Meiryo" pitchFamily="34" charset="-120"/>
              </a:rPr>
              <a:t>ご決裁</a:t>
            </a:r>
            <a:endParaRPr lang="en-US" sz="1300" dirty="0"/>
          </a:p>
        </p:txBody>
      </p:sp>
      <p:sp>
        <p:nvSpPr>
          <p:cNvPr id="4" name="Text 2"/>
          <p:cNvSpPr/>
          <p:nvPr/>
        </p:nvSpPr>
        <p:spPr>
          <a:xfrm>
            <a:off x="2212848" y="329184"/>
            <a:ext cx="9326880" cy="475488"/>
          </a:xfrm>
          <a:prstGeom prst="rect">
            <a:avLst/>
          </a:prstGeom>
          <a:noFill/>
          <a:ln/>
        </p:spPr>
        <p:txBody>
          <a:bodyPr wrap="square" lIns="0" tIns="0" rIns="0" bIns="0" rtlCol="0" anchor="ctr"/>
          <a:lstStyle/>
          <a:p>
            <a:pPr marL="0" indent="0">
              <a:buNone/>
            </a:pPr>
            <a:r>
              <a:rPr lang="en-US" sz="2500" b="1" dirty="0">
                <a:solidFill>
                  <a:srgbClr val="FFFFFF"/>
                </a:solidFill>
                <a:latin typeface="Meiryo" pitchFamily="34" charset="0"/>
                <a:ea typeface="Meiryo" pitchFamily="34" charset="-122"/>
                <a:cs typeface="Meiryo" pitchFamily="34" charset="-120"/>
              </a:rPr>
              <a:t>運用環境とセキュリティ／お願いしたい事項</a:t>
            </a:r>
            <a:endParaRPr lang="en-US" sz="2500" dirty="0"/>
          </a:p>
        </p:txBody>
      </p:sp>
      <p:sp>
        <p:nvSpPr>
          <p:cNvPr id="5" name="Shape 3"/>
          <p:cNvSpPr/>
          <p:nvPr/>
        </p:nvSpPr>
        <p:spPr>
          <a:xfrm>
            <a:off x="548640" y="1005840"/>
            <a:ext cx="11064240" cy="786384"/>
          </a:xfrm>
          <a:prstGeom prst="roundRect">
            <a:avLst>
              <a:gd name="adj" fmla="val 9302"/>
            </a:avLst>
          </a:prstGeom>
          <a:solidFill>
            <a:srgbClr val="14515E"/>
          </a:solidFill>
          <a:ln/>
        </p:spPr>
      </p:sp>
      <p:sp>
        <p:nvSpPr>
          <p:cNvPr id="6" name="Text 4"/>
          <p:cNvSpPr/>
          <p:nvPr/>
        </p:nvSpPr>
        <p:spPr>
          <a:xfrm>
            <a:off x="868680" y="1005840"/>
            <a:ext cx="10424160" cy="786384"/>
          </a:xfrm>
          <a:prstGeom prst="rect">
            <a:avLst/>
          </a:prstGeom>
          <a:noFill/>
          <a:ln/>
        </p:spPr>
        <p:txBody>
          <a:bodyPr wrap="square" lIns="0" tIns="0" rIns="0" bIns="0" rtlCol="0" anchor="ctr"/>
          <a:lstStyle/>
          <a:p>
            <a:pPr marL="0" indent="0">
              <a:lnSpc>
                <a:spcPts val="2000"/>
              </a:lnSpc>
              <a:buNone/>
            </a:pPr>
            <a:r>
              <a:rPr lang="en-US" sz="1350" dirty="0">
                <a:solidFill>
                  <a:srgbClr val="FFE2B8"/>
                </a:solidFill>
                <a:latin typeface="Meiryo" pitchFamily="34" charset="0"/>
                <a:ea typeface="Meiryo" pitchFamily="34" charset="-122"/>
                <a:cs typeface="Meiryo" pitchFamily="34" charset="-120"/>
              </a:rPr>
              <a:t>現状は機能検証（PoC）のための仮環境です。このまま実データを扱うことはセキュリティ上適切でないため、下記の許可をお願いします。</a:t>
            </a:r>
            <a:endParaRPr lang="en-US" sz="1350" dirty="0"/>
          </a:p>
        </p:txBody>
      </p:sp>
      <p:sp>
        <p:nvSpPr>
          <p:cNvPr id="7" name="Shape 5"/>
          <p:cNvSpPr/>
          <p:nvPr/>
        </p:nvSpPr>
        <p:spPr>
          <a:xfrm>
            <a:off x="548640" y="1993392"/>
            <a:ext cx="11064240" cy="914400"/>
          </a:xfrm>
          <a:prstGeom prst="roundRect">
            <a:avLst>
              <a:gd name="adj" fmla="val 6000"/>
            </a:avLst>
          </a:prstGeom>
          <a:solidFill>
            <a:srgbClr val="FFFFFF"/>
          </a:solidFill>
          <a:ln/>
        </p:spPr>
      </p:sp>
      <p:sp>
        <p:nvSpPr>
          <p:cNvPr id="8" name="Shape 6"/>
          <p:cNvSpPr/>
          <p:nvPr/>
        </p:nvSpPr>
        <p:spPr>
          <a:xfrm>
            <a:off x="822960" y="2258568"/>
            <a:ext cx="384048" cy="384048"/>
          </a:xfrm>
          <a:prstGeom prst="ellipse">
            <a:avLst/>
          </a:prstGeom>
          <a:solidFill>
            <a:srgbClr val="028090"/>
          </a:solidFill>
          <a:ln/>
        </p:spPr>
      </p:sp>
      <p:sp>
        <p:nvSpPr>
          <p:cNvPr id="9" name="Text 7"/>
          <p:cNvSpPr/>
          <p:nvPr/>
        </p:nvSpPr>
        <p:spPr>
          <a:xfrm>
            <a:off x="822960" y="22585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10" name="Text 8"/>
          <p:cNvSpPr/>
          <p:nvPr/>
        </p:nvSpPr>
        <p:spPr>
          <a:xfrm>
            <a:off x="1389888" y="2121408"/>
            <a:ext cx="9966960" cy="384048"/>
          </a:xfrm>
          <a:prstGeom prst="rect">
            <a:avLst/>
          </a:prstGeom>
          <a:noFill/>
          <a:ln/>
        </p:spPr>
        <p:txBody>
          <a:bodyPr wrap="square" lIns="0" tIns="0" rIns="0" bIns="0" rtlCol="0" anchor="ctr"/>
          <a:lstStyle/>
          <a:p>
            <a:pPr marL="0" indent="0">
              <a:buNone/>
            </a:pPr>
            <a:r>
              <a:rPr lang="en-US" sz="1350" b="1" dirty="0">
                <a:solidFill>
                  <a:srgbClr val="0B3C46"/>
                </a:solidFill>
                <a:latin typeface="Meiryo" pitchFamily="34" charset="0"/>
                <a:ea typeface="Meiryo" pitchFamily="34" charset="-122"/>
                <a:cs typeface="Meiryo" pitchFamily="34" charset="-120"/>
              </a:rPr>
              <a:t>「手術伝票プラス」の電子カルテ端末での運用許可</a:t>
            </a:r>
            <a:endParaRPr lang="en-US" sz="1350" dirty="0"/>
          </a:p>
        </p:txBody>
      </p:sp>
      <p:sp>
        <p:nvSpPr>
          <p:cNvPr id="11" name="Text 9"/>
          <p:cNvSpPr/>
          <p:nvPr/>
        </p:nvSpPr>
        <p:spPr>
          <a:xfrm>
            <a:off x="1389888" y="2505456"/>
            <a:ext cx="9966960" cy="292608"/>
          </a:xfrm>
          <a:prstGeom prst="rect">
            <a:avLst/>
          </a:prstGeom>
          <a:noFill/>
          <a:ln/>
        </p:spPr>
        <p:txBody>
          <a:bodyPr wrap="square" lIns="0" tIns="0" rIns="0" bIns="0" rtlCol="0" anchor="ctr"/>
          <a:lstStyle/>
          <a:p>
            <a:pPr marL="0" indent="0">
              <a:buNone/>
            </a:pPr>
            <a:r>
              <a:rPr lang="en-US" sz="1150" dirty="0">
                <a:solidFill>
                  <a:srgbClr val="6C8286"/>
                </a:solidFill>
                <a:latin typeface="Meiryo" pitchFamily="34" charset="0"/>
                <a:ea typeface="Meiryo" pitchFamily="34" charset="-122"/>
                <a:cs typeface="Meiryo" pitchFamily="34" charset="-120"/>
              </a:rPr>
              <a:t>外部との通信は行わず、端末内で完結します。</a:t>
            </a:r>
            <a:endParaRPr lang="en-US" sz="1150" dirty="0"/>
          </a:p>
        </p:txBody>
      </p:sp>
      <p:sp>
        <p:nvSpPr>
          <p:cNvPr id="12" name="Shape 10"/>
          <p:cNvSpPr/>
          <p:nvPr/>
        </p:nvSpPr>
        <p:spPr>
          <a:xfrm>
            <a:off x="548640" y="3054096"/>
            <a:ext cx="11064240" cy="914400"/>
          </a:xfrm>
          <a:prstGeom prst="roundRect">
            <a:avLst>
              <a:gd name="adj" fmla="val 6000"/>
            </a:avLst>
          </a:prstGeom>
          <a:solidFill>
            <a:srgbClr val="FFFFFF"/>
          </a:solidFill>
          <a:ln/>
        </p:spPr>
      </p:sp>
      <p:sp>
        <p:nvSpPr>
          <p:cNvPr id="13" name="Shape 11"/>
          <p:cNvSpPr/>
          <p:nvPr/>
        </p:nvSpPr>
        <p:spPr>
          <a:xfrm>
            <a:off x="822960" y="3319272"/>
            <a:ext cx="384048" cy="384048"/>
          </a:xfrm>
          <a:prstGeom prst="ellipse">
            <a:avLst/>
          </a:prstGeom>
          <a:solidFill>
            <a:srgbClr val="028090"/>
          </a:solidFill>
          <a:ln/>
        </p:spPr>
      </p:sp>
      <p:sp>
        <p:nvSpPr>
          <p:cNvPr id="14" name="Text 12"/>
          <p:cNvSpPr/>
          <p:nvPr/>
        </p:nvSpPr>
        <p:spPr>
          <a:xfrm>
            <a:off x="822960" y="33192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5" name="Text 13"/>
          <p:cNvSpPr/>
          <p:nvPr/>
        </p:nvSpPr>
        <p:spPr>
          <a:xfrm>
            <a:off x="1389888" y="3182112"/>
            <a:ext cx="9966960" cy="384048"/>
          </a:xfrm>
          <a:prstGeom prst="rect">
            <a:avLst/>
          </a:prstGeom>
          <a:noFill/>
          <a:ln/>
        </p:spPr>
        <p:txBody>
          <a:bodyPr wrap="square" lIns="0" tIns="0" rIns="0" bIns="0" rtlCol="0" anchor="ctr"/>
          <a:lstStyle/>
          <a:p>
            <a:pPr marL="0" indent="0">
              <a:buNone/>
            </a:pPr>
            <a:r>
              <a:rPr lang="en-US" sz="1350" b="1" dirty="0">
                <a:solidFill>
                  <a:srgbClr val="0B3C46"/>
                </a:solidFill>
                <a:latin typeface="Meiryo" pitchFamily="34" charset="0"/>
                <a:ea typeface="Meiryo" pitchFamily="34" charset="-122"/>
                <a:cs typeface="Meiryo" pitchFamily="34" charset="-120"/>
              </a:rPr>
              <a:t>「PDFセパレーター」「オペコピ」の、情シスアカウントでの Cloudflare環境 での運用許可</a:t>
            </a:r>
            <a:endParaRPr lang="en-US" sz="1350" dirty="0"/>
          </a:p>
        </p:txBody>
      </p:sp>
      <p:sp>
        <p:nvSpPr>
          <p:cNvPr id="16" name="Text 14"/>
          <p:cNvSpPr/>
          <p:nvPr/>
        </p:nvSpPr>
        <p:spPr>
          <a:xfrm>
            <a:off x="1426464" y="3566160"/>
            <a:ext cx="9966960" cy="292608"/>
          </a:xfrm>
          <a:prstGeom prst="rect">
            <a:avLst/>
          </a:prstGeom>
          <a:noFill/>
          <a:ln/>
        </p:spPr>
        <p:txBody>
          <a:bodyPr wrap="square" lIns="0" tIns="0" rIns="0" bIns="0" rtlCol="0" anchor="ctr"/>
          <a:lstStyle/>
          <a:p>
            <a:pPr marL="0" indent="0">
              <a:buNone/>
            </a:pPr>
            <a:r>
              <a:rPr lang="en-US" sz="1150" dirty="0" err="1">
                <a:solidFill>
                  <a:srgbClr val="6C8286"/>
                </a:solidFill>
                <a:latin typeface="Meiryo" pitchFamily="34" charset="0"/>
                <a:ea typeface="Meiryo" pitchFamily="34" charset="-122"/>
                <a:cs typeface="Meiryo" pitchFamily="34" charset="-120"/>
              </a:rPr>
              <a:t>パスワードと</a:t>
            </a:r>
            <a:r>
              <a:rPr lang="en-US" altLang="ja-JP" sz="1150" dirty="0" err="1">
                <a:solidFill>
                  <a:srgbClr val="6C8286"/>
                </a:solidFill>
                <a:latin typeface="Meiryo" pitchFamily="34" charset="0"/>
                <a:ea typeface="Meiryo" pitchFamily="34" charset="-122"/>
                <a:cs typeface="Meiryo" pitchFamily="34" charset="-120"/>
              </a:rPr>
              <a:t>QR</a:t>
            </a:r>
            <a:r>
              <a:rPr lang="en-US" sz="1150" dirty="0" err="1">
                <a:solidFill>
                  <a:srgbClr val="6C8286"/>
                </a:solidFill>
                <a:latin typeface="Meiryo" pitchFamily="34" charset="0"/>
                <a:ea typeface="Meiryo" pitchFamily="34" charset="-122"/>
                <a:cs typeface="Meiryo" pitchFamily="34" charset="-120"/>
              </a:rPr>
              <a:t>確認により、利用者を限定します</a:t>
            </a:r>
            <a:r>
              <a:rPr lang="en-US" sz="1150" dirty="0">
                <a:solidFill>
                  <a:srgbClr val="6C8286"/>
                </a:solidFill>
                <a:latin typeface="Meiryo" pitchFamily="34" charset="0"/>
                <a:ea typeface="Meiryo" pitchFamily="34" charset="-122"/>
                <a:cs typeface="Meiryo" pitchFamily="34" charset="-120"/>
              </a:rPr>
              <a:t>。</a:t>
            </a:r>
            <a:r>
              <a:rPr lang="ja-JP" altLang="en-US" sz="1150" dirty="0">
                <a:solidFill>
                  <a:srgbClr val="6C8286"/>
                </a:solidFill>
                <a:latin typeface="Meiryo" pitchFamily="34" charset="0"/>
                <a:ea typeface="Meiryo" pitchFamily="34" charset="-122"/>
                <a:cs typeface="Meiryo" pitchFamily="34" charset="-120"/>
              </a:rPr>
              <a:t>他使用条件があれば調整します。</a:t>
            </a:r>
            <a:endParaRPr lang="en-US" sz="1150" dirty="0"/>
          </a:p>
        </p:txBody>
      </p:sp>
      <p:sp>
        <p:nvSpPr>
          <p:cNvPr id="17" name="Shape 15"/>
          <p:cNvSpPr/>
          <p:nvPr/>
        </p:nvSpPr>
        <p:spPr>
          <a:xfrm>
            <a:off x="548640" y="4114800"/>
            <a:ext cx="11064240" cy="914400"/>
          </a:xfrm>
          <a:prstGeom prst="roundRect">
            <a:avLst>
              <a:gd name="adj" fmla="val 6000"/>
            </a:avLst>
          </a:prstGeom>
          <a:solidFill>
            <a:srgbClr val="FFFFFF"/>
          </a:solidFill>
          <a:ln/>
        </p:spPr>
      </p:sp>
      <p:sp>
        <p:nvSpPr>
          <p:cNvPr id="18" name="Shape 16"/>
          <p:cNvSpPr/>
          <p:nvPr/>
        </p:nvSpPr>
        <p:spPr>
          <a:xfrm>
            <a:off x="822960" y="4379976"/>
            <a:ext cx="384048" cy="384048"/>
          </a:xfrm>
          <a:prstGeom prst="ellipse">
            <a:avLst/>
          </a:prstGeom>
          <a:solidFill>
            <a:srgbClr val="028090"/>
          </a:solidFill>
          <a:ln/>
        </p:spPr>
      </p:sp>
      <p:sp>
        <p:nvSpPr>
          <p:cNvPr id="19" name="Text 17"/>
          <p:cNvSpPr/>
          <p:nvPr/>
        </p:nvSpPr>
        <p:spPr>
          <a:xfrm>
            <a:off x="822960" y="43799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20" name="Text 18"/>
          <p:cNvSpPr/>
          <p:nvPr/>
        </p:nvSpPr>
        <p:spPr>
          <a:xfrm>
            <a:off x="1389888" y="4242816"/>
            <a:ext cx="9966960" cy="384048"/>
          </a:xfrm>
          <a:prstGeom prst="rect">
            <a:avLst/>
          </a:prstGeom>
          <a:noFill/>
          <a:ln/>
        </p:spPr>
        <p:txBody>
          <a:bodyPr wrap="square" lIns="0" tIns="0" rIns="0" bIns="0" rtlCol="0" anchor="ctr"/>
          <a:lstStyle/>
          <a:p>
            <a:pPr marL="0" indent="0">
              <a:buNone/>
            </a:pPr>
            <a:r>
              <a:rPr lang="en-US" sz="1350" b="1" dirty="0">
                <a:solidFill>
                  <a:srgbClr val="0B3C46"/>
                </a:solidFill>
                <a:latin typeface="Meiryo" pitchFamily="34" charset="0"/>
                <a:ea typeface="Meiryo" pitchFamily="34" charset="-122"/>
                <a:cs typeface="Meiryo" pitchFamily="34" charset="-120"/>
              </a:rPr>
              <a:t>上記2ツールのAI読み取り機能のため、ChatGPT API </a:t>
            </a:r>
            <a:r>
              <a:rPr lang="en-US" sz="1350" b="1" dirty="0" err="1">
                <a:solidFill>
                  <a:srgbClr val="0B3C46"/>
                </a:solidFill>
                <a:latin typeface="Meiryo" pitchFamily="34" charset="0"/>
                <a:ea typeface="Meiryo" pitchFamily="34" charset="-122"/>
                <a:cs typeface="Meiryo" pitchFamily="34" charset="-120"/>
              </a:rPr>
              <a:t>の契約</a:t>
            </a:r>
            <a:r>
              <a:rPr lang="en-US" sz="1350" b="1" dirty="0">
                <a:solidFill>
                  <a:srgbClr val="0B3C46"/>
                </a:solidFill>
                <a:latin typeface="Meiryo" pitchFamily="34" charset="0"/>
                <a:ea typeface="Meiryo" pitchFamily="34" charset="-122"/>
                <a:cs typeface="Meiryo" pitchFamily="34" charset="-120"/>
              </a:rPr>
              <a:t>（</a:t>
            </a:r>
            <a:r>
              <a:rPr lang="ja-JP" altLang="en-US" sz="1350" b="1" dirty="0">
                <a:solidFill>
                  <a:srgbClr val="FF0000"/>
                </a:solidFill>
                <a:latin typeface="Meiryo" pitchFamily="34" charset="0"/>
                <a:ea typeface="Meiryo" pitchFamily="34" charset="-122"/>
                <a:cs typeface="Meiryo" pitchFamily="34" charset="-120"/>
              </a:rPr>
              <a:t>月</a:t>
            </a:r>
            <a:r>
              <a:rPr lang="en-US" sz="1350" b="1" dirty="0">
                <a:solidFill>
                  <a:srgbClr val="0B3C46"/>
                </a:solidFill>
                <a:latin typeface="Meiryo" pitchFamily="34" charset="0"/>
                <a:ea typeface="Meiryo" pitchFamily="34" charset="-122"/>
                <a:cs typeface="Meiryo" pitchFamily="34" charset="-120"/>
              </a:rPr>
              <a:t> 12,000円 予想）</a:t>
            </a:r>
            <a:endParaRPr lang="en-US" sz="1350" dirty="0"/>
          </a:p>
        </p:txBody>
      </p:sp>
      <p:sp>
        <p:nvSpPr>
          <p:cNvPr id="21" name="Text 19"/>
          <p:cNvSpPr/>
          <p:nvPr/>
        </p:nvSpPr>
        <p:spPr>
          <a:xfrm>
            <a:off x="1389888" y="4626864"/>
            <a:ext cx="9966960" cy="292608"/>
          </a:xfrm>
          <a:prstGeom prst="rect">
            <a:avLst/>
          </a:prstGeom>
          <a:noFill/>
          <a:ln/>
        </p:spPr>
        <p:txBody>
          <a:bodyPr wrap="square" lIns="0" tIns="0" rIns="0" bIns="0" rtlCol="0" anchor="ctr"/>
          <a:lstStyle/>
          <a:p>
            <a:pPr marL="0" indent="0">
              <a:buNone/>
            </a:pPr>
            <a:r>
              <a:rPr lang="en-US" sz="1150" dirty="0">
                <a:solidFill>
                  <a:srgbClr val="6C8286"/>
                </a:solidFill>
                <a:latin typeface="Meiryo" pitchFamily="34" charset="0"/>
                <a:ea typeface="Meiryo" pitchFamily="34" charset="-122"/>
                <a:cs typeface="Meiryo" pitchFamily="34" charset="-120"/>
              </a:rPr>
              <a:t>入力したデータはAIの学習には使われず、30日後に削除されます。</a:t>
            </a:r>
            <a:endParaRPr lang="en-US" sz="1150" dirty="0"/>
          </a:p>
        </p:txBody>
      </p:sp>
      <p:sp>
        <p:nvSpPr>
          <p:cNvPr id="22" name="Text 20"/>
          <p:cNvSpPr/>
          <p:nvPr/>
        </p:nvSpPr>
        <p:spPr>
          <a:xfrm>
            <a:off x="548640" y="5230368"/>
            <a:ext cx="11064240" cy="292608"/>
          </a:xfrm>
          <a:prstGeom prst="rect">
            <a:avLst/>
          </a:prstGeom>
          <a:noFill/>
          <a:ln/>
        </p:spPr>
        <p:txBody>
          <a:bodyPr wrap="square" lIns="0" tIns="0" rIns="0" bIns="0" rtlCol="0" anchor="ctr"/>
          <a:lstStyle/>
          <a:p>
            <a:pPr marL="0" indent="0">
              <a:buNone/>
            </a:pPr>
            <a:r>
              <a:rPr lang="en-US" sz="1200" dirty="0">
                <a:solidFill>
                  <a:srgbClr val="9FC6CC"/>
                </a:solidFill>
                <a:latin typeface="Meiryo" pitchFamily="34" charset="0"/>
                <a:ea typeface="Meiryo" pitchFamily="34" charset="-122"/>
                <a:cs typeface="Meiryo" pitchFamily="34" charset="-120"/>
              </a:rPr>
              <a:t>※ 他、中田医事部長よりハードウェア関連の要望があります。</a:t>
            </a:r>
            <a:endParaRPr lang="en-US" sz="1200" dirty="0"/>
          </a:p>
        </p:txBody>
      </p:sp>
      <p:sp>
        <p:nvSpPr>
          <p:cNvPr id="23" name="Text 21"/>
          <p:cNvSpPr/>
          <p:nvPr/>
        </p:nvSpPr>
        <p:spPr>
          <a:xfrm>
            <a:off x="548640" y="5650992"/>
            <a:ext cx="11064240" cy="457200"/>
          </a:xfrm>
          <a:prstGeom prst="rect">
            <a:avLst/>
          </a:prstGeom>
          <a:noFill/>
          <a:ln/>
        </p:spPr>
        <p:txBody>
          <a:bodyPr wrap="square" lIns="0" tIns="0" rIns="0" bIns="0" rtlCol="0" anchor="ctr"/>
          <a:lstStyle/>
          <a:p>
            <a:pPr marL="0" indent="0">
              <a:buNone/>
            </a:pPr>
            <a:r>
              <a:rPr lang="en-US" sz="1550" b="1" dirty="0">
                <a:solidFill>
                  <a:srgbClr val="FFFFFF"/>
                </a:solidFill>
                <a:latin typeface="Meiryo" pitchFamily="34" charset="0"/>
                <a:ea typeface="Meiryo" pitchFamily="34" charset="-122"/>
                <a:cs typeface="Meiryo" pitchFamily="34" charset="-120"/>
              </a:rPr>
              <a:t>停止している症例登録業務を9月半ばに本稼働させるため、ご検討のほどよろしくお願いいたします。</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996</Words>
  <Application>Microsoft Office PowerPoint</Application>
  <PresentationFormat>ワイド画面</PresentationFormat>
  <Paragraphs>246</Paragraphs>
  <Slides>13</Slides>
  <Notes>13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Meiryo</vt:lpstr>
      <vt:lpstr>游ゴシック</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久保田 善彦</cp:lastModifiedBy>
  <cp:revision>25</cp:revision>
  <dcterms:created xsi:type="dcterms:W3CDTF">2026-08-04T00:52:16Z</dcterms:created>
  <dcterms:modified xsi:type="dcterms:W3CDTF">2026-08-10T03:29:19Z</dcterms:modified>
</cp:coreProperties>
</file>